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312" r:id="rId63"/>
    <p:sldId id="261" r:id="rId7"/>
    <p:sldId id="313" r:id="rId64"/>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93" r:id="rId44"/>
    <p:sldId id="282" r:id="rId28"/>
    <p:sldId id="294" r:id="rId45"/>
    <p:sldId id="283" r:id="rId29"/>
    <p:sldId id="284" r:id="rId30"/>
    <p:sldId id="285" r:id="rId31"/>
    <p:sldId id="286" r:id="rId32"/>
    <p:sldId id="287" r:id="rId33"/>
    <p:sldId id="288" r:id="rId34"/>
    <p:sldId id="289" r:id="rId35"/>
    <p:sldId id="290" r:id="rId36"/>
    <p:sldId id="295" r:id="rId46"/>
    <p:sldId id="314" r:id="rId65"/>
    <p:sldId id="315" r:id="rId66"/>
    <p:sldId id="291" r:id="rId37"/>
    <p:sldId id="296" r:id="rId47"/>
    <p:sldId id="297" r:id="rId48"/>
    <p:sldId id="298" r:id="rId49"/>
    <p:sldId id="299" r:id="rId50"/>
    <p:sldId id="300" r:id="rId51"/>
    <p:sldId id="301" r:id="rId52"/>
    <p:sldId id="316" r:id="rId67"/>
    <p:sldId id="302" r:id="rId53"/>
    <p:sldId id="303" r:id="rId54"/>
    <p:sldId id="304" r:id="rId55"/>
    <p:sldId id="317" r:id="rId68"/>
    <p:sldId id="305" r:id="rId56"/>
    <p:sldId id="306" r:id="rId57"/>
    <p:sldId id="307" r:id="rId58"/>
    <p:sldId id="318" r:id="rId69"/>
    <p:sldId id="308" r:id="rId59"/>
    <p:sldId id="309" r:id="rId60"/>
    <p:sldId id="310" r:id="rId61"/>
    <p:sldId id="311" r:id="rId62"/>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  <Relationship Id="rId47" Type="http://schemas.openxmlformats.org/officeDocument/2006/relationships/slide" Target="slides/slide41.xml"/>
  <Relationship Id="rId48" Type="http://schemas.openxmlformats.org/officeDocument/2006/relationships/slide" Target="slides/slide42.xml"/>
  <Relationship Id="rId49" Type="http://schemas.openxmlformats.org/officeDocument/2006/relationships/slide" Target="slides/slide43.xml"/>
  <Relationship Id="rId50" Type="http://schemas.openxmlformats.org/officeDocument/2006/relationships/slide" Target="slides/slide44.xml"/>
  <Relationship Id="rId51" Type="http://schemas.openxmlformats.org/officeDocument/2006/relationships/slide" Target="slides/slide45.xml"/>
  <Relationship Id="rId52" Type="http://schemas.openxmlformats.org/officeDocument/2006/relationships/slide" Target="slides/slide46.xml"/>
  <Relationship Id="rId53" Type="http://schemas.openxmlformats.org/officeDocument/2006/relationships/slide" Target="slides/slide47.xml"/>
  <Relationship Id="rId54" Type="http://schemas.openxmlformats.org/officeDocument/2006/relationships/slide" Target="slides/slide48.xml"/>
  <Relationship Id="rId55" Type="http://schemas.openxmlformats.org/officeDocument/2006/relationships/slide" Target="slides/slide49.xml"/>
  <Relationship Id="rId56" Type="http://schemas.openxmlformats.org/officeDocument/2006/relationships/slide" Target="slides/slide50.xml"/>
  <Relationship Id="rId57" Type="http://schemas.openxmlformats.org/officeDocument/2006/relationships/slide" Target="slides/slide51.xml"/>
  <Relationship Id="rId58" Type="http://schemas.openxmlformats.org/officeDocument/2006/relationships/slide" Target="slides/slide52.xml"/>
  <Relationship Id="rId59" Type="http://schemas.openxmlformats.org/officeDocument/2006/relationships/slide" Target="slides/slide53.xml"/>
  <Relationship Id="rId60" Type="http://schemas.openxmlformats.org/officeDocument/2006/relationships/slide" Target="slides/slide54.xml"/>
  <Relationship Id="rId61" Type="http://schemas.openxmlformats.org/officeDocument/2006/relationships/slide" Target="slides/slide55.xml"/>
  <Relationship Id="rId62" Type="http://schemas.openxmlformats.org/officeDocument/2006/relationships/slide" Target="slides/slide56.xml"/>
  <Relationship Id="rId63" Type="http://schemas.openxmlformats.org/officeDocument/2006/relationships/slide" Target="slides/slide57.xml"/>
  <Relationship Id="rId64" Type="http://schemas.openxmlformats.org/officeDocument/2006/relationships/slide" Target="slides/slide58.xml"/>
  <Relationship Id="rId65" Type="http://schemas.openxmlformats.org/officeDocument/2006/relationships/slide" Target="slides/slide59.xml"/>
  <Relationship Id="rId66" Type="http://schemas.openxmlformats.org/officeDocument/2006/relationships/slide" Target="slides/slide60.xml"/>
  <Relationship Id="rId67" Type="http://schemas.openxmlformats.org/officeDocument/2006/relationships/slide" Target="slides/slide61.xml"/>
  <Relationship Id="rId68" Type="http://schemas.openxmlformats.org/officeDocument/2006/relationships/slide" Target="slides/slide62.xml"/>
  <Relationship Id="rId69" Type="http://schemas.openxmlformats.org/officeDocument/2006/relationships/slide" Target="slides/slide6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Five acts. Act one walks eighteen editor features, one slide each, one claim each — every slide answers the same four questions: what it shows, what a reader does today without it, where its data actually comes from, and the platform mechanism underneath. Act two is IntelliJ plugin development for a Java engineer who has never written one. Act three is the codebase's own layout and the rules that keep it that way. Acts four and five carry the same model to the other two surfaces: a live Solr server, and the Java and Kotlin code that queries it. Where it stands: release 0.2.0, published as Solr Support, ships all three tracks — the editor, the server and the code — for plain Java and Kotlin with SolrJ. Framework support is the next release: Spring Boot first, which needs IntelliJ IDEA Ultimate, then Quarkus, Micronaut, MicroProfile and Apache Camel. Repository: github.com/adityamparikh/solr-intellij-plugin, branch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once, briefly, then get out of the way — Act 1 is eighteen feature slides and each one needs to breathe. The three-surfaces framing is the spec's own: configuration files, a live server, Java/Kotlin code, unified by a single model of what fields exist and what they can do. All three are built: release 0.2.0 ships the editor, server and code tracks, the code track for plain Java and Kotlin with SolrJ. What it does not yet do is know a framework — a Spring Boot, Quarkus, Micronaut, MicroProfile or Camel application whose Solr client comes from configuration rather than a constructor call. That is the next release, Spring Boot first and in IntelliJ IDEA Ultimate only. Say it here and again at the very end, so the scope is never a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 eighteen feature slides is built the same way, on purpose, so the room can pattern-match after the second one — the two quick-documentation popups are each followed by an annotated companion that says where every part of the popup came from: a single bold claim as the title, four short labeled pointers (what it shows, what a reader does today without it, where the data comes from, the mechanism), one real screenshot, and everything else — the interesting explanation — in these speaker notes. The through-line worth stating once and then letting the slides prove repeatedly: almost nothing here reads an index or contacts a server. A configset is text, and the reference data behind most of these features was generated once, at build time, from Solr's own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plugin's signature output — the one most likely to be quoted back at a maintainer, which is exactly why it says nothing rather than guess when analysis is not confident. An inlay rather than a tooltip on purpose: a user who does not already suspect their field can't match a prefix will never hover to find out, so the plugin says it unprompted. The deciding factories — which tokenizer or filter class means 'prefix-capable', which means 'case-folds' — are hand-named in SolrMatchAnalysis rather than read from the generated class catalog, because that set of decisions defines what 'matching' even means in Solr and has stayed stable across major versions while the surrounding catalog has not. Storage-shape phrases (stored, multi-valued) ride beside the match claim and survive even when the match claim itself goes silent for an unrecognised factory — silence is per-claim, not per-hint.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popup is what the whole model exists to answer, and it is the deep-dive worth dwelling on if time allows. Every legal property resolves through three tiers, and where a default is genuinely type-dependent — docValues on some field types — the popup reports UNDETERMINED rather than a guess. The Meaning column states the consequence in the Reference Guide's own neutral vocabulary ('whether the original value can be returned in results' beside stored: false) rather than the plugin inventing its own phrasing. Links point at the Reference Guide page for the Solr line this configset declares; nothing on the editor path ever fetches a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catalog pipeline's first visible payoff, and the pipeline starts in buildSrc, not in the running plugin. A Gradle task reads Solr's own jars with ASM — reading bytecode rather than loading classes, so no static initializer ever runs during a build — recovering not just tokenizers and filters but request handlers, query parsers, search components, caches, listeners and more: SolrClassKind names 22 distinct kinds a configset may reference in a class attribute, verified by reading the enum directly rather than trusting an older doc's rounder number. The catalog totals 735 classes on Solr 9 and 724 on Solr 10, counted from the generated TSVs this session rather than copied from a stale figure elsewhere in the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version is a third, independent version number beside the Solr line and luceneMatchVersion, and this codebase's own KDoc explicitly warns against conflating the three. The demo pins version="1.6" on purpose so this capture shows a version-dependent default actually being resolved rather than assumed. Small reproducibility note: F1 opens platform Help on the default macOS keymap, not Quick Documentation — Ctrl+J is what raises this popup, and on this sandbox it rendered as a docked panel rather than a floating box, which is a platform-version cosmetic difference, not a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rule worth stating out loud: only closed sets are completed. A partial list implies everything absent from it is wrong, so a position where any string is legal gets no contribution at all rather than a half-answer. order="first" matters mechanically: this contributor runs ahead of the platform's own XML completion and can drop the bare duplicate entries the platform would otherwise also offer, leaving one clean list with summaries instead of two overlapping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lookup this completion reads also backs the class quick-documentation popup two slides back and the per-attribute hover — one generated fact, several places it surfaces, because the completion contributor is a thin adapter over the same catalog rather than its own data source. Attributes already written on the tag (minGramSize, maxGramSize here) are omitted, the identical rule feature 5 demonstrates for schema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screenshot is the reshoot — the first capture of this popup briefly showed a real bug (cache, featureVectorCache and HashDocSet offered at the document root, where Solr does not actually read them), caught and fixed the same session, and this image is from a sandbox rebuilt after that fix. That episode is worth telling exactly as a caution about generated evidence: a running sandbox does not reload a regenerated catalog resource, so the first reshoot attempt reproduced the old, wrong popup and looked like the fix had failed. The vocabulary itself comes from three joined sources: SolrConfig's own public plugins list, a shipped JSON describing updateHandler/query/requestDispatcher's typed attributes, and a pass reading SolrConfig's own config-reading calls as literal arguments for the handful of elements — &lt;config&gt; itself, luceneMatchVersion, dataDir — that appear in neither prior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capture that closes a real gap the rest of the evidence left open. Every other artifact verifying the element-placement fix — the tests, the whole-catalog diff, the previous slide's &lt;config&gt; popup — observes only what left the document root. Had those elements left without arriving anywhere, all of that evidence would still read green. This screenshot is the only thing that shows they actually arrived at &lt;query&gt;, and dataDir is conspicuously not among the eighteen offered here, which is the other half of the claim: the vocabulary is genuinely partitioned by position, not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beside the previous slide's eighteen, this one element is the point: nesting and correctness are two separate mechanisms working together rather than one broad guess. nrtMode and unlockOnStartup are demonstrably known to the catalog — they are keyed to exactly this parent path and the discontinued-element inspection fires on them when written here — and they are still withheld from completion, because Solr itself no longer accepts them. Worth flagging honestly rather than papering over: lockType, httpCaching and infoStream appear in Solr's own shipped configsets and in neither catalog at all, because SolrConfig's own reading code never touches them — a real, pre-existing completeness gap, not a regression from anything shown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genuine finding surfaced while capturing this, worth telling as evidence the completion is doing real work rather than dumping a flat list: a parameter already set elsewhere in the same defaults block is withheld from the offered list. Typing qf at this position in the demo offers only mlt.qf and hl.queryFieldPattern, because plain qf is already declared on an earlier line of the same list — an apparently sparse, generic-looking popup at this position is usually that rule firing correctly, not a broken capture. The counts themselves were verified directly against the generated TSV files this session rather than repeated from an older, rounder figure in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deliberately scoped to sixteen parameters rather than offered everywhere a string appears in this file — offering it inside rows or defType would be actively wrong, since those hold numbers and parser names respectively. It also respects boost and sort syntax rather than treating the whole attribute value as one opaque field-name slot: qf offers name, not name^3, because a caret after name^ is understood to be inside a boost expression. One easy-to-miss reproducibility detail: completion did not fire with the caret directly adjacent to existing text and no trailing space — the same rule feature 5 documents for schema attribute completion, confirmed true 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screenshot is close to this whole plugin's thesis statement in one frame — the exact cross-file silent-failure class the project exists to catch, made visible before it ever fails. Each name in name^3 description category navigates independently; boost syntax does not confuse it. Architecturally this reference lives in configset.solrconfig.reference and resolves into the schema aspect's own declarations, which is exactly the kind of cross-file capability that belongs at the shared layer rather than inside either aspect — see Act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smaller capability, included because the reference abstraction covering it is architecturally the same one covering the field-name navigation on the previous slide — it does not care what kind of target it resolves to, only that resolve() returns something Ctrl-click and Find Usages can both understand. Cmd-hover shows the same resolution as an absolute path, which is the right gesture for checking this by hand and the wrong one to publish, since the path is someone's home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searcher existed, Ctrl-click already worked (references anchor at use sites and resolve to declarations) but Alt-F7 on the declaration itself refused outright — nothing turned a caret sitting on a declaration into something the platform's TargetElementUtilBase would search for. Two smaller hooks make the result readable rather than merely correct: without a description provider the header would read the target's own class name; without a usage-type provider every hit would land under an unlabelled 'Unclassified' group. A dynamic field's Find Usages also reports the concrete names its pattern actually supplies, not only literal spellings of the glob, because the platform's word index alone cannot match a name sharing no literal word with a pattern like *_t.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qf line updating with no separate action is the single clearest illustration in this deck of what 'one shared model across files' buys a reader in practice. A single Cmd+Z reverted both files as one refactoring, confirmed via the platform's own 'Undo Renaming field category to product_category?' dialog. One deliberate limit, tested rather than accidental: a dynamic field rewrites only the references that literally spell it — rewriting a pattern-supplied name like body_t would substitute into the glob itself and write an invalid pattern where a field name belongs. The name left behind is not silently orphaned: the unknown-field-reference inspection flags it from the same position. Rename needed the declaration-target work from the Find Usages slide as a genuine prerequisite, not a nice-to-have — renaming a bare declaration used to throw 'element not found in file', resolving the same null target Alt-F7 used to hit.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standing rule that inspections must not fire on a correct file forced this into a different mechanism entirely — an annotator at information severity, reaching neither an underline nor the Problems view, which is the platform's own idiom for 'true but removable' code. stored="false" on name_prefix stays full-strength in the same frame, which is the contrast that makes the claim visible: it changes something, so it is load-bearing. The dim and its removal intention share one predicate so they cannot disagree about which attributes qualify, and the intention is proven, not assumed, to leave the parsed model identical before and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time in the whole feature set that the plugin edits a configset rather than only explaining or completing one. The availability rules live in pure functions over the model rather than inside the IntentionAction class, specifically so the cases that decide NOT to offer can be tested without booting an IDE — an intention offered where it does not apply gets acted on, which is worse than one simply missing. Reuse of an existing declared type matches the implementing class, not the type's name — every unanalysed numeric or date type qualifies for exact-match reuse, and borrowing the wrong class would fail silently at index time rather than in the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this codebase cares about most, stated in its own words: an inspection must not fire on a correct file, because Solr configuration is full of syntax that resembles a field name without being one — fl legitimately holds score, *, [docid], max(price,0). Severity follows what the finding is. The four checks whose finding is a name that resolves to nothing — this dangling copyField, an unknown field type, an unknown attribute, a handler parameter naming an undeclared field — are errors, because an editor presents an unresolved name as an error and three of the four are what Solr refuses to load a core for. A sandbox pass forced it: the light schemes draw a warning as a tint with no line at all, so these were not underlined, while every fixture marking them a warning stayed green. Everything else stays a warning, and the code track's check stays one too, because it guesses which strings in application code are field names. Proof rather than assertion: SolrShippedConfigsetTest runs the whole rule set against Solr's own _default and sample_techproducts_configs configsets, on both supported lines. Ten of the eleven report nothing. The eleventh, the unused-field-type rule, is held out of that gate by name, because Solr's own shipped configsets declare spare field types deliberately — a separate assertion pins that it does fire, so silencing it is not a way to pass. Quick-fix candidates are ranked by edit distance and capped at six, because the inspection already computed the valid set in order to decide it was wrong, and discarding that list would be the difference between an editor that helps and one that only complains.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honesty framing once more before leaving features behind: this act is the Editor track, documented completely, with receipts — and Acts 4 and 5 give the other two tracks the same treatment, because release 0.2.0 ships all three. Transition into Act 2: everything just shown is built on a handful of IntelliJ Platform mechanisms — extension points, PSI, dumb mode, a declared-dependency cache — and Act 2 explains each of those from zero, in the vocabulary a Java engineer already has, using this exact codebase as the worked example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this act is grounded in docs/glossary.md, a 54-term reference this team wrote specifically to give a Java engineer a Java analogue for every IntelliJ Platform and Solr term used in this deck — read it directly rather than the toy dev.example.solrconfig tutorial elsewhere in the repo. Every analogue in this act comes from that document's own 'In Java terms' callouts, chosen because they are accurate enough to reason from, with the point where each analogy breaks stated explicitly rather than glossed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glossary's own words: 'An extension point is the platform's term for a named slot a plugin can register an implementation into... plugin.xml plays the role META-INF/services/* plays for ServiceLoader — it names an interface and the class that implements it — and the platform, not this plugin, decides when to call in.' The reframe worth landing: think about what you do NOT write in a Spring controller — no socket, no accept loop, no thread pool — you write one method, tell the framework where it belongs, and it calls you when a request shows up. Plugin development is the identical deal with the IDE playing Tomcat's role. Where the analogy sharpens rather than just holds: plugin.xml registrations are strings, so a class renamed without updating its registration compiles cleanly and silently loads nothing — exactly the failure SolrPluginDescriptorTest exists to catch, by reflecting over every class name the file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verbatim on the limit of the analogy: 'A live, mutable AST — closer to a DOM tree you can safely hold a reference into than to javac's throwaway CompilationUnitTree. The limit of the analogy is exactly that liveness: PSI stays live and mutable while the user types, so a PsiElement reference can go stale mid-edit.' That liveness is why this plugin's own field model is a plain data structure holding NO PSI at all — SolrSchemaPsi's own comment says so directly. The model can say a field type named text_general exists, but not where it was written; navigation re-derives that from PSI on demand rather than the model caching a reference that could go stale. Why not just parse the XML with a favourite library instead, the way a batch job would? Three reasons worth stating in order: the file on disk is stale the instant the user types (PSI reflects the buffer, not the saved file); parsing per keystroke would make the plugin a space heater; and every other plugin would be doing the identical parse, redundantly. PSI is the platform solving this once, for everybody, and sharing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real incident, not an abstract rule, because it is one. For months, completion, the original inspections, quick documentation and the inline match hints did nothing at all while a project indexed, then started working, with nothing logged and no visible cause — the worst possible failure shape for an editor plugin, because it is not a crash and not a wrong answer, it is absence, in the exact window when someone opening a Solr project for the first time is most likely to be opening configset files for the first time too. The fix, stated as CLAUDE.md now states it: every contribution that CAN declare dumb-awareness does, because nothing here reads an index. The one exception, and the one place both halves of the AND rule are actually exercised: resolving a class= attribute reaches JavaPsiFacade, the single index-touching contribution in the whole plugin.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on the instinct this corrects: 'The instinct a Java engineer brings here — I'll just keep a ConcurrentHashMap&lt;Path, Model&gt; and invalidate it myself — is exactly the wrong move in this codebase.' CachedValuesManager is closer to a Caffeine cache configured with a custom Expiry you define once than to a bare map you populate and clear by hand — you supply a computation and a list of dependencies, and the platform owns storage, thread-safety, eviction and recomputation. SolrConfigsetReader.modelFor is the one place this plugin uses it, and both choices there were arrived at by being wrong first, which is worth telling as the real story: the cache hangs on the configset's PsiDirectory rather than in a map this class owns, because a map keyed by path outlives the thing it names — a configset deleted and recreated at the same path would find a stale entry pointing at files that no longer exist. And its dependency list is the two source files' PSI PLUS the VFS structure-modification count, not the reflex choice of PsiModificationTracker.MODIFICATION_COUNT, which advances on ANY PSI change in the whole project and would reparse both configset files on an unrelated keystroke in some other file entirely. CLAUDE.md states the resulting rule outright: never build a cache in front of SolrConfigsetReader.modelFor — it already caches through the platform, and a fact read from a file the reader does not already read must join its dependency list, or the model goes stale after the first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this as the payoff slide for the act. The @SpringBootTest analogy is precise and worth dwelling on: BasePlatformTestCase boots a real container — a light in-memory IDE project — rather than mocking collaborators, exactly the same trade a Spring integration test makes over a sliced unit test. The JUnit-version trap is real and specific to this platform: the class depends on JUnit 4 yet is JUnit-3-style underneath, so an @Test-annotated method with the wrong name compiles, appears in the test report as a class with fewer tests than expected, and nobody notices. The 59-of-156 figure was counted on 2026-10-20 — not copied from an older doc — by partitioning every test file three independent ways (extends a platform base class, imports org.junit.Test, imports com.intellij directly) and confirming the first two partition without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into Act 3: everything just covered is the platform's half of the deal — the contract a contribution has to honour to get called at all. It says nothing about where the actual Solr knowledge should live, which is exactly the question Act 3 answers, with a package tree that mirrors these same four ideas almost exactly: model/ is the domain layer with zero platform imports, configset/ is where the platform-facing adapters live, one subpackage per extension point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3 walks src/main/kotlin/org/apache/solr/ide/ using docs/code-organization.md as the primary source, which is explicitly the human-facing account of a structure Dokka also renders from the same KDoc — and which itself says the plan, not this document, owns what is built. Two rules recur constantly through this act and are worth flagging now so the room recognises them each time: model imports no IntelliJ type (which is what makes roughly a third of the test suite plain JUnit, from Act 2), and schema and solrconfig may never import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rule exactly as the document states it, because the precision is the point: 'A capability falls under an aspect when the caret that triggers it is always in that aspect's file.' An inspection visits tags in one file and reports there; a completion provider answers at a caret in one file; a reference contributor decides which tags in which file carry references — all three single-file by nature, so they sit inside schema/ or solrconfig/. A capability that traverses the configset by NATURE does not pass this test: Find Usages starts on a schema declaration and must reach solrconfig.xml; rename must update the qf line there too. Those live at the configset ROOT, in configset.navigation, specifically because filing them under schema would make configset.schema import configset.solrconfig — the one prohibition the whole tree exists to protect, covered on its own slide next. In Java terms this is a dependency rule enforced by review, not the compiler — the same discipline as a hexagonal-architecture port boundary between two adapters that must not know about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worth pointing out live, both verified directly against the source tree rather than an older doc figure: schema/ has nine leaf packages (parsing, inspection, intention, completion, reference, documentation, hint, descriptor, annotator) while solrconfig/ has six (parsing, inspection, completion, reference, descriptor, documentation) and is still catching up — not an oversight, it is the most-edited file in a configset catching up on tooling, exactly the story Act 1's nesting and parameter-completion slides told. solrconfig/descriptor and solrconfig/documentation are the two packages behind the structure-completion and version-hover capabilities Act 1 spent three slides on — worth naming explicitly, since a tree that omitted them would show no home for capabilities just demonstrated. And notice what is absent by design: no service package, no util, no impl anywhere in this tree — every leaf is named for a platform extension-point kind. Two branches have grown since this tree was first drawn, and they are the subjects of Acts 4 and 5: server/, seven packages for a live Solr, and code/, six for the Java and Kotlin that name its fields. Both follow the same rule as the rest — a package exists because it had a file to hold, and each leaf is named for what it does rather than for a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Java terms, straight from the glossary: this is the same discipline as a domain layer that imports no Spring or JPA type — model is SolrFieldModel and friends staying plain data, the same way a domain Order class stays a POJO instead of an @Entity. It buys the same thing a POJO domain model buys: those classes are testable with plain JUnit and no container, rather than needing BasePlatformTestCase just to construct one. The 59-of-156 count is the same one Act 2's testing slide gave, verified the same way — counted on 2026-10-20, not copied. model earns its position outside the surface split twice over: it is what BOTH the repository reader and the server reader need to produce, so filing it under either configset or server would be wrong either way; and it is the only tree with zero IntelliJ types anywhere in it, the concrete payoff of Act 2's 'contributions thin, services fat' principle — every fact Act 1's screenshots displayed ultimately traces back to a pure Kotlin function over parsed text or bytecode.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built directly from the completion section's own argument in code-organization.md, paired with two real screenshots already shown in Act 1 rather than a fresh capture — the point is that the SAME shape of capability appears on both sides of a boundary those two packages may never cross. Left is feature 5 (attribute completion inside a schema &lt;field&gt; tag); right is feature 7 (element completion inside solrconfig's &lt;config&gt;). Both answer the identical underlying question — what may legally be written at this caret — and both are implemented as completion contributors, yet SolrSchemaCompletionContributor and SolrConfigElementDescriptorProvider share no import between them. Neither may reach sideways into the other; both may be reached from the shared layer beneath them — model, configset.reading, configset.navigation — because composing them is what that shared layer exists to do. The test throughout is direction, not co-occurrence: sideways between the two aspects is forbidden, downward from the shared layer into both is the design. Concretely, in code: SolrNonIndexedRelevanceFieldInspection lives in configset.solrconfig.inspection and needs to know whether a field is indexed — it reads that fact from model, never by reaching sideways into configset.schema.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code-organization.md's own words: 'parsing and reading are two words for what looks like one job, and the difference is the most useful thing in this tree.' A parser turns ONE file's text into facts and knows nothing else — no directory, no caching, no IntelliJ types at all — which is what lets SolrSchemaParser and SolrConfigParser be tested as plain JUnit over a string. reading is the job above them: locate the configset's files, hand each to the right parser, merge the results into one model, and cache it through the platform — full of Project, VirtualFile and Service, and the only place that needs to be. SolrConfigsetReader.modelFor deliberately lives in configset.reading rather than beside any one feature, because otherwise four different features would each have to import a fifth. The cache itself is the CachedValuesManager story from Act 2, applied here concretely: hung on the configset's PsiDirectory, with a two-part dependency list — both source files' PSI catches an edit to THIS configset, and the VFS structure-modification count catches a solrconfig.xml appearing later in a configset that had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architecture tour by being honest about scope one more time — it rhymes deliberately with the opening status slide. server/ is seven packages, each created when it had a file to hold rather than in advance: connection settings persisted per developer, the HTTP transport, the readers, the topology tree, queries through the IDE's HTTP Client, the drift view, and indexing a test document. What keeps it out of the editor is not discipline but a test: SolrServerBoundaryContractTest walks the source tree and fails on any package outside server/ that imports it, unless that package is on its allowlist — and the only entry outside server/ is the gutter action that runs a query written in code, which runs when a user presses it and never on a keystroke. A new package that reaches for a server fails the build until someone adds it, in a diff a reviewer sees. That is the whole server track as it ships in 0.2.0; Act 4 shows it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framing: this deck's job was to prove the shipped claims true with receipts, not to sell a finished product. Every Act 1 claim traces to a plugin.xml registration and a screenshot in docs/images/. Every Act 2 analogy traces to docs/glossary.md. Every Act 3 claim traces to docs/code-organization.md and the actual source tree; every Act 4 and 5 screen is a capture in docs/images/. Open the floor for questions — likely topics: what the server track’s first sandbox pass found that no test could, and why release 0.2.0 stops at plain SolrJ, and what framework support adds in the next release; the dumb-mode incident and what it actually cost before it was fixed; and the solrconfig.xml element-placement fix this session found and corrected, and what it took to reshoot the evidence honestly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slide made the claim; this one answers the question it always draws — where did each part come from? Walk the four markers top to bottom. One and three are about this file, read live: the header, and the Value and From pair, which is the column the Reference Guide cannot have because it is about your schema rather than Solr's. Two is computed rather than read — the match summary walks the type's analyzer chain, and the caveat under it about wildcards is there because a reader who stops at 'whole value' draws the wrong conclusion. Four is the one hand-maintained part of the popup, and SolrFieldProperties argues the exception in its own KDoc rather than hiding it: about twenty entries, stable across Solr majors, defining the semantics rather than enumerating what happens to exist, and read by SchemaField out of an argument map whose defaults live in branching code no generator could enumerate. Why a companion slide rather than swapping the plain capture for this one: the markers mean nothing without their key, and the key needs the column the four pointers on the previous slide already occupy.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000000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markers, and every one is a lookup into a file generated when the plugin was built. Nothing was fetched, and no prose was copied from the guide the popup links to. The detail worth saying out loud is marker two: the class is org.apache.lucene.analysis.standard.StandardTokenizerFactory — a Lucene class, even though every configset spells it solr.StandardTokenizerFactory — so the popup shows what the short name actually resolves to. Marker three is Lucene's own Javadoc: the source reads 'Factory for {@link StandardTokenizer}.' and the first sentence survives with the link rendered to its text. Marker four came out of constructor bytecode with ASM, because a factory reads its arguments out of a map in its constructor and nowhere else. Marker five is constructed rather than fetched, and the line under it says where the version came from — here, the configset's own luceneMatchVersion. It sits beside the plain capture rather than replacing it for the same reason as the field popup: the numbered markers need their key, and the key needs the left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000000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the way the platform runs it. A keystroke or Ctrl-Space reaches the platform first, and because the contributor declares isDumbAware() true the list still appears while the project is indexing — nothing here reads an index. The contributor dispatches on a registered pattern to the provider for field-bearing parameters, which asks SolrConfigsetReader.modelFor for the cached model — null outside a configset, which ends the call with nothing offered. Then the parser, not the platform, decides the prefix: the platform's default matcher does not treat Solr's separators as boundaries, so in a qf value like name^3 desc the token being typed is desc, which only something that knows Solr's syntax can say. The names are filtered by SolrFieldOperations before they are offered rather than annotated after — a name that is offered is a name that resolves, which is the completion-side half of the rule that an inspection must not fire on a correct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000000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how-to guide's walkthrough inspection, end to end. buildVisitor asks the reader for the model first; outside a configset it gets null and returns the empty visitor — silence is the designed outcome, reached before a single tag is visited, and it is also what makes the check cheap on every other XML file in a project. Inside a configset it visits each tag, and before resolving anything asks SolrInspections whether the value is a checkable field name at all: globs, function queries and transformers are not, and an inspection must not fire on a correct file. Only a name that resolves to nothing is reported, with a replacement fix per near miss already in hand — the check computed the valid set in order to decide the name was wrong. One label has moved on since the diagram was drawn: step 13 says a warning, and this finding is now drawn as an error, because the light schemes draw a warning with no underline at all. The last box is the rule worth ending on: the fix edits the file directly, and this plugin never asks whether a write is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000000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gesture in the server act that may reach a server from inside an editor, and the rule for when it may is the whole design. Only a completion the user asked for — Ctrl-Space — reads the collection's schema, once; every popup after it, including the ones that open while typing, reuses that read. A popup that opened by itself never sends a request, because typing is not asking. So capture it with Ctrl-Space, not a letter: the popup that opens while typing shows the configsets instead, which is correct, and photographs a different claim. The label is what tells the two apart — before this read the live schema, the same popup labelled each entry with a configset's name. subtitle is in the frame because it had just been added to the server through the drift view's Apply and appears in no file in the project: the plainest evidence the list came from the server. The collection outranks the configsets rather than joining them, because a field the collection does not hold is one this query cannot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000000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capture of this view was a throwaway 10.0.0 container and a deployable copy of the demo configset; this one is a real SolrCloud 9.10.1 collection, which is why the counts are large and why every state is on screen at once. Two details beyond the three states. The summary line names both sides and the Solr line the comparison resolved against — 'Solr 9.10', where the first pass printed an internal version constant. And under the table the selected Differs row already shows the refusal the next slide is about, reason first. One honest caveat about this frame: at this column width the two description cells truncate to the same prefix, which is the thing the screenshot catalog warns against, so say it aloud — widen the columns and the two definitions differ. The view never calls SolrFact.effective, which silently prefers the repository; six tests fail if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000000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act is for. The frame is the first pass's, on the 10.0.0 container, so its summary line still names the Solr line by an internal constant rather than as 10.0 — a label since fixed; the previous slide's fresh capture reads 'Solr 9.10'. What it shows has not changed: a Differs row selected, and the pane saying 'This plugin will not send this request.' before the replace-field request under it. The ordering is the point — a reader who meets the JSON before the warning may copy it. Solr accepts a type change and reports success. Verified on a string field holding abc, changed to pint: a query for a value a document holds returns nothing, a query for abc fails with 400, and naming the field in fl fails with HTTP 500 for every document, including ones that never had the field. Only a reindex makes the schema true again, which the plugin cannot do and must not imply it can — so the request is shown for a reader prepared to reindex, and never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000000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pair, and the pair is the evidence rather than either half: the after frame alone cannot tell a comparison that succeeded from one that was never run, which is exactly what the agreeing count in the second summary line exists to settle. Between the two frames the plugin asks first, naming the count, the collection and the server, and after the write it reads the collection back by itself. That read-back is the claim. A configset upload lacking _version_ returns status 0, appears in the configset list, and Solr then refuses to build a collection from it — 'the request was accepted' and 'the server now agrees' are different facts. Both frames are first-pass captures on the 10.0.0 container, so their summary lines still show the version label from before it was fixed; the label now names the Solr line properly, as the drift slide's fresh capture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000000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server step, and like the refusal two slides back it exists because Solr will not tell you. Against the _default configset, which is what a collection created without one gets, a document naming a field the schema lacks returns status 0: the default update chain adds unknown fields to the schema, so one typo produced a field, a _str companion and a copy-field directive between them — and the drift view then reported all three as server-only declarations the repository forgot. A document with no unique key also returns status 0, with a generated id nobody knows to look for. Both answer 'did that work' with yes, and checking before sending is the only place either can be caught. The document opens on every field a user would fill, not only the id: a document of only an id tests nothing about a schema, and the names a user needs are exactly the ones they would otherwise look up and spell. Solr's internal fields and copy-field destinations are left out, because a value supplied for either is not what anyone meant, and the values are placeholders that look like placeholders, so nobody indexes them without reading. This frame shows the accepting state; add a line naming a field the schema lacks — categry, say — and OK greys, with the reason under the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000000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track is complete, and it ships in 0.2.0: connections, the collections tool window, queries through the IDE's HTTP Client, the drift view with upload, reload and additive apply, and indexing a test document. One gesture arrived after the sandbox pass and has no slide of its own: right-click a collection or field in the tool window and a ready-to-run request for it opens in a scratch file. It is tested, and has not yet been pressed in a sandbox, so it is said here rather than shown. The thread through all ten slides is what the plugin declines to do — contact a server unasked, resolve a disagreement on your behalf, send a change Solr would accept and then break on, or trust a 2xx. Then the three specification claims that did not survive a running Solr, each found by checking rather than by a bug report, and the shape they share: a signal that looked like information and carried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000000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 says a name is wrong after it is written; this is the half that prevents the mistake rather than reporting it. Two things had to be true for this frame. First, the popup has to open at all: typing a letter always schedules one, and inside a string the Java and Kotlin plugins cancel it, because a string is usually prose. That is right for a log message and wrong for addFilterQuery("cat — so the plugin answers 'do not skip' exactly where a field name goes, and stays out of every other string, including the value half of a clause: after category: there is nothing to offer. Second, what it offers: declared fields rather than dynamic patterns, and of those only the ones that can do what the call asks — sortable for a sort, facetable for a facet, searchable for a query. What is left out is exactly what the check would underline once written. In a field position it also stops the contributors after it, which would otherwise fill the popup with the words and file paths the platform offers inside any string. Like the check, it declines rather than waits while indexing: an empty offer reads as nothing to suggest, a partial one as the whole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0000004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track is complete for plain Java and Kotlin with SolrJ, and it ships in 0.2.0: the check, completion as a name is typed, navigation into the schema, the query's shape in colour, and running a query from its own line. What it cannot yet see is a client a framework builds for you — a Spring Boot, Quarkus, Micronaut, MicroProfile or Camel application whose SolrClient comes from configuration rather than a constructor call. That is the next release, Spring Boot first and in IntelliJ IDEA Ultimate only. Then the lesson: every defect this track shipped and fixed had one shape, a rule written down twice, agreeing by luck until a case arrived that the copies had each decided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00000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04-inspection-copyfield-quickfix.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image" Target="../media/act4-1.png"/><Relationship Id="rId2"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image" Target="../media/23-collections-topology.png"/><Relationship Id="rId2"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image" Target="../media/act4-3.png"/><Relationship Id="rId2"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image" Target="../media/25-query-and-results.png"/><Relationship Id="rId2"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image" Target="../media/25-query-and-results.png"/><Relationship Id="rId2"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image" Target="../media/19-drift-three-states.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image" Target="../media/20-drift-refused-payload.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image" Target="../media/21-drift-apply-before.png"/><Relationship Id="rId2" Type="http://schemas.openxmlformats.org/officeDocument/2006/relationships/slideLayout" Target="../slideLayouts/slideLayout1.xml"/><Relationship Id="rId3" Type="http://schemas.openxmlformats.org/officeDocument/2006/relationships/image" Target="../media/21-drift-apply-after.png"/><Relationship Id="rId4"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image" Target="../media/act5-1.png"/><Relationship Id="rId2"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image" Target="../media/28-code-navigate-to-schema.png"/><Relationship Id="rId2"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image" Target="../media/27-code-query-colour.png"/><Relationship Id="rId2"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image" Target="../media/act5-4.png"/><Relationship Id="rId2"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7.xml.rels><?xml version='1.0' encoding='UTF-8' standalone='yes'?>
<Relationships xmlns="http://schemas.openxmlformats.org/package/2006/relationships"><Relationship Id="rId1" Type="http://schemas.openxmlformats.org/officeDocument/2006/relationships/image" Target="../media/02-quick-doc-field-annotated.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58.xml.rels><?xml version='1.0' encoding='UTF-8' standalone='yes'?>
<Relationships xmlns="http://schemas.openxmlformats.org/package/2006/relationships"><Relationship Id="rId1" Type="http://schemas.openxmlformats.org/officeDocument/2006/relationships/image" Target="../media/03-quick-doc-class-annotated.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eq-02-completion.png"/><Relationship Id="rId3" Type="http://schemas.openxmlformats.org/officeDocument/2006/relationships/notesSlide" Target="../notesSlides/notesSlide4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eq-03-inspection.png"/><Relationship Id="rId3" Type="http://schemas.openxmlformats.org/officeDocument/2006/relationships/notesSlide" Target="../notesSlides/notesSlide41.xml"/></Relationships>
</file>

<file path=ppt/slides/_rels/slide61.xml.rels><?xml version='1.0' encoding='UTF-8' standalone='yes'?>
<Relationships xmlns="http://schemas.openxmlformats.org/package/2006/relationships"><Relationship Id="rId1" Type="http://schemas.openxmlformats.org/officeDocument/2006/relationships/image" Target="../media/30-completion-live-schema.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62.xml.rels><?xml version='1.0' encoding='UTF-8' standalone='yes'?>
<Relationships xmlns="http://schemas.openxmlformats.org/package/2006/relationships"><Relationship Id="rId1" Type="http://schemas.openxmlformats.org/officeDocument/2006/relationships/image" Target="../media/31-index-test-document.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63.xml.rels><?xml version='1.0' encoding='UTF-8' standalone='yes'?>
<Relationships xmlns="http://schemas.openxmlformats.org/package/2006/relationships"><Relationship Id="rId1" Type="http://schemas.openxmlformats.org/officeDocument/2006/relationships/image" Target="../media/32-code-completion-popup.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C"/>
        </a:solidFill>
      </p:bgPr>
    </p:bg>
    <p:spTree>
      <p:nvGrpSpPr>
        <p:cNvPr id="1" name=""/>
        <p:cNvGrpSpPr/>
        <p:nvPr/>
      </p:nvGrpSpPr>
      <p:grpSpPr>
        <a:xfrm>
          <a:off x="0" y="0"/>
          <a:ext cx="0" cy="0"/>
          <a:chOff x="0" y="0"/>
          <a:chExt cx="0" cy="0"/>
        </a:xfrm>
      </p:grpSpPr>
      <p:sp>
        <p:nvSpPr>
          <p:cNvPr id="2" name="Shape 0"/>
          <p:cNvSpPr/>
          <p:nvPr/>
        </p:nvSpPr>
        <p:spPr>
          <a:xfrm>
            <a:off x="9966960" y="-1463040"/>
            <a:ext cx="4206240" cy="4206240"/>
          </a:xfrm>
          <a:prstGeom prst="ellipse">
            <a:avLst/>
          </a:prstGeom>
          <a:solidFill>
            <a:srgbClr val="1F2A56"/>
          </a:solidFill>
          <a:ln/>
        </p:spPr>
      </p:sp>
      <p:sp>
        <p:nvSpPr>
          <p:cNvPr id="3" name="Shape 1"/>
          <p:cNvSpPr/>
          <p:nvPr/>
        </p:nvSpPr>
        <p:spPr>
          <a:xfrm>
            <a:off x="10881360" y="-685800"/>
            <a:ext cx="2103120" cy="2103120"/>
          </a:xfrm>
          <a:prstGeom prst="ellipse">
            <a:avLst/>
          </a:prstGeom>
          <a:solidFill>
            <a:srgbClr val="FF6B35"/>
          </a:solidFill>
          <a:ln/>
          <a:effectLst>
            <a:outerShdw sx="100000" sy="100000" kx="0" ky="0" algn="bl" rotWithShape="0" blurRad="152400" dist="38100" dir="5400000">
              <a:srgbClr val="000000">
                <a:alpha val="35000"/>
              </a:srgbClr>
            </a:outerShdw>
          </a:effectLst>
        </p:spPr>
      </p:sp>
      <p:sp>
        <p:nvSpPr>
          <p:cNvPr id="4" name="Text 2"/>
          <p:cNvSpPr/>
          <p:nvPr/>
        </p:nvSpPr>
        <p:spPr>
          <a:xfrm>
            <a:off x="822960" y="2148840"/>
            <a:ext cx="9144000" cy="457200"/>
          </a:xfrm>
          <a:prstGeom prst="rect">
            <a:avLst/>
          </a:prstGeom>
          <a:noFill/>
          <a:ln/>
        </p:spPr>
        <p:txBody>
          <a:bodyPr wrap="square" rtlCol="0" anchor="ctr"/>
          <a:lstStyle/>
          <a:p>
            <a:pPr indent="0" marL="0">
              <a:buNone/>
            </a:pPr>
            <a:r>
              <a:rPr lang="en-US" sz="1500" b="1" spc="200" kern="0" dirty="0">
                <a:solidFill>
                  <a:srgbClr val="FF6B35"/>
                </a:solidFill>
                <a:latin typeface="Calibri" pitchFamily="34" charset="0"/>
                <a:ea typeface="Calibri" pitchFamily="34" charset="-122"/>
                <a:cs typeface="Calibri" pitchFamily="34" charset="-120"/>
              </a:rPr>
              <a:t>AN INTELLIJ PLATFORM PLUGIN</a:t>
            </a:r>
            <a:endParaRPr lang="en-US" sz="1500" dirty="0"/>
          </a:p>
        </p:txBody>
      </p:sp>
      <p:sp>
        <p:nvSpPr>
          <p:cNvPr id="5" name="Text 3"/>
          <p:cNvSpPr/>
          <p:nvPr/>
        </p:nvSpPr>
        <p:spPr>
          <a:xfrm>
            <a:off x="777240" y="2514600"/>
            <a:ext cx="9875520" cy="1737360"/>
          </a:xfrm>
          <a:prstGeom prst="rect">
            <a:avLst/>
          </a:prstGeom>
          <a:noFill/>
          <a:ln/>
        </p:spPr>
        <p:txBody>
          <a:bodyPr wrap="square" rtlCol="0" anchor="ctr"/>
          <a:lstStyle/>
          <a:p>
            <a:pPr indent="0" marL="0">
              <a:lnSpc>
                <a:spcPct val="102000"/>
              </a:lnSpc>
              <a:buNone/>
            </a:pPr>
            <a:r>
              <a:rPr lang="en-US" sz="4400" b="1" dirty="0">
                <a:solidFill>
                  <a:srgbClr val="FFFFFF"/>
                </a:solidFill>
                <a:latin typeface="Cambria" pitchFamily="34" charset="0"/>
                <a:ea typeface="Cambria" pitchFamily="34" charset="-122"/>
                <a:cs typeface="Cambria" pitchFamily="34" charset="-120"/>
              </a:rPr>
              <a:t>Solr Support for</a:t>
            </a:r>
            <a:endParaRPr lang="en-US" sz="4400" dirty="0"/>
          </a:p>
          <a:p>
            <a:pPr indent="0" marL="0">
              <a:lnSpc>
                <a:spcPct val="102000"/>
              </a:lnSpc>
              <a:buNone/>
            </a:pPr>
            <a:r>
              <a:rPr lang="en-US" sz="4400" b="1" dirty="0">
                <a:solidFill>
                  <a:srgbClr val="FFFFFF"/>
                </a:solidFill>
                <a:latin typeface="Cambria" pitchFamily="34" charset="0"/>
                <a:ea typeface="Cambria" pitchFamily="34" charset="-122"/>
                <a:cs typeface="Cambria" pitchFamily="34" charset="-120"/>
              </a:rPr>
              <a:t>IntelliJ IDEA</a:t>
            </a:r>
            <a:endParaRPr lang="en-US" sz="4400" dirty="0"/>
          </a:p>
        </p:txBody>
      </p:sp>
      <p:sp>
        <p:nvSpPr>
          <p:cNvPr id="6" name="Text 4"/>
          <p:cNvSpPr/>
          <p:nvPr/>
        </p:nvSpPr>
        <p:spPr>
          <a:xfrm>
            <a:off x="822960" y="4160520"/>
            <a:ext cx="9326880" cy="1005840"/>
          </a:xfrm>
          <a:prstGeom prst="rect">
            <a:avLst/>
          </a:prstGeom>
          <a:noFill/>
          <a:ln/>
        </p:spPr>
        <p:txBody>
          <a:bodyPr wrap="square" rtlCol="0" anchor="ctr"/>
          <a:lstStyle/>
          <a:p>
            <a:pPr indent="0" marL="0">
              <a:lnSpc>
                <a:spcPct val="125000"/>
              </a:lnSpc>
              <a:buNone/>
            </a:pPr>
            <a:r>
              <a:rPr lang="en-US" sz="1800" dirty="0">
                <a:solidFill>
                  <a:srgbClr val="CFE0FF"/>
                </a:solidFill>
                <a:latin typeface="Calibri" pitchFamily="34" charset="0"/>
                <a:ea typeface="Calibri" pitchFamily="34" charset="-122"/>
                <a:cs typeface="Calibri" pitchFamily="34" charset="-120"/>
              </a:rPr>
              <a:t>Configsets, live servers and the Java and Kotlin that query them — completion, navigation,</a:t>
            </a:r>
            <a:endParaRPr lang="en-US" sz="1800" dirty="0"/>
          </a:p>
          <a:p>
            <a:pPr indent="0" marL="0">
              <a:lnSpc>
                <a:spcPct val="125000"/>
              </a:lnSpc>
              <a:buNone/>
            </a:pPr>
            <a:r>
              <a:rPr lang="en-US" sz="1800" dirty="0">
                <a:solidFill>
                  <a:srgbClr val="CFE0FF"/>
                </a:solidFill>
                <a:latin typeface="Calibri" pitchFamily="34" charset="0"/>
                <a:ea typeface="Calibri" pitchFamily="34" charset="-122"/>
                <a:cs typeface="Calibri" pitchFamily="34" charset="-120"/>
              </a:rPr>
              <a:t>inspections, drift and queries, over one shared model of what a field is and what it can do.</a:t>
            </a:r>
            <a:endParaRPr lang="en-US" sz="1800" dirty="0"/>
          </a:p>
        </p:txBody>
      </p:sp>
      <p:sp>
        <p:nvSpPr>
          <p:cNvPr id="7" name="Text 5"/>
          <p:cNvSpPr/>
          <p:nvPr/>
        </p:nvSpPr>
        <p:spPr>
          <a:xfrm>
            <a:off x="822960" y="6217920"/>
            <a:ext cx="7315200" cy="365760"/>
          </a:xfrm>
          <a:prstGeom prst="rect">
            <a:avLst/>
          </a:prstGeom>
          <a:noFill/>
          <a:ln/>
        </p:spPr>
        <p:txBody>
          <a:bodyPr wrap="square" rtlCol="0" anchor="ctr"/>
          <a:lstStyle/>
          <a:p>
            <a:pPr indent="0" marL="0">
              <a:buNone/>
            </a:pPr>
            <a:r>
              <a:rPr lang="en-US" sz="1100" dirty="0">
                <a:solidFill>
                  <a:srgbClr val="8C97C4"/>
                </a:solidFill>
                <a:latin typeface="Calibri" pitchFamily="34" charset="0"/>
                <a:ea typeface="Calibri" pitchFamily="34" charset="-122"/>
                <a:cs typeface="Calibri" pitchFamily="34" charset="-120"/>
              </a:rPr>
              <a:t>Solr Support 0.2.0 · IntelliJ Platform Plugin</a:t>
            </a:r>
            <a:endParaRPr lang="en-US" sz="1100" dirty="0"/>
          </a:p>
        </p:txBody>
      </p:sp>
      <p:sp>
        <p:nvSpPr>
          <p:cNvPr id="9" name="Text 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1 · FEATURES</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500" b="1" dirty="0">
                <a:solidFill>
                  <a:srgbClr val="1B2340"/>
                </a:solidFill>
                <a:latin typeface="Cambria" pitchFamily="34" charset="0"/>
                <a:ea typeface="Cambria" pitchFamily="34" charset="-122"/>
                <a:cs typeface="Cambria" pitchFamily="34" charset="-120"/>
              </a:rPr>
              <a:t>One shared model, read from a repository nothing else can see into</a:t>
            </a:r>
            <a:endParaRPr lang="en-US" sz="2500" dirty="0"/>
          </a:p>
        </p:txBody>
      </p:sp>
      <p:sp>
        <p:nvSpPr>
          <p:cNvPr id="4" name="Text 2"/>
          <p:cNvSpPr/>
          <p:nvPr/>
        </p:nvSpPr>
        <p:spPr>
          <a:xfrm>
            <a:off x="640080" y="1554480"/>
            <a:ext cx="10607040" cy="4617720"/>
          </a:xfrm>
          <a:prstGeom prst="rect">
            <a:avLst/>
          </a:prstGeom>
          <a:noFill/>
          <a:ln/>
        </p:spPr>
        <p:txBody>
          <a:bodyPr wrap="square" rtlCol="0" anchor="t"/>
          <a:lstStyle/>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Solr development spans three surfaces that share only a vocabulary — field names.</a:t>
            </a:r>
            <a:endParaRPr lang="en-US" sz="1550" dirty="0"/>
          </a:p>
          <a:p>
            <a:pPr marL="228600" indent="-228600">
              <a:lnSpc>
                <a:spcPct val="112000"/>
              </a:lnSpc>
              <a:spcAft>
                <a:spcPts val="500"/>
              </a:spcAft>
              <a:buSzPct val="100000"/>
              <a:buChar char="•"/>
            </a:pPr>
            <a:r>
              <a:rPr lang="en-US" sz="1500" dirty="0">
                <a:solidFill>
                  <a:srgbClr val="1B2340"/>
                </a:solidFill>
                <a:latin typeface="Calibri" pitchFamily="34" charset="0"/>
                <a:ea typeface="Calibri" pitchFamily="34" charset="-122"/>
                <a:cs typeface="Calibri" pitchFamily="34" charset="-120"/>
              </a:rPr>
              <a:t>Configuration files (managed-schema.xml / schema.xml, solrconfig.xml) — hand-edited XML with no language support today.</a:t>
            </a:r>
            <a:endParaRPr lang="en-US" sz="1550" dirty="0"/>
          </a:p>
          <a:p>
            <a:pPr marL="228600" indent="-228600">
              <a:lnSpc>
                <a:spcPct val="112000"/>
              </a:lnSpc>
              <a:spcAft>
                <a:spcPts val="500"/>
              </a:spcAft>
              <a:buSzPct val="100000"/>
              <a:buChar char="•"/>
            </a:pPr>
            <a:r>
              <a:rPr lang="en-US" sz="1500" dirty="0">
                <a:solidFill>
                  <a:srgbClr val="1B2340"/>
                </a:solidFill>
                <a:latin typeface="Calibri" pitchFamily="34" charset="0"/>
                <a:ea typeface="Calibri" pitchFamily="34" charset="-122"/>
                <a:cs typeface="Calibri" pitchFamily="34" charset="-120"/>
              </a:rPr>
              <a:t>A running Solr server — reached only through the Admin UI or curl.</a:t>
            </a:r>
            <a:endParaRPr lang="en-US" sz="1550" dirty="0"/>
          </a:p>
          <a:p>
            <a:pPr marL="228600" indent="-228600">
              <a:lnSpc>
                <a:spcPct val="112000"/>
              </a:lnSpc>
              <a:spcAft>
                <a:spcPts val="500"/>
              </a:spcAft>
              <a:buSzPct val="100000"/>
              <a:buChar char="•"/>
            </a:pPr>
            <a:r>
              <a:rPr lang="en-US" sz="1500" dirty="0">
                <a:solidFill>
                  <a:srgbClr val="1B2340"/>
                </a:solidFill>
                <a:latin typeface="Calibri" pitchFamily="34" charset="0"/>
                <a:ea typeface="Calibri" pitchFamily="34" charset="-122"/>
                <a:cs typeface="Calibri" pitchFamily="34" charset="-120"/>
              </a:rPr>
              <a:t>Java/Kotlin client code — field names passed as unchecked string literals.</a:t>
            </a:r>
            <a:endParaRPr lang="en-US" sz="1550" dirty="0"/>
          </a:p>
          <a:p>
            <a:pPr indent="0" marL="0">
              <a:lnSpc>
                <a:spcPct val="112000"/>
              </a:lnSpc>
              <a:spcAft>
                <a:spcPts val="400"/>
              </a:spcAft>
              <a:buNone/>
            </a:pPr>
            <a:r>
              <a:rPr lang="en-US" sz="600" dirty="0">
                <a:solidFill>
                  <a:srgbClr val="1B2340"/>
                </a:solidFill>
                <a:latin typeface="Calibri" pitchFamily="34" charset="0"/>
                <a:ea typeface="Calibri" pitchFamily="34" charset="-122"/>
                <a:cs typeface="Calibri" pitchFamily="34" charset="-120"/>
              </a:rPr>
              <a:t> </a:t>
            </a:r>
            <a:endParaRPr lang="en-US" sz="1550" dirty="0"/>
          </a:p>
          <a:p>
            <a:pPr marL="228600" indent="-228600">
              <a:lnSpc>
                <a:spcPct val="112000"/>
              </a:lnSpc>
              <a:spcAft>
                <a:spcPts val="500"/>
              </a:spcAft>
              <a:buSzPct val="100000"/>
              <a:buChar char="•"/>
            </a:pPr>
            <a:r>
              <a:rPr lang="en-US" sz="1500" dirty="0">
                <a:solidFill>
                  <a:srgbClr val="1B2340"/>
                </a:solidFill>
                <a:latin typeface="Calibri" pitchFamily="34" charset="0"/>
                <a:ea typeface="Calibri" pitchFamily="34" charset="-122"/>
                <a:cs typeface="Calibri" pitchFamily="34" charset="-120"/>
              </a:rPr>
              <a:t>This plugin reads the first surface into one model of what a field is and what it can do, and puts that model to work in the editor. Acts 4 and 5 carry the same model to the other two: a live server, and the code that queries it.</a:t>
            </a:r>
            <a:endParaRPr lang="en-US" sz="1550" dirty="0"/>
          </a:p>
          <a:p>
            <a:pPr indent="0" marL="0">
              <a:lnSpc>
                <a:spcPct val="112000"/>
              </a:lnSpc>
              <a:spcAft>
                <a:spcPts val="400"/>
              </a:spcAft>
              <a:buNone/>
            </a:pPr>
            <a:r>
              <a:rPr lang="en-US" sz="600" dirty="0">
                <a:solidFill>
                  <a:srgbClr val="1B2340"/>
                </a:solidFill>
                <a:latin typeface="Calibri" pitchFamily="34" charset="0"/>
                <a:ea typeface="Calibri" pitchFamily="34" charset="-122"/>
                <a:cs typeface="Calibri" pitchFamily="34" charset="-120"/>
              </a:rPr>
              <a:t> </a:t>
            </a:r>
            <a:endParaRPr lang="en-US" sz="1550" dirty="0"/>
          </a:p>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Release 0.2.0 ships all three tracks, for plain Java and Kotlin with SolrJ.</a:t>
            </a:r>
            <a:endParaRPr lang="en-US" sz="1550" dirty="0"/>
          </a:p>
          <a:p>
            <a:pPr marL="228600" indent="-228600">
              <a:lnSpc>
                <a:spcPct val="112000"/>
              </a:lnSpc>
              <a:spcAft>
                <a:spcPts val="500"/>
              </a:spcAft>
              <a:buSzPct val="100000"/>
              <a:buChar char="•"/>
            </a:pPr>
            <a:r>
              <a:rPr lang="en-US" sz="1500" dirty="0">
                <a:solidFill>
                  <a:srgbClr val="1B2340"/>
                </a:solidFill>
                <a:latin typeface="Calibri" pitchFamily="34" charset="0"/>
                <a:ea typeface="Calibri" pitchFamily="34" charset="-122"/>
                <a:cs typeface="Calibri" pitchFamily="34" charset="-120"/>
              </a:rPr>
              <a:t>Editor: completion, navigation, inspections, quick documentation and hints across managed-schema.xml and solrconfig.xml.</a:t>
            </a:r>
            <a:endParaRPr lang="en-US" sz="1550" dirty="0"/>
          </a:p>
          <a:p>
            <a:pPr marL="228600" indent="-228600">
              <a:lnSpc>
                <a:spcPct val="112000"/>
              </a:lnSpc>
              <a:spcAft>
                <a:spcPts val="500"/>
              </a:spcAft>
              <a:buSzPct val="100000"/>
              <a:buChar char="•"/>
            </a:pPr>
            <a:r>
              <a:rPr lang="en-US" sz="1500" dirty="0">
                <a:solidFill>
                  <a:srgbClr val="1B2340"/>
                </a:solidFill>
                <a:latin typeface="Calibri" pitchFamily="34" charset="0"/>
                <a:ea typeface="Calibri" pitchFamily="34" charset="-122"/>
                <a:cs typeface="Calibri" pitchFamily="34" charset="-120"/>
              </a:rPr>
              <a:t>Server, complete: connections, collections tool window, queries in the HTTP Client or from a right-click in the tool window, drift view with upload, reload and additive apply, test documents.</a:t>
            </a:r>
            <a:endParaRPr lang="en-US" sz="1550" dirty="0"/>
          </a:p>
          <a:p>
            <a:pPr marL="228600" indent="-228600">
              <a:lnSpc>
                <a:spcPct val="112000"/>
              </a:lnSpc>
              <a:spcAft>
                <a:spcPts val="500"/>
              </a:spcAft>
              <a:buSzPct val="100000"/>
              <a:buChar char="•"/>
            </a:pPr>
            <a:r>
              <a:rPr lang="en-US" sz="1500" dirty="0">
                <a:solidFill>
                  <a:srgbClr val="1B2340"/>
                </a:solidFill>
                <a:latin typeface="Calibri" pitchFamily="34" charset="0"/>
                <a:ea typeface="Calibri" pitchFamily="34" charset="-122"/>
                <a:cs typeface="Calibri" pitchFamily="34" charset="-120"/>
              </a:rPr>
              <a:t>Code, complete for plain Java and Kotlin with SolrJ: field checks, completion, navigation, query colouring, run from the gutter.</a:t>
            </a:r>
            <a:endParaRPr lang="en-US" sz="1550" dirty="0"/>
          </a:p>
          <a:p>
            <a:pPr marL="228600" indent="-228600">
              <a:lnSpc>
                <a:spcPct val="112000"/>
              </a:lnSpc>
              <a:spcAft>
                <a:spcPts val="500"/>
              </a:spcAft>
              <a:buSzPct val="100000"/>
              <a:buChar char="•"/>
            </a:pPr>
            <a:r>
              <a:rPr lang="en-US" sz="1500" dirty="0">
                <a:solidFill>
                  <a:srgbClr val="1B2340"/>
                </a:solidFill>
                <a:latin typeface="Calibri" pitchFamily="34" charset="0"/>
                <a:ea typeface="Calibri" pitchFamily="34" charset="-122"/>
                <a:cs typeface="Calibri" pitchFamily="34" charset="-120"/>
              </a:rPr>
              <a:t>Next release — framework support: Spring Boot (IntelliJ IDEA Ultimate only), then Quarkus, Micronaut, MicroProfile and Apache Camel.</a:t>
            </a:r>
            <a:endParaRPr lang="en-US" sz="1550" dirty="0"/>
          </a:p>
        </p:txBody>
      </p:sp>
      <p:sp>
        <p:nvSpPr>
          <p:cNvPr id="5" name="Text 3"/>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specs/0002-solr-intellij-plugin.md “Overview”; README.md:1-13</a:t>
            </a:r>
            <a:endParaRPr lang="en-US" sz="950" dirty="0"/>
          </a:p>
        </p:txBody>
      </p:sp>
      <p:sp>
        <p:nvSpPr>
          <p:cNvPr id="7" name="Text 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B3C"/>
        </a:solidFill>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1F2A56"/>
          </a:solidFill>
          <a:ln/>
        </p:spPr>
      </p:sp>
      <p:sp>
        <p:nvSpPr>
          <p:cNvPr id="3" name="Text 1"/>
          <p:cNvSpPr/>
          <p:nvPr/>
        </p:nvSpPr>
        <p:spPr>
          <a:xfrm>
            <a:off x="411480" y="502920"/>
            <a:ext cx="2651760" cy="1463040"/>
          </a:xfrm>
          <a:prstGeom prst="rect">
            <a:avLst/>
          </a:prstGeom>
          <a:noFill/>
          <a:ln/>
        </p:spPr>
        <p:txBody>
          <a:bodyPr wrap="square" rtlCol="0" anchor="ctr"/>
          <a:lstStyle/>
          <a:p>
            <a:pPr indent="0" marL="0">
              <a:buNone/>
            </a:pPr>
            <a:r>
              <a:rPr lang="en-US" sz="9000" b="1" dirty="0">
                <a:solidFill>
                  <a:srgbClr val="FF6B35"/>
                </a:solidFill>
                <a:latin typeface="Cambria" pitchFamily="34" charset="0"/>
                <a:ea typeface="Cambria" pitchFamily="34" charset="-122"/>
                <a:cs typeface="Cambria" pitchFamily="34" charset="-120"/>
              </a:rPr>
              <a:t>01</a:t>
            </a:r>
            <a:endParaRPr lang="en-US" sz="9000" dirty="0"/>
          </a:p>
        </p:txBody>
      </p:sp>
      <p:sp>
        <p:nvSpPr>
          <p:cNvPr id="4" name="Text 2"/>
          <p:cNvSpPr/>
          <p:nvPr/>
        </p:nvSpPr>
        <p:spPr>
          <a:xfrm>
            <a:off x="411480" y="1965960"/>
            <a:ext cx="2743200" cy="1463040"/>
          </a:xfrm>
          <a:prstGeom prst="rect">
            <a:avLst/>
          </a:prstGeom>
          <a:noFill/>
          <a:ln/>
        </p:spPr>
        <p:txBody>
          <a:bodyPr wrap="square" rtlCol="0" anchor="ctr"/>
          <a:lstStyle/>
          <a:p>
            <a:pPr indent="0" marL="0">
              <a:lnSpc>
                <a:spcPct val="130000"/>
              </a:lnSpc>
              <a:buNone/>
            </a:pPr>
            <a:r>
              <a:rPr lang="en-US" sz="1600" b="1" spc="150" kern="0" dirty="0">
                <a:solidFill>
                  <a:srgbClr val="CFE0FF"/>
                </a:solidFill>
                <a:latin typeface="Calibri" pitchFamily="34" charset="0"/>
                <a:ea typeface="Calibri" pitchFamily="34" charset="-122"/>
                <a:cs typeface="Calibri" pitchFamily="34" charset="-120"/>
              </a:rPr>
              <a:t>FEATURES</a:t>
            </a:r>
            <a:endParaRPr lang="en-US" sz="1600" dirty="0"/>
          </a:p>
        </p:txBody>
      </p:sp>
      <p:sp>
        <p:nvSpPr>
          <p:cNvPr id="5" name="Text 3"/>
          <p:cNvSpPr/>
          <p:nvPr/>
        </p:nvSpPr>
        <p:spPr>
          <a:xfrm>
            <a:off x="3977640" y="777240"/>
            <a:ext cx="7589520" cy="1371600"/>
          </a:xfrm>
          <a:prstGeom prst="rect">
            <a:avLst/>
          </a:prstGeom>
          <a:noFill/>
          <a:ln/>
        </p:spPr>
        <p:txBody>
          <a:bodyPr wrap="square" rtlCol="0" anchor="ctr"/>
          <a:lstStyle/>
          <a:p>
            <a:pPr indent="0" marL="0">
              <a:lnSpc>
                <a:spcPct val="115000"/>
              </a:lnSpc>
              <a:buNone/>
            </a:pPr>
            <a:r>
              <a:rPr lang="en-US" sz="2600" b="1" dirty="0">
                <a:solidFill>
                  <a:srgbClr val="FFFFFF"/>
                </a:solidFill>
                <a:latin typeface="Cambria" pitchFamily="34" charset="0"/>
                <a:ea typeface="Cambria" pitchFamily="34" charset="-122"/>
                <a:cs typeface="Cambria" pitchFamily="34" charset="-120"/>
              </a:rPr>
              <a:t>Eighteen slides,</a:t>
            </a:r>
            <a:endParaRPr lang="en-US" sz="2600" dirty="0"/>
          </a:p>
          <a:p>
            <a:pPr indent="0" marL="0">
              <a:lnSpc>
                <a:spcPct val="115000"/>
              </a:lnSpc>
              <a:buNone/>
            </a:pPr>
            <a:r>
              <a:rPr lang="en-US" sz="2600" b="1" dirty="0">
                <a:solidFill>
                  <a:srgbClr val="FFFFFF"/>
                </a:solidFill>
                <a:latin typeface="Cambria" pitchFamily="34" charset="0"/>
                <a:ea typeface="Cambria" pitchFamily="34" charset="-122"/>
                <a:cs typeface="Cambria" pitchFamily="34" charset="-120"/>
              </a:rPr>
              <a:t>eighteen claims</a:t>
            </a:r>
            <a:endParaRPr lang="en-US" sz="2600" dirty="0"/>
          </a:p>
        </p:txBody>
      </p:sp>
      <p:sp>
        <p:nvSpPr>
          <p:cNvPr id="6" name="Shape 4"/>
          <p:cNvSpPr/>
          <p:nvPr/>
        </p:nvSpPr>
        <p:spPr>
          <a:xfrm>
            <a:off x="3977640" y="2359152"/>
            <a:ext cx="91440" cy="91440"/>
          </a:xfrm>
          <a:prstGeom prst="ellipse">
            <a:avLst/>
          </a:prstGeom>
          <a:solidFill>
            <a:srgbClr val="FF6B35"/>
          </a:solidFill>
          <a:ln/>
        </p:spPr>
      </p:sp>
      <p:sp>
        <p:nvSpPr>
          <p:cNvPr id="7" name="Text 5"/>
          <p:cNvSpPr/>
          <p:nvPr/>
        </p:nvSpPr>
        <p:spPr>
          <a:xfrm>
            <a:off x="4233672" y="220370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Every slide: one screenshot, one claim</a:t>
            </a:r>
            <a:endParaRPr lang="en-US" sz="1300" dirty="0"/>
          </a:p>
        </p:txBody>
      </p:sp>
      <p:sp>
        <p:nvSpPr>
          <p:cNvPr id="8" name="Shape 6"/>
          <p:cNvSpPr/>
          <p:nvPr/>
        </p:nvSpPr>
        <p:spPr>
          <a:xfrm>
            <a:off x="3977640" y="2724912"/>
            <a:ext cx="91440" cy="91440"/>
          </a:xfrm>
          <a:prstGeom prst="ellipse">
            <a:avLst/>
          </a:prstGeom>
          <a:solidFill>
            <a:srgbClr val="FF6B35"/>
          </a:solidFill>
          <a:ln/>
        </p:spPr>
      </p:sp>
      <p:sp>
        <p:nvSpPr>
          <p:cNvPr id="9" name="Text 7"/>
          <p:cNvSpPr/>
          <p:nvPr/>
        </p:nvSpPr>
        <p:spPr>
          <a:xfrm>
            <a:off x="4233672" y="256946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What it shows · what it costs without it</a:t>
            </a:r>
            <a:endParaRPr lang="en-US" sz="1300" dirty="0"/>
          </a:p>
        </p:txBody>
      </p:sp>
      <p:sp>
        <p:nvSpPr>
          <p:cNvPr id="10" name="Shape 8"/>
          <p:cNvSpPr/>
          <p:nvPr/>
        </p:nvSpPr>
        <p:spPr>
          <a:xfrm>
            <a:off x="3977640" y="3090672"/>
            <a:ext cx="91440" cy="91440"/>
          </a:xfrm>
          <a:prstGeom prst="ellipse">
            <a:avLst/>
          </a:prstGeom>
          <a:solidFill>
            <a:srgbClr val="FF6B35"/>
          </a:solidFill>
          <a:ln/>
        </p:spPr>
      </p:sp>
      <p:sp>
        <p:nvSpPr>
          <p:cNvPr id="11" name="Text 9"/>
          <p:cNvSpPr/>
          <p:nvPr/>
        </p:nvSpPr>
        <p:spPr>
          <a:xfrm>
            <a:off x="4233672" y="293522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Where the data actually comes from</a:t>
            </a:r>
            <a:endParaRPr lang="en-US" sz="1300" dirty="0"/>
          </a:p>
        </p:txBody>
      </p:sp>
      <p:sp>
        <p:nvSpPr>
          <p:cNvPr id="12" name="Shape 10"/>
          <p:cNvSpPr/>
          <p:nvPr/>
        </p:nvSpPr>
        <p:spPr>
          <a:xfrm>
            <a:off x="3977640" y="3456432"/>
            <a:ext cx="91440" cy="91440"/>
          </a:xfrm>
          <a:prstGeom prst="ellipse">
            <a:avLst/>
          </a:prstGeom>
          <a:solidFill>
            <a:srgbClr val="FF6B35"/>
          </a:solidFill>
          <a:ln/>
        </p:spPr>
      </p:sp>
      <p:sp>
        <p:nvSpPr>
          <p:cNvPr id="13" name="Text 11"/>
          <p:cNvSpPr/>
          <p:nvPr/>
        </p:nvSpPr>
        <p:spPr>
          <a:xfrm>
            <a:off x="4233672" y="330098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The platform mechanism underneath</a:t>
            </a:r>
            <a:endParaRPr lang="en-US" sz="1300" dirty="0"/>
          </a:p>
        </p:txBody>
      </p:sp>
      <p:sp>
        <p:nvSpPr>
          <p:cNvPr id="15"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1 OF 18 · INLAY HINTS</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Every field says what it can actually match — before you run a query</a:t>
            </a:r>
            <a:endParaRPr lang="en-US" sz="2300" dirty="0"/>
          </a:p>
        </p:txBody>
      </p:sp>
      <p:sp>
        <p:nvSpPr>
          <p:cNvPr id="4" name="Text 2"/>
          <p:cNvSpPr/>
          <p:nvPr/>
        </p:nvSpPr>
        <p:spPr>
          <a:xfrm>
            <a:off x="640080" y="1645920"/>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Grey inline text beside each field declaration: whole-value or tokenised, case-sensitive or not, plus storage shape.</a:t>
            </a:r>
            <a:endParaRPr lang="en-US" sz="1050" dirty="0"/>
          </a:p>
        </p:txBody>
      </p:sp>
      <p:sp>
        <p:nvSpPr>
          <p:cNvPr id="5" name="Text 3"/>
          <p:cNvSpPr/>
          <p:nvPr/>
        </p:nvSpPr>
        <p:spPr>
          <a:xfrm>
            <a:off x="640080" y="2647188"/>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reader reads the analyzer chain by hand to guess what a field can match, or ships a query against it and finds out from empty results.</a:t>
            </a:r>
            <a:endParaRPr lang="en-US" sz="1050" dirty="0"/>
          </a:p>
        </p:txBody>
      </p:sp>
      <p:sp>
        <p:nvSpPr>
          <p:cNvPr id="6" name="Text 4"/>
          <p:cNvSpPr/>
          <p:nvPr/>
        </p:nvSpPr>
        <p:spPr>
          <a:xfrm>
            <a:off x="640080" y="3648456"/>
            <a:ext cx="4114800" cy="141274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field's own index-time analyzer chain. No index, no server, no network. The deciding factories are named directly in code, not read from the generated catalog — that set defines Solr's matching semantics.</a:t>
            </a:r>
            <a:endParaRPr lang="en-US" sz="1050" dirty="0"/>
          </a:p>
        </p:txBody>
      </p:sp>
      <p:sp>
        <p:nvSpPr>
          <p:cNvPr id="7" name="Text 5"/>
          <p:cNvSpPr/>
          <p:nvPr/>
        </p:nvSpPr>
        <p:spPr>
          <a:xfrm>
            <a:off x="640080" y="5061204"/>
            <a:ext cx="4114800" cy="79552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codeInsight.declarativeInlayProvider — SolrMatchInlayHintsProvider, reading SolrMatchAnalysis.</a:t>
            </a:r>
            <a:endParaRPr lang="en-US" sz="1050" dirty="0"/>
          </a:p>
        </p:txBody>
      </p:sp>
      <p:sp>
        <p:nvSpPr>
          <p:cNvPr id="8" name="Shape 6"/>
          <p:cNvSpPr/>
          <p:nvPr/>
        </p:nvSpPr>
        <p:spPr>
          <a:xfrm>
            <a:off x="4892040" y="2588501"/>
            <a:ext cx="6888175" cy="1680998"/>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01-hints-match-capability.png">    </p:cNvPr>
          <p:cNvPicPr>
            <a:picLocks noChangeAspect="1"/>
          </p:cNvPicPr>
          <p:nvPr/>
        </p:nvPicPr>
        <p:blipFill>
          <a:blip r:embed="rId1"/>
          <a:stretch>
            <a:fillRect/>
          </a:stretch>
        </p:blipFill>
        <p:spPr>
          <a:xfrm>
            <a:off x="5029200" y="2725661"/>
            <a:ext cx="6613855" cy="1406678"/>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managed-schema.xml:66-77, no interaction — the hints render themselves.</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model/schema/SolrMatchAnalysis.kt; plugin.xml:38-45; docs/glossary.md “factory”, “analyzer chain”; docs/screenshots.md entry 1</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2 OF 18 · QUICK DOCUMENTATION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Every property's value — and whether it came from the field, its type, or Solr's default</a:t>
            </a:r>
            <a:endParaRPr lang="en-US" sz="2300" dirty="0"/>
          </a:p>
        </p:txBody>
      </p:sp>
      <p:sp>
        <p:nvSpPr>
          <p:cNvPr id="4" name="Text 2"/>
          <p:cNvSpPr/>
          <p:nvPr/>
        </p:nvSpPr>
        <p:spPr>
          <a:xfrm>
            <a:off x="640080" y="1645920"/>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Hover or F1 on a field resolves a full property table: value, origin, what it means in plain language.</a:t>
            </a:r>
            <a:endParaRPr lang="en-US" sz="1050" dirty="0"/>
          </a:p>
        </p:txBody>
      </p:sp>
      <p:sp>
        <p:nvSpPr>
          <p:cNvPr id="5" name="Text 3"/>
          <p:cNvSpPr/>
          <p:nvPr/>
        </p:nvSpPr>
        <p:spPr>
          <a:xfrm>
            <a:off x="640080" y="2647188"/>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reader checks the Reference Guide, which cannot know this file's state, or reads the field type declaration by hand to work out whether omitNorms is really on here.</a:t>
            </a:r>
            <a:endParaRPr lang="en-US" sz="1050" dirty="0"/>
          </a:p>
        </p:txBody>
      </p:sp>
      <p:sp>
        <p:nvSpPr>
          <p:cNvPr id="6" name="Text 4"/>
          <p:cNvSpPr/>
          <p:nvPr/>
        </p:nvSpPr>
        <p:spPr>
          <a:xfrm>
            <a:off x="640080" y="3854196"/>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Three-tier resolution — field, then field type, then Solr's own default — resolved at the schema's declared version, since some defaults depend on it.</a:t>
            </a:r>
            <a:endParaRPr lang="en-US" sz="1050" dirty="0"/>
          </a:p>
        </p:txBody>
      </p:sp>
      <p:sp>
        <p:nvSpPr>
          <p:cNvPr id="7" name="Text 5"/>
          <p:cNvSpPr/>
          <p:nvPr/>
        </p:nvSpPr>
        <p:spPr>
          <a:xfrm>
            <a:off x="640080" y="5061204"/>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lang.documentationProvider — SolrSchemaDocumentationProvider, reading a hand-maintained property table (SolrFieldProperties).</a:t>
            </a:r>
            <a:endParaRPr lang="en-US" sz="1050" dirty="0"/>
          </a:p>
        </p:txBody>
      </p:sp>
      <p:sp>
        <p:nvSpPr>
          <p:cNvPr id="8" name="Shape 6"/>
          <p:cNvSpPr/>
          <p:nvPr/>
        </p:nvSpPr>
        <p:spPr>
          <a:xfrm>
            <a:off x="5970118" y="1463040"/>
            <a:ext cx="4732020" cy="3931920"/>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02-quick-doc-field.png">    </p:cNvPr>
          <p:cNvPicPr>
            <a:picLocks noChangeAspect="1"/>
          </p:cNvPicPr>
          <p:nvPr/>
        </p:nvPicPr>
        <p:blipFill>
          <a:blip r:embed="rId1"/>
          <a:stretch>
            <a:fillRect/>
          </a:stretch>
        </p:blipFill>
        <p:spPr>
          <a:xfrm>
            <a:off x="6107278" y="1600200"/>
            <a:ext cx="4457700" cy="3657600"/>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Caret in name="category" at managed-schema.xml:70, Quick Documentation.</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model/schema/SolrFieldProperties.kt; docs/glossary.md “schema version”, “documentation provider”; docs/screenshots.md entry 2</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3 OF 18 · QUICK DOCUMENTATION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One popup answers what a class is and what it accepts — without opening a jar</a:t>
            </a:r>
            <a:endParaRPr lang="en-US" sz="2300" dirty="0"/>
          </a:p>
        </p:txBody>
      </p:sp>
      <p:sp>
        <p:nvSpPr>
          <p:cNvPr id="4" name="Text 2"/>
          <p:cNvSpPr/>
          <p:nvPr/>
        </p:nvSpPr>
        <p:spPr>
          <a:xfrm>
            <a:off x="640080" y="1645920"/>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Hover a class="solr...." value: short name and kind, the FQCN, a one-sentence Javadoc summary, and its accepted attributes.</a:t>
            </a:r>
            <a:endParaRPr lang="en-US" sz="1050" dirty="0"/>
          </a:p>
        </p:txBody>
      </p:sp>
      <p:sp>
        <p:nvSpPr>
          <p:cNvPr id="5" name="Text 3"/>
          <p:cNvSpPr/>
          <p:nvPr/>
        </p:nvSpPr>
        <p:spPr>
          <a:xfrm>
            <a:off x="640080" y="2647188"/>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reader opens Solr or Lucene's source, or searches the Javadoc site, to learn what StandardTokenizerFactory takes.</a:t>
            </a:r>
            <a:endParaRPr lang="en-US" sz="1050" dirty="0"/>
          </a:p>
        </p:txBody>
      </p:sp>
      <p:sp>
        <p:nvSpPr>
          <p:cNvPr id="6" name="Text 4"/>
          <p:cNvSpPr/>
          <p:nvPr/>
        </p:nvSpPr>
        <p:spPr>
          <a:xfrm>
            <a:off x="640080" y="3648456"/>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Generated at build time from Solr's own jars — identity by reading the class files, the summary from the sources jar's Javadoc. Nothing fetched at edit time.</a:t>
            </a:r>
            <a:endParaRPr lang="en-US" sz="1050" dirty="0"/>
          </a:p>
        </p:txBody>
      </p:sp>
      <p:sp>
        <p:nvSpPr>
          <p:cNvPr id="7" name="Text 5"/>
          <p:cNvSpPr/>
          <p:nvPr/>
        </p:nvSpPr>
        <p:spPr>
          <a:xfrm>
            <a:off x="640080" y="4855464"/>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Same documentation provider, reading the generated SolrClassCatalog — 735 entries on Solr 9, 724 on Solr 10, across 22 kinds of class a configset may name.</a:t>
            </a:r>
            <a:endParaRPr lang="en-US" sz="1050" dirty="0"/>
          </a:p>
        </p:txBody>
      </p:sp>
      <p:sp>
        <p:nvSpPr>
          <p:cNvPr id="8" name="Shape 6"/>
          <p:cNvSpPr/>
          <p:nvPr/>
        </p:nvSpPr>
        <p:spPr>
          <a:xfrm>
            <a:off x="5383405" y="1463040"/>
            <a:ext cx="5905445" cy="3931920"/>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03-quick-doc-class.png">    </p:cNvPr>
          <p:cNvPicPr>
            <a:picLocks noChangeAspect="1"/>
          </p:cNvPicPr>
          <p:nvPr/>
        </p:nvPicPr>
        <p:blipFill>
          <a:blip r:embed="rId1"/>
          <a:stretch>
            <a:fillRect/>
          </a:stretch>
        </p:blipFill>
        <p:spPr>
          <a:xfrm>
            <a:off x="5520565" y="1600200"/>
            <a:ext cx="5631125" cy="3657600"/>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Caret in class="solr.StandardTokenizerFactory" at managed-schema.xml:33.</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model/vocabulary/SolrClassCatalog.kt (SolrClassKind, 22 entries, verified against source this session); build/generated/solr-catalog-resources/solr-catalog/solr-{9,10}.tsv; docs/screenshots.md entry 3</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4 OF 18 · QUICK DOCUMENTATION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The schema's own version number, and exactly what it changes in this file</a:t>
            </a:r>
            <a:endParaRPr lang="en-US" sz="2300" dirty="0"/>
          </a:p>
        </p:txBody>
      </p:sp>
      <p:sp>
        <p:nvSpPr>
          <p:cNvPr id="4" name="Text 2"/>
          <p:cNvSpPr/>
          <p:nvPr/>
        </p:nvSpPr>
        <p:spPr>
          <a:xfrm>
            <a:off x="640080" y="1645920"/>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Hover version on &lt;schema version="1.6"&gt;: the general rule (1.0 to 1.7, what it selects), then this file's own resolved values.</a:t>
            </a:r>
            <a:endParaRPr lang="en-US" sz="1050" dirty="0"/>
          </a:p>
        </p:txBody>
      </p:sp>
      <p:sp>
        <p:nvSpPr>
          <p:cNvPr id="5" name="Text 3"/>
          <p:cNvSpPr/>
          <p:nvPr/>
        </p:nvSpPr>
        <p:spPr>
          <a:xfrm>
            <a:off x="640080" y="2647188"/>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reader does not know Solr 9.7 flipped docValues and uninvertible defaults at schema version 1.7, and silently assumes modern behaviour on an old, still-running schema.</a:t>
            </a:r>
            <a:endParaRPr lang="en-US" sz="1050" dirty="0"/>
          </a:p>
        </p:txBody>
      </p:sp>
      <p:sp>
        <p:nvSpPr>
          <p:cNvPr id="6" name="Text 4"/>
          <p:cNvSpPr/>
          <p:nvPr/>
        </p:nvSpPr>
        <p:spPr>
          <a:xfrm>
            <a:off x="640080" y="3854196"/>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SolrSchemaVersion — a hand-maintained rule table keyed to the declared version, since upgrading the Solr server does not rewrite this attribute.</a:t>
            </a:r>
            <a:endParaRPr lang="en-US" sz="1050" dirty="0"/>
          </a:p>
        </p:txBody>
      </p:sp>
      <p:sp>
        <p:nvSpPr>
          <p:cNvPr id="7" name="Text 5"/>
          <p:cNvSpPr/>
          <p:nvPr/>
        </p:nvSpPr>
        <p:spPr>
          <a:xfrm>
            <a:off x="640080" y="4855464"/>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Same documentation provider, answering at a structural attribute's own name rather than its value.</a:t>
            </a:r>
            <a:endParaRPr lang="en-US" sz="1050" dirty="0"/>
          </a:p>
        </p:txBody>
      </p:sp>
      <p:sp>
        <p:nvSpPr>
          <p:cNvPr id="8" name="Shape 6"/>
          <p:cNvSpPr/>
          <p:nvPr/>
        </p:nvSpPr>
        <p:spPr>
          <a:xfrm>
            <a:off x="4892040" y="2864664"/>
            <a:ext cx="6888175" cy="1128671"/>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16-hover-schema-version.png">    </p:cNvPr>
          <p:cNvPicPr>
            <a:picLocks noChangeAspect="1"/>
          </p:cNvPicPr>
          <p:nvPr/>
        </p:nvPicPr>
        <p:blipFill>
          <a:blip r:embed="rId1"/>
          <a:stretch>
            <a:fillRect/>
          </a:stretch>
        </p:blipFill>
        <p:spPr>
          <a:xfrm>
            <a:off x="5029200" y="3001824"/>
            <a:ext cx="6613855" cy="854351"/>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managed-schema.xml:27, &lt;schema version="1.6"&gt;, Quick Documentation (Ctrl+J).</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model/schema/SolrSchemaVersion.kt; docs/glossary.md “schema version”; docs/screenshots.md entry 16</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5 OF 18 · COMPLETION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Attribute completion that already knows what's on the tag</a:t>
            </a:r>
            <a:endParaRPr lang="en-US" sz="2300" dirty="0"/>
          </a:p>
        </p:txBody>
      </p:sp>
      <p:sp>
        <p:nvSpPr>
          <p:cNvPr id="4" name="Text 2"/>
          <p:cNvSpPr/>
          <p:nvPr/>
        </p:nvSpPr>
        <p:spPr>
          <a:xfrm>
            <a:off x="640080" y="1645920"/>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Ctrl+Space inside an opening &lt;field&gt; tag offers every legal attribute with a one-line summary — attributes already written are omitted.</a:t>
            </a:r>
            <a:endParaRPr lang="en-US" sz="1050" dirty="0"/>
          </a:p>
        </p:txBody>
      </p:sp>
      <p:sp>
        <p:nvSpPr>
          <p:cNvPr id="5" name="Text 3"/>
          <p:cNvSpPr/>
          <p:nvPr/>
        </p:nvSpPr>
        <p:spPr>
          <a:xfrm>
            <a:off x="640080" y="2647188"/>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reader learns the property vocabulary by trial and error, or keeps the Reference Guide's field-properties page open beside the editor.</a:t>
            </a:r>
            <a:endParaRPr lang="en-US" sz="1050" dirty="0"/>
          </a:p>
        </p:txBody>
      </p:sp>
      <p:sp>
        <p:nvSpPr>
          <p:cNvPr id="6" name="Text 4"/>
          <p:cNvSpPr/>
          <p:nvPr/>
        </p:nvSpPr>
        <p:spPr>
          <a:xfrm>
            <a:off x="640080" y="3648456"/>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hand-maintained property table (SolrFieldProperties). Only closed sets are completed — where any value is legal, the plugin contributes nothing.</a:t>
            </a:r>
            <a:endParaRPr lang="en-US" sz="1050" dirty="0"/>
          </a:p>
        </p:txBody>
      </p:sp>
      <p:sp>
        <p:nvSpPr>
          <p:cNvPr id="7" name="Text 5"/>
          <p:cNvSpPr/>
          <p:nvPr/>
        </p:nvSpPr>
        <p:spPr>
          <a:xfrm>
            <a:off x="640080" y="4855464"/>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completion.contributor, order="first" — SolrSchemaCompletionContributor, ahead of the platform's own XML completion.</a:t>
            </a:r>
            <a:endParaRPr lang="en-US" sz="1050" dirty="0"/>
          </a:p>
        </p:txBody>
      </p:sp>
      <p:sp>
        <p:nvSpPr>
          <p:cNvPr id="8" name="Shape 6"/>
          <p:cNvSpPr/>
          <p:nvPr/>
        </p:nvSpPr>
        <p:spPr>
          <a:xfrm>
            <a:off x="4892040" y="2461814"/>
            <a:ext cx="6888175" cy="1934371"/>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05-completion-field-properties.png">    </p:cNvPr>
          <p:cNvPicPr>
            <a:picLocks noChangeAspect="1"/>
          </p:cNvPicPr>
          <p:nvPr/>
        </p:nvPicPr>
        <p:blipFill>
          <a:blip r:embed="rId1"/>
          <a:stretch>
            <a:fillRect/>
          </a:stretch>
        </p:blipFill>
        <p:spPr>
          <a:xfrm>
            <a:off x="5029200" y="2598974"/>
            <a:ext cx="6613855" cy="1660051"/>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Caret after stored="true" at managed-schema.xml:70, before the /, space typed.</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configset/schema/completion/SolrSchemaCompletionContributor.kt; docs/glossary.md “completion contributor”; docs/screenshots.md entry 5</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6 OF 18 · COMPLETION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A factory's own attributes, offered by name — not guessed from its neighbours</a:t>
            </a:r>
            <a:endParaRPr lang="en-US" sz="2300" dirty="0"/>
          </a:p>
        </p:txBody>
      </p:sp>
      <p:sp>
        <p:nvSpPr>
          <p:cNvPr id="4" name="Text 2"/>
          <p:cNvSpPr/>
          <p:nvPr/>
        </p:nvSpPr>
        <p:spPr>
          <a:xfrm>
            <a:off x="640080" y="1645920"/>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Completion inside a &lt;filter class="..."&gt; tag offers that exact factory's real attributes, each labelled with the factory it came from.</a:t>
            </a:r>
            <a:endParaRPr lang="en-US" sz="1050" dirty="0"/>
          </a:p>
        </p:txBody>
      </p:sp>
      <p:sp>
        <p:nvSpPr>
          <p:cNvPr id="5" name="Text 3"/>
          <p:cNvSpPr/>
          <p:nvPr/>
        </p:nvSpPr>
        <p:spPr>
          <a:xfrm>
            <a:off x="640080" y="2647188"/>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reader reads the factory's constructor source, or trial-and-errors what Solr will silently ignore, to learn EdgeNGramFilterFactory accepts preserveOriginal.</a:t>
            </a:r>
            <a:endParaRPr lang="en-US" sz="1050" dirty="0"/>
          </a:p>
        </p:txBody>
      </p:sp>
      <p:sp>
        <p:nvSpPr>
          <p:cNvPr id="6" name="Text 4"/>
          <p:cNvSpPr/>
          <p:nvPr/>
        </p:nvSpPr>
        <p:spPr>
          <a:xfrm>
            <a:off x="640080" y="3854196"/>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Recovered from each factory's own constructor bytecode with ASM — a factory reads its arguments there and nowhere else, so reflection alone cannot see them.</a:t>
            </a:r>
            <a:endParaRPr lang="en-US" sz="1050" dirty="0"/>
          </a:p>
        </p:txBody>
      </p:sp>
      <p:sp>
        <p:nvSpPr>
          <p:cNvPr id="7" name="Text 5"/>
          <p:cNvSpPr/>
          <p:nvPr/>
        </p:nvSpPr>
        <p:spPr>
          <a:xfrm>
            <a:off x="640080" y="5061204"/>
            <a:ext cx="4114800" cy="79552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Same completion contributor, reading the generated class catalog's attribute column.</a:t>
            </a:r>
            <a:endParaRPr lang="en-US" sz="1050" dirty="0"/>
          </a:p>
        </p:txBody>
      </p:sp>
      <p:sp>
        <p:nvSpPr>
          <p:cNvPr id="8" name="Shape 6"/>
          <p:cNvSpPr/>
          <p:nvPr/>
        </p:nvSpPr>
        <p:spPr>
          <a:xfrm>
            <a:off x="4892040" y="2961147"/>
            <a:ext cx="6888175" cy="935706"/>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06-completion-factory-attributes.png">    </p:cNvPr>
          <p:cNvPicPr>
            <a:picLocks noChangeAspect="1"/>
          </p:cNvPicPr>
          <p:nvPr/>
        </p:nvPicPr>
        <p:blipFill>
          <a:blip r:embed="rId1"/>
          <a:stretch>
            <a:fillRect/>
          </a:stretch>
        </p:blipFill>
        <p:spPr>
          <a:xfrm>
            <a:off x="5029200" y="3098307"/>
            <a:ext cx="6613855" cy="661386"/>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managed-schema.xml:48, caret before the closing /, space typed.</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buildSrc GenerateSolrCatalogTask (ASM); docs/glossary.md “ASM”, “factory”; docs/screenshots.md entry 6</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7 OF 18 · COMPLETION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solrconfig.xml finally has its own structure, not an echo of the schema</a:t>
            </a:r>
            <a:endParaRPr lang="en-US" sz="2300" dirty="0"/>
          </a:p>
        </p:txBody>
      </p:sp>
      <p:sp>
        <p:nvSpPr>
          <p:cNvPr id="4" name="Text 2"/>
          <p:cNvSpPr/>
          <p:nvPr/>
        </p:nvSpPr>
        <p:spPr>
          <a:xfrm>
            <a:off x="640080" y="1645920"/>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Typing &lt; inside &lt;config&gt; offers Solr's real top-level vocabulary — directoryFactory, dataDir, luceneMatchVersion, requestHandler, query, updateHandler, codecFactory and more.</a:t>
            </a:r>
            <a:endParaRPr lang="en-US" sz="1050" dirty="0"/>
          </a:p>
        </p:txBody>
      </p:sp>
      <p:sp>
        <p:nvSpPr>
          <p:cNvPr id="5" name="Text 3"/>
          <p:cNvSpPr/>
          <p:nvPr/>
        </p:nvSpPr>
        <p:spPr>
          <a:xfrm>
            <a:off x="640080" y="2852928"/>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platform's schema-less guess offers whatever sibling tags happen to already be written — actively misleading in a file made mostly of same-named tags.</a:t>
            </a:r>
            <a:endParaRPr lang="en-US" sz="1050" dirty="0"/>
          </a:p>
        </p:txBody>
      </p:sp>
      <p:sp>
        <p:nvSpPr>
          <p:cNvPr id="6" name="Text 4"/>
          <p:cNvSpPr/>
          <p:nvPr/>
        </p:nvSpPr>
        <p:spPr>
          <a:xfrm>
            <a:off x="640080" y="4059936"/>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An element vocabulary read out of SolrConfig's own reading code, keyed to each element's parent path.</a:t>
            </a:r>
            <a:endParaRPr lang="en-US" sz="1050" dirty="0"/>
          </a:p>
        </p:txBody>
      </p:sp>
      <p:sp>
        <p:nvSpPr>
          <p:cNvPr id="7" name="Text 5"/>
          <p:cNvSpPr/>
          <p:nvPr/>
        </p:nvSpPr>
        <p:spPr>
          <a:xfrm>
            <a:off x="640080" y="5061204"/>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xml.elementDescriptorProvider — SolrConfigElementDescriptorProvider, a second, file-specific descriptor.</a:t>
            </a:r>
            <a:endParaRPr lang="en-US" sz="1050" dirty="0"/>
          </a:p>
        </p:txBody>
      </p:sp>
      <p:sp>
        <p:nvSpPr>
          <p:cNvPr id="8" name="Shape 6"/>
          <p:cNvSpPr/>
          <p:nvPr/>
        </p:nvSpPr>
        <p:spPr>
          <a:xfrm>
            <a:off x="6237074" y="1463040"/>
            <a:ext cx="4198107" cy="3931920"/>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10-completion-solrconfig-structure.png">    </p:cNvPr>
          <p:cNvPicPr>
            <a:picLocks noChangeAspect="1"/>
          </p:cNvPicPr>
          <p:nvPr/>
        </p:nvPicPr>
        <p:blipFill>
          <a:blip r:embed="rId1"/>
          <a:stretch>
            <a:fillRect/>
          </a:stretch>
        </p:blipFill>
        <p:spPr>
          <a:xfrm>
            <a:off x="6374234" y="1600200"/>
            <a:ext cx="3923787" cy="3657600"/>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Typing &lt; inside &lt;config&gt; in the sandbox's solrconfig.xml, line 16 (reshot capture, post element-placement fix).</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configset/solrconfig/descriptor/SolrConfigElementDescriptorProvider.kt; model/vocabulary/SolrElementCatalog.kt; docs/screenshots.md entry 10</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8 OF 18 · COMPLETION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The vocabulary changes with position — cache lives under &lt;query&gt;, not at the root</a:t>
            </a:r>
            <a:endParaRPr lang="en-US" sz="2300" dirty="0"/>
          </a:p>
        </p:txBody>
      </p:sp>
      <p:sp>
        <p:nvSpPr>
          <p:cNvPr id="4" name="Text 2"/>
          <p:cNvSpPr/>
          <p:nvPr/>
        </p:nvSpPr>
        <p:spPr>
          <a:xfrm>
            <a:off x="640080" y="1645920"/>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Typing &lt; inside &lt;query&gt; offers eighteen elements — cache, filterCache, listener, maxBooleanClauses and more — none of which the document root offers.</a:t>
            </a:r>
            <a:endParaRPr lang="en-US" sz="1050" dirty="0"/>
          </a:p>
        </p:txBody>
      </p:sp>
      <p:sp>
        <p:nvSpPr>
          <p:cNvPr id="5" name="Text 3"/>
          <p:cNvSpPr/>
          <p:nvPr/>
        </p:nvSpPr>
        <p:spPr>
          <a:xfrm>
            <a:off x="640080" y="2852928"/>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failure mode a schema-less guess can never fix by construction: advice that is not just wrong but wrong about *where* something belongs.</a:t>
            </a:r>
            <a:endParaRPr lang="en-US" sz="1050" dirty="0"/>
          </a:p>
        </p:txBody>
      </p:sp>
      <p:sp>
        <p:nvSpPr>
          <p:cNvPr id="6" name="Text 4"/>
          <p:cNvSpPr/>
          <p:nvPr/>
        </p:nvSpPr>
        <p:spPr>
          <a:xfrm>
            <a:off x="640080" y="3854196"/>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same generated element vocabulary as the previous slide, keyed by parent path — this time the parent is query, not the document root.</a:t>
            </a:r>
            <a:endParaRPr lang="en-US" sz="1050" dirty="0"/>
          </a:p>
        </p:txBody>
      </p:sp>
      <p:sp>
        <p:nvSpPr>
          <p:cNvPr id="7" name="Text 5"/>
          <p:cNvSpPr/>
          <p:nvPr/>
        </p:nvSpPr>
        <p:spPr>
          <a:xfrm>
            <a:off x="640080" y="4855464"/>
            <a:ext cx="4114800" cy="79552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Same descriptor, same SolrElementCatalog.offerableChildrenOf, a different parent path.</a:t>
            </a:r>
            <a:endParaRPr lang="en-US" sz="1050" dirty="0"/>
          </a:p>
        </p:txBody>
      </p:sp>
      <p:sp>
        <p:nvSpPr>
          <p:cNvPr id="8" name="Shape 6"/>
          <p:cNvSpPr/>
          <p:nvPr/>
        </p:nvSpPr>
        <p:spPr>
          <a:xfrm>
            <a:off x="6024400" y="1463040"/>
            <a:ext cx="4623455" cy="3931920"/>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17-completion-query-nesting.png">    </p:cNvPr>
          <p:cNvPicPr>
            <a:picLocks noChangeAspect="1"/>
          </p:cNvPicPr>
          <p:nvPr/>
        </p:nvPicPr>
        <p:blipFill>
          <a:blip r:embed="rId1"/>
          <a:stretch>
            <a:fillRect/>
          </a:stretch>
        </p:blipFill>
        <p:spPr>
          <a:xfrm>
            <a:off x="6161560" y="1600200"/>
            <a:ext cx="4349135" cy="3657600"/>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&lt;query&gt;&lt;/query&gt; added inside &lt;config&gt;, caret between the tags, typing &lt;.</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model/vocabulary/SolrElementCatalog.kt (parent-path keying); docs/screenshots.md entry 17</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9 OF 18 · COMPLETION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Knowing where an element belongs and recommending it are different questions</a:t>
            </a:r>
            <a:endParaRPr lang="en-US" sz="2300" dirty="0"/>
          </a:p>
        </p:txBody>
      </p:sp>
      <p:sp>
        <p:nvSpPr>
          <p:cNvPr id="4" name="Text 2"/>
          <p:cNvSpPr/>
          <p:nvPr/>
        </p:nvSpPr>
        <p:spPr>
          <a:xfrm>
            <a:off x="640080" y="1645920"/>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&lt;indexConfig&gt; offers exactly one child, deletionPolicy — nrtMode and unlockOnStartup are known to belong there and are still never offered.</a:t>
            </a:r>
            <a:endParaRPr lang="en-US" sz="1050" dirty="0"/>
          </a:p>
        </p:txBody>
      </p:sp>
      <p:sp>
        <p:nvSpPr>
          <p:cNvPr id="5" name="Text 3"/>
          <p:cNvSpPr/>
          <p:nvPr/>
        </p:nvSpPr>
        <p:spPr>
          <a:xfrm>
            <a:off x="640080" y="2647188"/>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Without this distinction, a reader could be offered an element name Solr will refuse to start with.</a:t>
            </a:r>
            <a:endParaRPr lang="en-US" sz="1050" dirty="0"/>
          </a:p>
        </p:txBody>
      </p:sp>
      <p:sp>
        <p:nvSpPr>
          <p:cNvPr id="6" name="Text 4"/>
          <p:cNvSpPr/>
          <p:nvPr/>
        </p:nvSpPr>
        <p:spPr>
          <a:xfrm>
            <a:off x="640080" y="3648456"/>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same generated catalog, cross-referenced against a discontinued-elements list read from the same SolrConfig source.</a:t>
            </a:r>
            <a:endParaRPr lang="en-US" sz="1050" dirty="0"/>
          </a:p>
        </p:txBody>
      </p:sp>
      <p:sp>
        <p:nvSpPr>
          <p:cNvPr id="7" name="Text 5"/>
          <p:cNvSpPr/>
          <p:nvPr/>
        </p:nvSpPr>
        <p:spPr>
          <a:xfrm>
            <a:off x="640080" y="4649724"/>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SolrElementCatalog.offerableChildrenOf filters to what Solr still accepts, even for a parent path it otherwise fully recognises.</a:t>
            </a:r>
            <a:endParaRPr lang="en-US" sz="1050" dirty="0"/>
          </a:p>
        </p:txBody>
      </p:sp>
      <p:sp>
        <p:nvSpPr>
          <p:cNvPr id="8" name="Shape 6"/>
          <p:cNvSpPr/>
          <p:nvPr/>
        </p:nvSpPr>
        <p:spPr>
          <a:xfrm>
            <a:off x="4892040" y="1756748"/>
            <a:ext cx="6888175" cy="3344504"/>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18-completion-indexconfig-nesting.png">    </p:cNvPr>
          <p:cNvPicPr>
            <a:picLocks noChangeAspect="1"/>
          </p:cNvPicPr>
          <p:nvPr/>
        </p:nvPicPr>
        <p:blipFill>
          <a:blip r:embed="rId1"/>
          <a:stretch>
            <a:fillRect/>
          </a:stretch>
        </p:blipFill>
        <p:spPr>
          <a:xfrm>
            <a:off x="5029200" y="1893908"/>
            <a:ext cx="6613855" cy="3070184"/>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&lt;indexConfig&gt;&lt;/indexConfig&gt; added inside &lt;config&gt;, same gesture as the previous slide.</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model/vocabulary/SolrElementCatalog.kt; configset/solrconfig/inspection (discontinued-element check); docs/screenshots.md entry 18</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10 OF 18 · COMPLETION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Hundreds of request-parameter names, each with Solr's own one-line explanation</a:t>
            </a:r>
            <a:endParaRPr lang="en-US" sz="2300" dirty="0"/>
          </a:p>
        </p:txBody>
      </p:sp>
      <p:sp>
        <p:nvSpPr>
          <p:cNvPr id="4" name="Text 2"/>
          <p:cNvSpPr/>
          <p:nvPr/>
        </p:nvSpPr>
        <p:spPr>
          <a:xfrm>
            <a:off x="640080" y="1645920"/>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new &lt;str name="..."&gt; inside &lt;lst name="defaults"&gt; offers Solr's own parameter names, each labelled with its declaring Params class.</a:t>
            </a:r>
            <a:endParaRPr lang="en-US" sz="1050" dirty="0"/>
          </a:p>
        </p:txBody>
      </p:sp>
      <p:sp>
        <p:nvSpPr>
          <p:cNvPr id="5" name="Text 3"/>
          <p:cNvSpPr/>
          <p:nvPr/>
        </p:nvSpPr>
        <p:spPr>
          <a:xfrm>
            <a:off x="640080" y="2647188"/>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reader greps the Reference Guide's parameter reference by hand, or copies a name from another handler and hopes it still applies here.</a:t>
            </a:r>
            <a:endParaRPr lang="en-US" sz="1050" dirty="0"/>
          </a:p>
        </p:txBody>
      </p:sp>
      <p:sp>
        <p:nvSpPr>
          <p:cNvPr id="6" name="Text 4"/>
          <p:cNvSpPr/>
          <p:nvPr/>
        </p:nvSpPr>
        <p:spPr>
          <a:xfrm>
            <a:off x="640080" y="3648456"/>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Read from Solr's own Params classes' public constants — 349 names on Solr 9, 344 on Solr 10, plus 44 query-parser names on both, counted from the generated catalog this session.</a:t>
            </a:r>
            <a:endParaRPr lang="en-US" sz="1050" dirty="0"/>
          </a:p>
        </p:txBody>
      </p:sp>
      <p:sp>
        <p:nvSpPr>
          <p:cNvPr id="7" name="Text 5"/>
          <p:cNvSpPr/>
          <p:nvPr/>
        </p:nvSpPr>
        <p:spPr>
          <a:xfrm>
            <a:off x="640080" y="4855464"/>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completion.contributor — SolrParameterNameCompletionProvider and SolrParserNameCompletionProvider.</a:t>
            </a:r>
            <a:endParaRPr lang="en-US" sz="1050" dirty="0"/>
          </a:p>
        </p:txBody>
      </p:sp>
      <p:sp>
        <p:nvSpPr>
          <p:cNvPr id="8" name="Shape 6"/>
          <p:cNvSpPr/>
          <p:nvPr/>
        </p:nvSpPr>
        <p:spPr>
          <a:xfrm>
            <a:off x="4892040" y="2328423"/>
            <a:ext cx="6888175" cy="2201153"/>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15-completion-parameter-names.png">    </p:cNvPr>
          <p:cNvPicPr>
            <a:picLocks noChangeAspect="1"/>
          </p:cNvPicPr>
          <p:nvPr/>
        </p:nvPicPr>
        <p:blipFill>
          <a:blip r:embed="rId1"/>
          <a:stretch>
            <a:fillRect/>
          </a:stretch>
        </p:blipFill>
        <p:spPr>
          <a:xfrm>
            <a:off x="5029200" y="2465583"/>
            <a:ext cx="6613855" cy="1926833"/>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A new &lt;str name="..."&gt; inside /select's &lt;lst name="defaults"&gt;, typed sort, Ctrl+Space.</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model/vocabulary/SolrParameterCatalog.kt; build/generated/solr-catalog-resources/solr-catalog/parameters-{9,10}.tsv (counted this session); docs/screenshots.md entry 15</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11 OF 18 · COMPLETION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The schema's own fields, offered exactly where a parameter needs one</a:t>
            </a:r>
            <a:endParaRPr lang="en-US" sz="2300" dirty="0"/>
          </a:p>
        </p:txBody>
      </p:sp>
      <p:sp>
        <p:nvSpPr>
          <p:cNvPr id="4" name="Text 2"/>
          <p:cNvSpPr/>
          <p:nvPr/>
        </p:nvSpPr>
        <p:spPr>
          <a:xfrm>
            <a:off x="640080" y="1645920"/>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Completion inside qf (and fifteen other parameters known to hold field names) offers the schema's declared fields, dynamic patterns included.</a:t>
            </a:r>
            <a:endParaRPr lang="en-US" sz="1050" dirty="0"/>
          </a:p>
        </p:txBody>
      </p:sp>
      <p:sp>
        <p:nvSpPr>
          <p:cNvPr id="5" name="Text 3"/>
          <p:cNvSpPr/>
          <p:nvPr/>
        </p:nvSpPr>
        <p:spPr>
          <a:xfrm>
            <a:off x="640080" y="2647188"/>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reader misspells a field name inside qf and finds out only when relevance quietly degrades — the precise inverse of the unknown-field inspection.</a:t>
            </a:r>
            <a:endParaRPr lang="en-US" sz="1050" dirty="0"/>
          </a:p>
        </p:txBody>
      </p:sp>
      <p:sp>
        <p:nvSpPr>
          <p:cNvPr id="6" name="Text 4"/>
          <p:cNvSpPr/>
          <p:nvPr/>
        </p:nvSpPr>
        <p:spPr>
          <a:xfrm>
            <a:off x="640080" y="3854196"/>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same parsed field model schema completion reads (feature 5), scoped to exactly the parameters proven to hold field names.</a:t>
            </a:r>
            <a:endParaRPr lang="en-US" sz="1050" dirty="0"/>
          </a:p>
        </p:txBody>
      </p:sp>
      <p:sp>
        <p:nvSpPr>
          <p:cNvPr id="7" name="Text 5"/>
          <p:cNvSpPr/>
          <p:nvPr/>
        </p:nvSpPr>
        <p:spPr>
          <a:xfrm>
            <a:off x="640080" y="4855464"/>
            <a:ext cx="4114800" cy="79552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SolrParameterFieldCompletionProvider, reading SolrConfigParameters' known-parameter list.</a:t>
            </a:r>
            <a:endParaRPr lang="en-US" sz="1050" dirty="0"/>
          </a:p>
        </p:txBody>
      </p:sp>
      <p:sp>
        <p:nvSpPr>
          <p:cNvPr id="8" name="Shape 6"/>
          <p:cNvSpPr/>
          <p:nvPr/>
        </p:nvSpPr>
        <p:spPr>
          <a:xfrm>
            <a:off x="4892040" y="2009901"/>
            <a:ext cx="6888175" cy="2838198"/>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13-completion-parameter-fields.png">    </p:cNvPr>
          <p:cNvPicPr>
            <a:picLocks noChangeAspect="1"/>
          </p:cNvPicPr>
          <p:nvPr/>
        </p:nvPicPr>
        <p:blipFill>
          <a:blip r:embed="rId1"/>
          <a:stretch>
            <a:fillRect/>
          </a:stretch>
        </p:blipFill>
        <p:spPr>
          <a:xfrm>
            <a:off x="5029200" y="2147061"/>
            <a:ext cx="6613855" cy="2563878"/>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solrconfig.xml:28, caret after category inside &lt;str name="qf"&gt;, space, Ctrl+Space.</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configset/solrconfig/completion/SolrParameterFieldCompletionProvider.kt; configset/solrconfig/SolrConfigParameters.kt; docs/screenshots.md entry 13</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12 OF 18 · REFERENCES &amp; NAVIGATION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A qf parameter's field names are clickable, straight into their schema declaration</a:t>
            </a:r>
            <a:endParaRPr lang="en-US" sz="2300" dirty="0"/>
          </a:p>
        </p:txBody>
      </p:sp>
      <p:sp>
        <p:nvSpPr>
          <p:cNvPr id="4" name="Text 2"/>
          <p:cNvSpPr/>
          <p:nvPr/>
        </p:nvSpPr>
        <p:spPr>
          <a:xfrm>
            <a:off x="640080" y="1645920"/>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Ctrl-click or hover on any name inside qf jumps to that field's &lt;field&gt; declaration in the schema.</a:t>
            </a:r>
            <a:endParaRPr lang="en-US" sz="1050" dirty="0"/>
          </a:p>
        </p:txBody>
      </p:sp>
      <p:sp>
        <p:nvSpPr>
          <p:cNvPr id="5" name="Text 3"/>
          <p:cNvSpPr/>
          <p:nvPr/>
        </p:nvSpPr>
        <p:spPr>
          <a:xfrm>
            <a:off x="640080" y="2647188"/>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reader greps the schema by hand for a field name typed in a completely different file, with no compiler and no IDE to catch a typo before it costs a relevance regression.</a:t>
            </a:r>
            <a:endParaRPr lang="en-US" sz="1050" dirty="0"/>
          </a:p>
        </p:txBody>
      </p:sp>
      <p:sp>
        <p:nvSpPr>
          <p:cNvPr id="6" name="Text 4"/>
          <p:cNvSpPr/>
          <p:nvPr/>
        </p:nvSpPr>
        <p:spPr>
          <a:xfrm>
            <a:off x="640080" y="3854196"/>
            <a:ext cx="4114800" cy="79552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No new data — a reference resolved over the model both files already share.</a:t>
            </a:r>
            <a:endParaRPr lang="en-US" sz="1050" dirty="0"/>
          </a:p>
        </p:txBody>
      </p:sp>
      <p:sp>
        <p:nvSpPr>
          <p:cNvPr id="7" name="Text 5"/>
          <p:cNvSpPr/>
          <p:nvPr/>
        </p:nvSpPr>
        <p:spPr>
          <a:xfrm>
            <a:off x="640080" y="4649724"/>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psi.referenceContributor — SolrConfigReferenceContributor. One implementation buys Ctrl-click, Find Usages and rename together.</a:t>
            </a:r>
            <a:endParaRPr lang="en-US" sz="1050" dirty="0"/>
          </a:p>
        </p:txBody>
      </p:sp>
      <p:sp>
        <p:nvSpPr>
          <p:cNvPr id="8" name="Shape 6"/>
          <p:cNvSpPr/>
          <p:nvPr/>
        </p:nvSpPr>
        <p:spPr>
          <a:xfrm>
            <a:off x="4892040" y="2789896"/>
            <a:ext cx="6888175" cy="1278209"/>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08-nav-solrconfig-field-reference.png">    </p:cNvPr>
          <p:cNvPicPr>
            <a:picLocks noChangeAspect="1"/>
          </p:cNvPicPr>
          <p:nvPr/>
        </p:nvPicPr>
        <p:blipFill>
          <a:blip r:embed="rId1"/>
          <a:stretch>
            <a:fillRect/>
          </a:stretch>
        </p:blipFill>
        <p:spPr>
          <a:xfrm>
            <a:off x="5029200" y="2927056"/>
            <a:ext cx="6613855" cy="1003889"/>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solrconfig.xml:28, &lt;str name="qf"&gt;name^3 description category&lt;/str&gt;, hover on name.</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configset/solrconfig/reference/SolrConfigReferenceContributor.kt; docs/glossary.md “reference”; docs/screenshots.md entry 8</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13 OF 18 · REFERENCES &amp; NAVIGATION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A filter's resource path opens the actual file it names</a:t>
            </a:r>
            <a:endParaRPr lang="en-US" sz="2300" dirty="0"/>
          </a:p>
        </p:txBody>
      </p:sp>
      <p:sp>
        <p:nvSpPr>
          <p:cNvPr id="4" name="Text 2"/>
          <p:cNvSpPr/>
          <p:nvPr/>
        </p:nvSpPr>
        <p:spPr>
          <a:xfrm>
            <a:off x="640080" y="1645920"/>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Quick Definition on words="stopwords.txt" opens that file's real contents, resolved through lang/ where needed.</a:t>
            </a:r>
            <a:endParaRPr lang="en-US" sz="1050" dirty="0"/>
          </a:p>
        </p:txBody>
      </p:sp>
      <p:sp>
        <p:nvSpPr>
          <p:cNvPr id="5" name="Text 3"/>
          <p:cNvSpPr/>
          <p:nvPr/>
        </p:nvSpPr>
        <p:spPr>
          <a:xfrm>
            <a:off x="640080" y="2647188"/>
            <a:ext cx="4114800" cy="79552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reader hunts for the file by eye in the project tree, guessing at subdirectories.</a:t>
            </a:r>
            <a:endParaRPr lang="en-US" sz="1050" dirty="0"/>
          </a:p>
        </p:txBody>
      </p:sp>
      <p:sp>
        <p:nvSpPr>
          <p:cNvPr id="6" name="Text 4"/>
          <p:cNvSpPr/>
          <p:nvPr/>
        </p:nvSpPr>
        <p:spPr>
          <a:xfrm>
            <a:off x="640080" y="3442716"/>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No new data — the same reference mechanism resolving to a filesystem resource instead of a PSI declaration.</a:t>
            </a:r>
            <a:endParaRPr lang="en-US" sz="1050" dirty="0"/>
          </a:p>
        </p:txBody>
      </p:sp>
      <p:sp>
        <p:nvSpPr>
          <p:cNvPr id="7" name="Text 5"/>
          <p:cNvSpPr/>
          <p:nvPr/>
        </p:nvSpPr>
        <p:spPr>
          <a:xfrm>
            <a:off x="640080" y="4443984"/>
            <a:ext cx="4114800" cy="79552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SolrSchemaReferenceContributor's resource-attribute handling.</a:t>
            </a:r>
            <a:endParaRPr lang="en-US" sz="1050" dirty="0"/>
          </a:p>
        </p:txBody>
      </p:sp>
      <p:sp>
        <p:nvSpPr>
          <p:cNvPr id="8" name="Shape 6"/>
          <p:cNvSpPr/>
          <p:nvPr/>
        </p:nvSpPr>
        <p:spPr>
          <a:xfrm>
            <a:off x="4892040" y="2451096"/>
            <a:ext cx="6888175" cy="1955809"/>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09-nav-resource-file.png">    </p:cNvPr>
          <p:cNvPicPr>
            <a:picLocks noChangeAspect="1"/>
          </p:cNvPicPr>
          <p:nvPr/>
        </p:nvPicPr>
        <p:blipFill>
          <a:blip r:embed="rId1"/>
          <a:stretch>
            <a:fillRect/>
          </a:stretch>
        </p:blipFill>
        <p:spPr>
          <a:xfrm>
            <a:off x="5029200" y="2588256"/>
            <a:ext cx="6613855" cy="1681489"/>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managed-schema.xml:34, caret on the resource path, Quick Definition.</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configset/schema/reference/SolrSchemaReferenceContributor.kt; docs/screenshots.md entry 9</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14 OF 18 · REFERENCES &amp; NAVIGATION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Every reference to a type, found starting from the declaration itself</a:t>
            </a:r>
            <a:endParaRPr lang="en-US" sz="2300" dirty="0"/>
          </a:p>
        </p:txBody>
      </p:sp>
      <p:sp>
        <p:nvSpPr>
          <p:cNvPr id="4" name="Text 2"/>
          <p:cNvSpPr/>
          <p:nvPr/>
        </p:nvSpPr>
        <p:spPr>
          <a:xfrm>
            <a:off x="640080" y="1645920"/>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Alt-F7 on a &lt;fieldType&gt; declaration lists every field that uses it, across every file in the configset.</a:t>
            </a:r>
            <a:endParaRPr lang="en-US" sz="1050" dirty="0"/>
          </a:p>
        </p:txBody>
      </p:sp>
      <p:sp>
        <p:nvSpPr>
          <p:cNvPr id="5" name="Text 3"/>
          <p:cNvSpPr/>
          <p:nvPr/>
        </p:nvSpPr>
        <p:spPr>
          <a:xfrm>
            <a:off x="640080" y="2647188"/>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reader greps the whole configset by hand to know what depends on a type before changing it, and misses whatever a dynamic field pattern quietly supplies.</a:t>
            </a:r>
            <a:endParaRPr lang="en-US" sz="1050" dirty="0"/>
          </a:p>
        </p:txBody>
      </p:sp>
      <p:sp>
        <p:nvSpPr>
          <p:cNvPr id="6" name="Text 4"/>
          <p:cNvSpPr/>
          <p:nvPr/>
        </p:nvSpPr>
        <p:spPr>
          <a:xfrm>
            <a:off x="640080" y="3854196"/>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No new data — the reference graph already built for navigation, traversed backward from a declaration rather than forward from a use site.</a:t>
            </a:r>
            <a:endParaRPr lang="en-US" sz="1050" dirty="0"/>
          </a:p>
        </p:txBody>
      </p:sp>
      <p:sp>
        <p:nvSpPr>
          <p:cNvPr id="7" name="Text 5"/>
          <p:cNvSpPr/>
          <p:nvPr/>
        </p:nvSpPr>
        <p:spPr>
          <a:xfrm>
            <a:off x="640080" y="4855464"/>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pom.declarationSearcher — SolrDeclarationSearcher, needed because a caret on a bare declaration is not naturally something the platform can search for.</a:t>
            </a:r>
            <a:endParaRPr lang="en-US" sz="1050" dirty="0"/>
          </a:p>
        </p:txBody>
      </p:sp>
      <p:sp>
        <p:nvSpPr>
          <p:cNvPr id="8" name="Shape 6"/>
          <p:cNvSpPr/>
          <p:nvPr/>
        </p:nvSpPr>
        <p:spPr>
          <a:xfrm>
            <a:off x="4892040" y="2596107"/>
            <a:ext cx="6888175" cy="1665787"/>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07-find-usages-field-type.png">    </p:cNvPr>
          <p:cNvPicPr>
            <a:picLocks noChangeAspect="1"/>
          </p:cNvPicPr>
          <p:nvPr/>
        </p:nvPicPr>
        <p:blipFill>
          <a:blip r:embed="rId1"/>
          <a:stretch>
            <a:fillRect/>
          </a:stretch>
        </p:blipFill>
        <p:spPr>
          <a:xfrm>
            <a:off x="5029200" y="2733267"/>
            <a:ext cx="6613855" cy="1391467"/>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Caret in the &lt;fieldType name="text_general"&gt; declaration at managed-schema.xml:31, ⌥F7.</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configset/navigation/SolrDeclarationSearcher.kt; docs/glossary.md “Find Usages”; docs/screenshots.md entry 7</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15 OF 18 · REFERENCES &amp; NAVIGATION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200" b="1" dirty="0">
                <a:solidFill>
                  <a:srgbClr val="1B2340"/>
                </a:solidFill>
                <a:latin typeface="Cambria" pitchFamily="34" charset="0"/>
                <a:ea typeface="Cambria" pitchFamily="34" charset="-122"/>
                <a:cs typeface="Cambria" pitchFamily="34" charset="-120"/>
              </a:rPr>
              <a:t>Renaming a field updates every file that mentions it — one operation, one Undo</a:t>
            </a:r>
            <a:endParaRPr lang="en-US" sz="2200" dirty="0"/>
          </a:p>
        </p:txBody>
      </p:sp>
      <p:sp>
        <p:nvSpPr>
          <p:cNvPr id="4" name="Text 2"/>
          <p:cNvSpPr/>
          <p:nvPr/>
        </p:nvSpPr>
        <p:spPr>
          <a:xfrm>
            <a:off x="640080" y="1645920"/>
            <a:ext cx="4114800" cy="960120"/>
          </a:xfrm>
          <a:prstGeom prst="rect">
            <a:avLst/>
          </a:prstGeom>
          <a:noFill/>
          <a:ln/>
        </p:spPr>
        <p:txBody>
          <a:bodyPr wrap="square" rtlCol="0" anchor="t"/>
          <a:lstStyle/>
          <a:p>
            <a:pPr indent="0" marL="0">
              <a:lnSpc>
                <a:spcPct val="108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08000"/>
              </a:lnSpc>
              <a:buNone/>
            </a:pPr>
            <a:r>
              <a:rPr lang="en-US" sz="1250" dirty="0">
                <a:solidFill>
                  <a:srgbClr val="1B2340"/>
                </a:solidFill>
                <a:latin typeface="Calibri" pitchFamily="34" charset="0"/>
                <a:ea typeface="Calibri" pitchFamily="34" charset="-122"/>
                <a:cs typeface="Calibri" pitchFamily="34" charset="-120"/>
              </a:rPr>
              <a:t>Shift+F6 on a field updates its schema declaration and the qf line in solrconfig.xml together, no separate edit.</a:t>
            </a:r>
            <a:endParaRPr lang="en-US" sz="1050" dirty="0"/>
          </a:p>
        </p:txBody>
      </p:sp>
      <p:sp>
        <p:nvSpPr>
          <p:cNvPr id="5" name="Text 3"/>
          <p:cNvSpPr/>
          <p:nvPr/>
        </p:nvSpPr>
        <p:spPr>
          <a:xfrm>
            <a:off x="640080" y="2606040"/>
            <a:ext cx="4114800" cy="1152144"/>
          </a:xfrm>
          <a:prstGeom prst="rect">
            <a:avLst/>
          </a:prstGeom>
          <a:noFill/>
          <a:ln/>
        </p:spPr>
        <p:txBody>
          <a:bodyPr wrap="square" rtlCol="0" anchor="t"/>
          <a:lstStyle/>
          <a:p>
            <a:pPr indent="0" marL="0">
              <a:lnSpc>
                <a:spcPct val="108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08000"/>
              </a:lnSpc>
              <a:buNone/>
            </a:pPr>
            <a:r>
              <a:rPr lang="en-US" sz="1250" dirty="0">
                <a:solidFill>
                  <a:srgbClr val="1B2340"/>
                </a:solidFill>
                <a:latin typeface="Calibri" pitchFamily="34" charset="0"/>
                <a:ea typeface="Calibri" pitchFamily="34" charset="-122"/>
                <a:cs typeface="Calibri" pitchFamily="34" charset="-120"/>
              </a:rPr>
              <a:t>A reader renames by hand, greps for the old spelling, and hopes every mention was found — the exact silent-breakage shape this plugin exists to prevent.</a:t>
            </a:r>
            <a:endParaRPr lang="en-US" sz="1050" dirty="0"/>
          </a:p>
        </p:txBody>
      </p:sp>
      <p:sp>
        <p:nvSpPr>
          <p:cNvPr id="6" name="Text 4"/>
          <p:cNvSpPr/>
          <p:nvPr/>
        </p:nvSpPr>
        <p:spPr>
          <a:xfrm>
            <a:off x="640080" y="3758184"/>
            <a:ext cx="4114800" cy="768096"/>
          </a:xfrm>
          <a:prstGeom prst="rect">
            <a:avLst/>
          </a:prstGeom>
          <a:noFill/>
          <a:ln/>
        </p:spPr>
        <p:txBody>
          <a:bodyPr wrap="square" rtlCol="0" anchor="t"/>
          <a:lstStyle/>
          <a:p>
            <a:pPr indent="0" marL="0">
              <a:lnSpc>
                <a:spcPct val="108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08000"/>
              </a:lnSpc>
              <a:buNone/>
            </a:pPr>
            <a:r>
              <a:rPr lang="en-US" sz="1250" dirty="0">
                <a:solidFill>
                  <a:srgbClr val="1B2340"/>
                </a:solidFill>
                <a:latin typeface="Calibri" pitchFamily="34" charset="0"/>
                <a:ea typeface="Calibri" pitchFamily="34" charset="-122"/>
                <a:cs typeface="Calibri" pitchFamily="34" charset="-120"/>
              </a:rPr>
              <a:t>No new data — built on the same reference graph as Find Usages.</a:t>
            </a:r>
            <a:endParaRPr lang="en-US" sz="1050" dirty="0"/>
          </a:p>
        </p:txBody>
      </p:sp>
      <p:sp>
        <p:nvSpPr>
          <p:cNvPr id="7" name="Text 5"/>
          <p:cNvSpPr/>
          <p:nvPr/>
        </p:nvSpPr>
        <p:spPr>
          <a:xfrm>
            <a:off x="640080" y="4526280"/>
            <a:ext cx="4114800" cy="1152144"/>
          </a:xfrm>
          <a:prstGeom prst="rect">
            <a:avLst/>
          </a:prstGeom>
          <a:noFill/>
          <a:ln/>
        </p:spPr>
        <p:txBody>
          <a:bodyPr wrap="square" rtlCol="0" anchor="t"/>
          <a:lstStyle/>
          <a:p>
            <a:pPr indent="0" marL="0">
              <a:lnSpc>
                <a:spcPct val="108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08000"/>
              </a:lnSpc>
              <a:buNone/>
            </a:pPr>
            <a:r>
              <a:rPr lang="en-US" sz="1250" dirty="0">
                <a:solidFill>
                  <a:srgbClr val="1B2340"/>
                </a:solidFill>
                <a:latin typeface="Calibri" pitchFamily="34" charset="0"/>
                <a:ea typeface="Calibri" pitchFamily="34" charset="-122"/>
                <a:cs typeface="Calibri" pitchFamily="34" charset="-120"/>
              </a:rPr>
              <a:t>The platform's rename refactoring, built on SolrDeclarationSearcher's target. Lives in configset.navigation, not configset.schema, because it must reach across the file boundary.</a:t>
            </a:r>
            <a:endParaRPr lang="en-US" sz="1050" dirty="0"/>
          </a:p>
        </p:txBody>
      </p:sp>
      <p:sp>
        <p:nvSpPr>
          <p:cNvPr id="8" name="Text 6"/>
          <p:cNvSpPr/>
          <p:nvPr/>
        </p:nvSpPr>
        <p:spPr>
          <a:xfrm>
            <a:off x="5029200" y="1691640"/>
            <a:ext cx="6613855" cy="274320"/>
          </a:xfrm>
          <a:prstGeom prst="rect">
            <a:avLst/>
          </a:prstGeom>
          <a:noFill/>
          <a:ln/>
        </p:spPr>
        <p:txBody>
          <a:bodyPr wrap="square" rtlCol="0" anchor="ctr"/>
          <a:lstStyle/>
          <a:p>
            <a:pPr indent="0" marL="0">
              <a:buNone/>
            </a:pPr>
            <a:r>
              <a:rPr lang="en-US" sz="1050" b="1" dirty="0">
                <a:solidFill>
                  <a:srgbClr val="D9531E"/>
                </a:solidFill>
                <a:latin typeface="Calibri" pitchFamily="34" charset="0"/>
                <a:ea typeface="Calibri" pitchFamily="34" charset="-122"/>
                <a:cs typeface="Calibri" pitchFamily="34" charset="-120"/>
              </a:rPr>
              <a:t>BEFORE — solrconfig.xml:28, category still spelled out</a:t>
            </a:r>
            <a:endParaRPr lang="en-US" sz="1050" dirty="0"/>
          </a:p>
        </p:txBody>
      </p:sp>
      <p:sp>
        <p:nvSpPr>
          <p:cNvPr id="9" name="Shape 7"/>
          <p:cNvSpPr/>
          <p:nvPr/>
        </p:nvSpPr>
        <p:spPr>
          <a:xfrm>
            <a:off x="4919472" y="2227596"/>
            <a:ext cx="6833311" cy="930623"/>
          </a:xfrm>
          <a:prstGeom prst="rect">
            <a:avLst/>
          </a:prstGeom>
          <a:solidFill>
            <a:srgbClr val="FFFFFF"/>
          </a:solidFill>
          <a:ln w="12700">
            <a:solidFill>
              <a:srgbClr val="E2E5F0"/>
            </a:solidFill>
            <a:prstDash val="solid"/>
          </a:ln>
          <a:effectLst>
            <a:outerShdw sx="100000" sy="100000" kx="0" ky="0" algn="bl" rotWithShape="0" blurRad="101600" dist="25400" dir="5400000">
              <a:srgbClr val="1B2340">
                <a:alpha val="15000"/>
              </a:srgbClr>
            </a:outerShdw>
          </a:effectLst>
        </p:spPr>
      </p:sp>
      <p:pic>
        <p:nvPicPr>
          <p:cNvPr id="10" name="Image 0" descr="/Users/adityaparikh/IdeaProjects/solr-intellij-plugin/docs/images/14-rename-cross-file-before.png">    </p:cNvPr>
          <p:cNvPicPr>
            <a:picLocks noChangeAspect="1"/>
          </p:cNvPicPr>
          <p:nvPr/>
        </p:nvPicPr>
        <p:blipFill>
          <a:blip r:embed="rId1"/>
          <a:stretch>
            <a:fillRect/>
          </a:stretch>
        </p:blipFill>
        <p:spPr>
          <a:xfrm>
            <a:off x="5029200" y="2337324"/>
            <a:ext cx="6613855" cy="711167"/>
          </a:xfrm>
          <a:prstGeom prst="rect">
            <a:avLst/>
          </a:prstGeom>
        </p:spPr>
      </p:pic>
      <p:sp>
        <p:nvSpPr>
          <p:cNvPr id="11" name="Text 8"/>
          <p:cNvSpPr/>
          <p:nvPr/>
        </p:nvSpPr>
        <p:spPr>
          <a:xfrm>
            <a:off x="5029200" y="3703320"/>
            <a:ext cx="6613855" cy="274320"/>
          </a:xfrm>
          <a:prstGeom prst="rect">
            <a:avLst/>
          </a:prstGeom>
          <a:noFill/>
          <a:ln/>
        </p:spPr>
        <p:txBody>
          <a:bodyPr wrap="square" rtlCol="0" anchor="ctr"/>
          <a:lstStyle/>
          <a:p>
            <a:pPr indent="0" marL="0">
              <a:buNone/>
            </a:pPr>
            <a:r>
              <a:rPr lang="en-US" sz="1050" b="1" dirty="0">
                <a:solidFill>
                  <a:srgbClr val="D9531E"/>
                </a:solidFill>
                <a:latin typeface="Calibri" pitchFamily="34" charset="0"/>
                <a:ea typeface="Calibri" pitchFamily="34" charset="-122"/>
                <a:cs typeface="Calibri" pitchFamily="34" charset="-120"/>
              </a:rPr>
              <a:t>AFTER — Shift+F6 on the declaration renamed it here too</a:t>
            </a:r>
            <a:endParaRPr lang="en-US" sz="1050" dirty="0"/>
          </a:p>
        </p:txBody>
      </p:sp>
      <p:sp>
        <p:nvSpPr>
          <p:cNvPr id="12" name="Shape 9"/>
          <p:cNvSpPr/>
          <p:nvPr/>
        </p:nvSpPr>
        <p:spPr>
          <a:xfrm>
            <a:off x="4919472" y="4399982"/>
            <a:ext cx="6833311" cy="609212"/>
          </a:xfrm>
          <a:prstGeom prst="rect">
            <a:avLst/>
          </a:prstGeom>
          <a:solidFill>
            <a:srgbClr val="FFFFFF"/>
          </a:solidFill>
          <a:ln w="12700">
            <a:solidFill>
              <a:srgbClr val="E2E5F0"/>
            </a:solidFill>
            <a:prstDash val="solid"/>
          </a:ln>
          <a:effectLst>
            <a:outerShdw sx="100000" sy="100000" kx="0" ky="0" algn="bl" rotWithShape="0" blurRad="101600" dist="25400" dir="5400000">
              <a:srgbClr val="1B2340">
                <a:alpha val="15000"/>
              </a:srgbClr>
            </a:outerShdw>
          </a:effectLst>
        </p:spPr>
      </p:sp>
      <p:pic>
        <p:nvPicPr>
          <p:cNvPr id="13" name="Image 1" descr="/Users/adityaparikh/IdeaProjects/solr-intellij-plugin/docs/images/14-rename-cross-file-after.png">    </p:cNvPr>
          <p:cNvPicPr>
            <a:picLocks noChangeAspect="1"/>
          </p:cNvPicPr>
          <p:nvPr/>
        </p:nvPicPr>
        <p:blipFill>
          <a:blip r:embed="rId2"/>
          <a:stretch>
            <a:fillRect/>
          </a:stretch>
        </p:blipFill>
        <p:spPr>
          <a:xfrm>
            <a:off x="5029200" y="4509710"/>
            <a:ext cx="6613855" cy="389756"/>
          </a:xfrm>
          <a:prstGeom prst="rect">
            <a:avLst/>
          </a:prstGeom>
        </p:spPr>
      </p:pic>
      <p:sp>
        <p:nvSpPr>
          <p:cNvPr id="14" name="Text 10"/>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managed-schema.xml:70, category renamed to product_category via Shift+F6; solrconfig.xml:28 updates with no separate action. A single Cmd+Z reverted both files as one refactoring.</a:t>
            </a:r>
            <a:endParaRPr lang="en-US" sz="900" dirty="0"/>
          </a:p>
        </p:txBody>
      </p:sp>
      <p:sp>
        <p:nvSpPr>
          <p:cNvPr id="16" name="Text 11"/>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16 OF 18 · ANNOTATOR + INTENTION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A written value that changes nothing gets dimmed, not underlined</a:t>
            </a:r>
            <a:endParaRPr lang="en-US" sz="2300" dirty="0"/>
          </a:p>
        </p:txBody>
      </p:sp>
      <p:sp>
        <p:nvSpPr>
          <p:cNvPr id="4" name="Text 2"/>
          <p:cNvSpPr/>
          <p:nvPr/>
        </p:nvSpPr>
        <p:spPr>
          <a:xfrm>
            <a:off x="640080" y="1645920"/>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indexed="true" and stored="true" render fully grey — name and value both — when they only restate what Solr would supply anyway.</a:t>
            </a:r>
            <a:endParaRPr lang="en-US" sz="1050" dirty="0"/>
          </a:p>
        </p:txBody>
      </p:sp>
      <p:sp>
        <p:nvSpPr>
          <p:cNvPr id="5" name="Text 3"/>
          <p:cNvSpPr/>
          <p:nvPr/>
        </p:nvSpPr>
        <p:spPr>
          <a:xfrm>
            <a:off x="640080" y="2647188"/>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reader cannot tell load-bearing attributes from decorative ones without hovering each one in turn.</a:t>
            </a:r>
            <a:endParaRPr lang="en-US" sz="1050" dirty="0"/>
          </a:p>
        </p:txBody>
      </p:sp>
      <p:sp>
        <p:nvSpPr>
          <p:cNvPr id="6" name="Text 4"/>
          <p:cNvSpPr/>
          <p:nvPr/>
        </p:nvSpPr>
        <p:spPr>
          <a:xfrm>
            <a:off x="640080" y="3648456"/>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same property table quick documentation reads, comparing the written value to the resolved default.</a:t>
            </a:r>
            <a:endParaRPr lang="en-US" sz="1050" dirty="0"/>
          </a:p>
        </p:txBody>
      </p:sp>
      <p:sp>
        <p:nvSpPr>
          <p:cNvPr id="7" name="Text 5"/>
          <p:cNvSpPr/>
          <p:nvPr/>
        </p:nvSpPr>
        <p:spPr>
          <a:xfrm>
            <a:off x="640080" y="4649724"/>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annotator, not inspection — a restated default is correct Solr. SolrRestatedDefaultAnnotator, paired with a removal intention.</a:t>
            </a:r>
            <a:endParaRPr lang="en-US" sz="1050" dirty="0"/>
          </a:p>
        </p:txBody>
      </p:sp>
      <p:sp>
        <p:nvSpPr>
          <p:cNvPr id="8" name="Shape 6"/>
          <p:cNvSpPr/>
          <p:nvPr/>
        </p:nvSpPr>
        <p:spPr>
          <a:xfrm>
            <a:off x="4892040" y="2506080"/>
            <a:ext cx="6888175" cy="1845840"/>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11-dimmed-restated-default.png">    </p:cNvPr>
          <p:cNvPicPr>
            <a:picLocks noChangeAspect="1"/>
          </p:cNvPicPr>
          <p:nvPr/>
        </p:nvPicPr>
        <p:blipFill>
          <a:blip r:embed="rId1"/>
          <a:stretch>
            <a:fillRect/>
          </a:stretch>
        </p:blipFill>
        <p:spPr>
          <a:xfrm>
            <a:off x="5029200" y="2643240"/>
            <a:ext cx="6613855" cy="1571520"/>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managed-schema.xml:66-73, untouched — the dim renders itself, no interaction.</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configset/schema/annotator/SolrRestatedDefaultAnnotator.kt; configset/schema/intention/SolrRemoveRestatedAttributeIntention.kt; docs/glossary.md “annotator”; docs/screenshots.md entry 11</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17 OF 18 · INTENTIONS</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Alt-Enter offers to add the exact-match or prefix field a tokenised field lacks</a:t>
            </a:r>
            <a:endParaRPr lang="en-US" sz="2300" dirty="0"/>
          </a:p>
        </p:txBody>
      </p:sp>
      <p:sp>
        <p:nvSpPr>
          <p:cNvPr id="4" name="Text 2"/>
          <p:cNvSpPr/>
          <p:nvPr/>
        </p:nvSpPr>
        <p:spPr>
          <a:xfrm>
            <a:off x="640080" y="1645920"/>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Alt-Enter on a tokenised field offers to generate a StrField-backed *_exact or EdgeNGram-backed *_prefix companion field, plus its copyField.</a:t>
            </a:r>
            <a:endParaRPr lang="en-US" sz="1050" dirty="0"/>
          </a:p>
        </p:txBody>
      </p:sp>
      <p:sp>
        <p:nvSpPr>
          <p:cNvPr id="5" name="Text 3"/>
          <p:cNvSpPr/>
          <p:nvPr/>
        </p:nvSpPr>
        <p:spPr>
          <a:xfrm>
            <a:off x="640080" y="2647188"/>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reader hand-writes the companion field, its field type, and the copyField rule — three coordinated edits done from memory instead of one gesture.</a:t>
            </a:r>
            <a:endParaRPr lang="en-US" sz="1050" dirty="0"/>
          </a:p>
        </p:txBody>
      </p:sp>
      <p:sp>
        <p:nvSpPr>
          <p:cNvPr id="6" name="Text 4"/>
          <p:cNvSpPr/>
          <p:nvPr/>
        </p:nvSpPr>
        <p:spPr>
          <a:xfrm>
            <a:off x="640080" y="3854196"/>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model's own match-capability analysis — the same one behind the inlay hint on slide 1 — decides what capability is missing.</a:t>
            </a:r>
            <a:endParaRPr lang="en-US" sz="1050" dirty="0"/>
          </a:p>
        </p:txBody>
      </p:sp>
      <p:sp>
        <p:nvSpPr>
          <p:cNvPr id="7" name="Text 5"/>
          <p:cNvSpPr/>
          <p:nvPr/>
        </p:nvSpPr>
        <p:spPr>
          <a:xfrm>
            <a:off x="640080" y="4855464"/>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intentionAction — SolrAddExactCompanionIntention / SolrAddPrefixCompanionIntention. An intention, not a quick-fix: the field being incomplete is not wrong.</a:t>
            </a:r>
            <a:endParaRPr lang="en-US" sz="1050" dirty="0"/>
          </a:p>
        </p:txBody>
      </p:sp>
      <p:sp>
        <p:nvSpPr>
          <p:cNvPr id="8" name="Shape 6"/>
          <p:cNvSpPr/>
          <p:nvPr/>
        </p:nvSpPr>
        <p:spPr>
          <a:xfrm>
            <a:off x="4892040" y="2647413"/>
            <a:ext cx="6888175" cy="1563174"/>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Users/adityaparikh/IdeaProjects/solr-intellij-plugin/docs/images/12-intention-companion-fields.png">    </p:cNvPr>
          <p:cNvPicPr>
            <a:picLocks noChangeAspect="1"/>
          </p:cNvPicPr>
          <p:nvPr/>
        </p:nvPicPr>
        <p:blipFill>
          <a:blip r:embed="rId1"/>
          <a:stretch>
            <a:fillRect/>
          </a:stretch>
        </p:blipFill>
        <p:spPr>
          <a:xfrm>
            <a:off x="5029200" y="2784573"/>
            <a:ext cx="6613855" cy="1288854"/>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Alt-Enter on description (a tokenised text_general field) at managed-schema.xml:71.</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configset/schema/intention/SolrAddExactCompanionIntention.kt, SolrAddPrefixCompanionIntention.kt; docs/screenshots.md entry 12</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18 OF 18 · INSPECTIONS</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Eleven inspections, and the one rule that keeps every one of them honest</a:t>
            </a:r>
            <a:endParaRPr lang="en-US" sz="2300" dirty="0"/>
          </a:p>
        </p:txBody>
      </p:sp>
      <p:sp>
        <p:nvSpPr>
          <p:cNvPr id="4" name="Text 2"/>
          <p:cNvSpPr/>
          <p:nvPr/>
        </p:nvSpPr>
        <p:spPr>
          <a:xfrm>
            <a:off x="640080" y="1645920"/>
            <a:ext cx="4114800" cy="100126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dangling copyField drawn as an error — a red wave under manufacturer — with Alt-Enter quick-fixes ranked by edit distance to the typo.</a:t>
            </a:r>
            <a:endParaRPr lang="en-US" sz="1050" dirty="0"/>
          </a:p>
        </p:txBody>
      </p:sp>
      <p:sp>
        <p:nvSpPr>
          <p:cNvPr id="5" name="Text 3"/>
          <p:cNvSpPr/>
          <p:nvPr/>
        </p:nvSpPr>
        <p:spPr>
          <a:xfrm>
            <a:off x="640080" y="2647188"/>
            <a:ext cx="4114800" cy="120700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reader finds a dangling copyField only when the core fails to reload — in Solr's error language, in production, not in the editor a moment after typing it.</a:t>
            </a:r>
            <a:endParaRPr lang="en-US" sz="1050" dirty="0"/>
          </a:p>
        </p:txBody>
      </p:sp>
      <p:sp>
        <p:nvSpPr>
          <p:cNvPr id="6" name="Text 4"/>
          <p:cNvSpPr/>
          <p:nvPr/>
        </p:nvSpPr>
        <p:spPr>
          <a:xfrm>
            <a:off x="640080" y="3854196"/>
            <a:ext cx="4114800" cy="795528"/>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parsed configset model. Never a running server, never an index.</a:t>
            </a:r>
            <a:endParaRPr lang="en-US" sz="1050" dirty="0"/>
          </a:p>
        </p:txBody>
      </p:sp>
      <p:sp>
        <p:nvSpPr>
          <p:cNvPr id="7" name="Text 5"/>
          <p:cNvSpPr/>
          <p:nvPr/>
        </p:nvSpPr>
        <p:spPr>
          <a:xfrm>
            <a:off x="640080" y="4649724"/>
            <a:ext cx="4114800" cy="118872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localInspection. Eleven registered: the four that name something unresolvable are errors, the rest warnings. Ten held to a zero-findings gate against Solr’s own shipped configsets.</a:t>
            </a:r>
            <a:endParaRPr lang="en-US" sz="1050" dirty="0"/>
          </a:p>
        </p:txBody>
      </p:sp>
      <p:sp>
        <p:nvSpPr>
          <p:cNvPr id="8" name="Shape 6"/>
          <p:cNvSpPr/>
          <p:nvPr/>
        </p:nvSpPr>
        <p:spPr>
          <a:xfrm>
            <a:off x="4892040" y="1926772"/>
            <a:ext cx="6885432" cy="3095895"/>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04-inspection-copyfield-quickfix.png">    </p:cNvPr>
          <p:cNvPicPr>
            <a:picLocks noChangeAspect="1"/>
          </p:cNvPicPr>
          <p:nvPr/>
        </p:nvPicPr>
        <p:blipFill>
          <a:blip r:embed="rId1"/>
          <a:stretch>
            <a:fillRect/>
          </a:stretch>
        </p:blipFill>
        <p:spPr>
          <a:xfrm>
            <a:off x="5029200" y="2063932"/>
            <a:ext cx="6611112" cy="2821575"/>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managed-schema.xml:92, caret on manufacturer, Alt-Enter.</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plugin.xml (11 configset localInspection registrations, counted directly); SolrShippedConfigsetTest.kt; docs/glossary.md “inspection”; docs/screenshots.md entry 4</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1 · RECAP</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500" b="1" dirty="0">
                <a:solidFill>
                  <a:srgbClr val="1B2340"/>
                </a:solidFill>
                <a:latin typeface="Cambria" pitchFamily="34" charset="0"/>
                <a:ea typeface="Cambria" pitchFamily="34" charset="-122"/>
                <a:cs typeface="Cambria" pitchFamily="34" charset="-120"/>
              </a:rPr>
              <a:t>Eighteen features, eighteen real screenshots</a:t>
            </a:r>
            <a:endParaRPr lang="en-US" sz="2500" dirty="0"/>
          </a:p>
        </p:txBody>
      </p:sp>
      <p:sp>
        <p:nvSpPr>
          <p:cNvPr id="4" name="Text 2"/>
          <p:cNvSpPr/>
          <p:nvPr/>
        </p:nvSpPr>
        <p:spPr>
          <a:xfrm>
            <a:off x="640080" y="1554480"/>
            <a:ext cx="10607040" cy="4617720"/>
          </a:xfrm>
          <a:prstGeom prst="rect">
            <a:avLst/>
          </a:prstGeom>
          <a:noFill/>
          <a:ln/>
        </p:spPr>
        <p:txBody>
          <a:bodyPr wrap="square" rtlCol="0" anchor="t"/>
          <a:lstStyle/>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Every feature slide traces to a real capture in docs/images/ and a real plugin.xml registration.</a:t>
            </a:r>
            <a:endParaRPr lang="en-US" sz="1550" dirty="0"/>
          </a:p>
          <a:p>
            <a:pPr marL="228600" indent="-228600">
              <a:lnSpc>
                <a:spcPct val="112000"/>
              </a:lnSpc>
              <a:spcAft>
                <a:spcPts val="1100"/>
              </a:spcAft>
              <a:buSzPct val="100000"/>
              <a:buChar char="•"/>
            </a:pPr>
            <a:r>
              <a:rPr lang="en-US" sz="1500" dirty="0">
                <a:solidFill>
                  <a:srgbClr val="1B2340"/>
                </a:solidFill>
                <a:latin typeface="Calibri" pitchFamily="34" charset="0"/>
                <a:ea typeface="Calibri" pitchFamily="34" charset="-122"/>
                <a:cs typeface="Calibri" pitchFamily="34" charset="-120"/>
              </a:rPr>
              <a:t>Match hints · quick doc (field, class, version) · schema completion · factory-attribute completion · solrconfig structure at the root and nested in &lt;query&gt;/&lt;indexConfig&gt; · parameter-name completion · field names inside parameters · solrconfig→schema navigation · resource navigation · Find Usages · rename across files · dimmed restated defaults · companion-field intentions · inspections</a:t>
            </a:r>
            <a:endParaRPr lang="en-US" sz="1550" dirty="0"/>
          </a:p>
          <a:p>
            <a:pPr indent="0" marL="0">
              <a:lnSpc>
                <a:spcPct val="112000"/>
              </a:lnSpc>
              <a:spcAft>
                <a:spcPts val="400"/>
              </a:spcAft>
              <a:buNone/>
            </a:pPr>
            <a:r>
              <a:rPr lang="en-US" sz="600" dirty="0">
                <a:solidFill>
                  <a:srgbClr val="1B2340"/>
                </a:solidFill>
                <a:latin typeface="Calibri" pitchFamily="34" charset="0"/>
                <a:ea typeface="Calibri" pitchFamily="34" charset="-122"/>
                <a:cs typeface="Calibri" pitchFamily="34" charset="-120"/>
              </a:rPr>
              <a:t> </a:t>
            </a:r>
            <a:endParaRPr lang="en-US" sz="1550" dirty="0"/>
          </a:p>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Shipped since, each with its own act: the Server track (Act 4) and the Code track (Act 5).</a:t>
            </a:r>
            <a:endParaRPr lang="en-US" sz="1550" dirty="0"/>
          </a:p>
          <a:p>
            <a:pPr marL="228600" indent="-228600">
              <a:lnSpc>
                <a:spcPct val="112000"/>
              </a:lnSpc>
              <a:spcAft>
                <a:spcPts val="1100"/>
              </a:spcAft>
              <a:buSzPct val="100000"/>
              <a:buChar char="•"/>
            </a:pPr>
            <a:r>
              <a:rPr lang="en-US" sz="1500" i="1" dirty="0">
                <a:solidFill>
                  <a:srgbClr val="1B2340"/>
                </a:solidFill>
                <a:latin typeface="Calibri" pitchFamily="34" charset="0"/>
                <a:ea typeface="Calibri" pitchFamily="34" charset="-122"/>
                <a:cs typeface="Calibri" pitchFamily="34" charset="-120"/>
              </a:rPr>
              <a:t>Almost nothing shown here reads an index or contacts a server. A configset is text, and the reference data behind most of these features was generated once, at build time, from Solr's own artifacts.</a:t>
            </a:r>
            <a:endParaRPr lang="en-US" sz="1550" dirty="0"/>
          </a:p>
        </p:txBody>
      </p:sp>
      <p:sp>
        <p:nvSpPr>
          <p:cNvPr id="5" name="Text 3"/>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docs/screenshots.md; docs/images/ (18 catalog entries, 21 files with the two annotated popups); specs/plans/0002-solr-intellij-plugin-plan.md</a:t>
            </a:r>
            <a:endParaRPr lang="en-US" sz="950" dirty="0"/>
          </a:p>
        </p:txBody>
      </p:sp>
      <p:sp>
        <p:nvSpPr>
          <p:cNvPr id="7" name="Text 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B3C"/>
        </a:solidFill>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1F2A56"/>
          </a:solidFill>
          <a:ln/>
        </p:spPr>
      </p:sp>
      <p:sp>
        <p:nvSpPr>
          <p:cNvPr id="3" name="Text 1"/>
          <p:cNvSpPr/>
          <p:nvPr/>
        </p:nvSpPr>
        <p:spPr>
          <a:xfrm>
            <a:off x="411480" y="502920"/>
            <a:ext cx="2651760" cy="1463040"/>
          </a:xfrm>
          <a:prstGeom prst="rect">
            <a:avLst/>
          </a:prstGeom>
          <a:noFill/>
          <a:ln/>
        </p:spPr>
        <p:txBody>
          <a:bodyPr wrap="square" rtlCol="0" anchor="ctr"/>
          <a:lstStyle/>
          <a:p>
            <a:pPr indent="0" marL="0">
              <a:buNone/>
            </a:pPr>
            <a:r>
              <a:rPr lang="en-US" sz="9000" b="1" dirty="0">
                <a:solidFill>
                  <a:srgbClr val="FF6B35"/>
                </a:solidFill>
                <a:latin typeface="Cambria" pitchFamily="34" charset="0"/>
                <a:ea typeface="Cambria" pitchFamily="34" charset="-122"/>
                <a:cs typeface="Cambria" pitchFamily="34" charset="-120"/>
              </a:rPr>
              <a:t>02</a:t>
            </a:r>
            <a:endParaRPr lang="en-US" sz="9000" dirty="0"/>
          </a:p>
        </p:txBody>
      </p:sp>
      <p:sp>
        <p:nvSpPr>
          <p:cNvPr id="4" name="Text 2"/>
          <p:cNvSpPr/>
          <p:nvPr/>
        </p:nvSpPr>
        <p:spPr>
          <a:xfrm>
            <a:off x="411480" y="1965960"/>
            <a:ext cx="2743200" cy="1463040"/>
          </a:xfrm>
          <a:prstGeom prst="rect">
            <a:avLst/>
          </a:prstGeom>
          <a:noFill/>
          <a:ln/>
        </p:spPr>
        <p:txBody>
          <a:bodyPr wrap="square" rtlCol="0" anchor="ctr"/>
          <a:lstStyle/>
          <a:p>
            <a:pPr indent="0" marL="0">
              <a:lnSpc>
                <a:spcPct val="130000"/>
              </a:lnSpc>
              <a:buNone/>
            </a:pPr>
            <a:r>
              <a:rPr lang="en-US" sz="1600" b="1" spc="150" kern="0" dirty="0">
                <a:solidFill>
                  <a:srgbClr val="CFE0FF"/>
                </a:solidFill>
                <a:latin typeface="Calibri" pitchFamily="34" charset="0"/>
                <a:ea typeface="Calibri" pitchFamily="34" charset="-122"/>
                <a:cs typeface="Calibri" pitchFamily="34" charset="-120"/>
              </a:rPr>
              <a:t>PLUGIN DEV</a:t>
            </a:r>
            <a:endParaRPr lang="en-US" sz="1600" dirty="0"/>
          </a:p>
        </p:txBody>
      </p:sp>
      <p:sp>
        <p:nvSpPr>
          <p:cNvPr id="5" name="Text 3"/>
          <p:cNvSpPr/>
          <p:nvPr/>
        </p:nvSpPr>
        <p:spPr>
          <a:xfrm>
            <a:off x="3977640" y="777240"/>
            <a:ext cx="7589520" cy="1371600"/>
          </a:xfrm>
          <a:prstGeom prst="rect">
            <a:avLst/>
          </a:prstGeom>
          <a:noFill/>
          <a:ln/>
        </p:spPr>
        <p:txBody>
          <a:bodyPr wrap="square" rtlCol="0" anchor="ctr"/>
          <a:lstStyle/>
          <a:p>
            <a:pPr indent="0" marL="0">
              <a:lnSpc>
                <a:spcPct val="115000"/>
              </a:lnSpc>
              <a:buNone/>
            </a:pPr>
            <a:r>
              <a:rPr lang="en-US" sz="2600" b="1" dirty="0">
                <a:solidFill>
                  <a:srgbClr val="FFFFFF"/>
                </a:solidFill>
                <a:latin typeface="Cambria" pitchFamily="34" charset="0"/>
                <a:ea typeface="Cambria" pitchFamily="34" charset="-122"/>
                <a:cs typeface="Cambria" pitchFamily="34" charset="-120"/>
              </a:rPr>
              <a:t>IntelliJ plugin development,</a:t>
            </a:r>
            <a:endParaRPr lang="en-US" sz="2600" dirty="0"/>
          </a:p>
          <a:p>
            <a:pPr indent="0" marL="0">
              <a:lnSpc>
                <a:spcPct val="115000"/>
              </a:lnSpc>
              <a:buNone/>
            </a:pPr>
            <a:r>
              <a:rPr lang="en-US" sz="2600" b="1" dirty="0">
                <a:solidFill>
                  <a:srgbClr val="FFFFFF"/>
                </a:solidFill>
                <a:latin typeface="Cambria" pitchFamily="34" charset="0"/>
                <a:ea typeface="Cambria" pitchFamily="34" charset="-122"/>
                <a:cs typeface="Cambria" pitchFamily="34" charset="-120"/>
              </a:rPr>
              <a:t>in a Java engineer's own vocabulary</a:t>
            </a:r>
            <a:endParaRPr lang="en-US" sz="2600" dirty="0"/>
          </a:p>
        </p:txBody>
      </p:sp>
      <p:sp>
        <p:nvSpPr>
          <p:cNvPr id="6" name="Shape 4"/>
          <p:cNvSpPr/>
          <p:nvPr/>
        </p:nvSpPr>
        <p:spPr>
          <a:xfrm>
            <a:off x="3977640" y="2359152"/>
            <a:ext cx="91440" cy="91440"/>
          </a:xfrm>
          <a:prstGeom prst="ellipse">
            <a:avLst/>
          </a:prstGeom>
          <a:solidFill>
            <a:srgbClr val="FF6B35"/>
          </a:solidFill>
          <a:ln/>
        </p:spPr>
      </p:sp>
      <p:sp>
        <p:nvSpPr>
          <p:cNvPr id="7" name="Text 5"/>
          <p:cNvSpPr/>
          <p:nvPr/>
        </p:nvSpPr>
        <p:spPr>
          <a:xfrm>
            <a:off x="4233672" y="220370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Extension point — an SPI the platform calls into</a:t>
            </a:r>
            <a:endParaRPr lang="en-US" sz="1300" dirty="0"/>
          </a:p>
        </p:txBody>
      </p:sp>
      <p:sp>
        <p:nvSpPr>
          <p:cNvPr id="8" name="Shape 6"/>
          <p:cNvSpPr/>
          <p:nvPr/>
        </p:nvSpPr>
        <p:spPr>
          <a:xfrm>
            <a:off x="3977640" y="2724912"/>
            <a:ext cx="91440" cy="91440"/>
          </a:xfrm>
          <a:prstGeom prst="ellipse">
            <a:avLst/>
          </a:prstGeom>
          <a:solidFill>
            <a:srgbClr val="FF6B35"/>
          </a:solidFill>
          <a:ln/>
        </p:spPr>
      </p:sp>
      <p:sp>
        <p:nvSpPr>
          <p:cNvPr id="9" name="Text 7"/>
          <p:cNvSpPr/>
          <p:nvPr/>
        </p:nvSpPr>
        <p:spPr>
          <a:xfrm>
            <a:off x="4233672" y="256946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plugin.xml — the only wiring there is</a:t>
            </a:r>
            <a:endParaRPr lang="en-US" sz="1300" dirty="0"/>
          </a:p>
        </p:txBody>
      </p:sp>
      <p:sp>
        <p:nvSpPr>
          <p:cNvPr id="10" name="Shape 8"/>
          <p:cNvSpPr/>
          <p:nvPr/>
        </p:nvSpPr>
        <p:spPr>
          <a:xfrm>
            <a:off x="3977640" y="3090672"/>
            <a:ext cx="91440" cy="91440"/>
          </a:xfrm>
          <a:prstGeom prst="ellipse">
            <a:avLst/>
          </a:prstGeom>
          <a:solidFill>
            <a:srgbClr val="FF6B35"/>
          </a:solidFill>
          <a:ln/>
        </p:spPr>
      </p:sp>
      <p:sp>
        <p:nvSpPr>
          <p:cNvPr id="11" name="Text 9"/>
          <p:cNvSpPr/>
          <p:nvPr/>
        </p:nvSpPr>
        <p:spPr>
          <a:xfrm>
            <a:off x="4233672" y="293522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PSI — a live, mutable AST</a:t>
            </a:r>
            <a:endParaRPr lang="en-US" sz="1300" dirty="0"/>
          </a:p>
        </p:txBody>
      </p:sp>
      <p:sp>
        <p:nvSpPr>
          <p:cNvPr id="12" name="Shape 10"/>
          <p:cNvSpPr/>
          <p:nvPr/>
        </p:nvSpPr>
        <p:spPr>
          <a:xfrm>
            <a:off x="3977640" y="3456432"/>
            <a:ext cx="91440" cy="91440"/>
          </a:xfrm>
          <a:prstGeom prst="ellipse">
            <a:avLst/>
          </a:prstGeom>
          <a:solidFill>
            <a:srgbClr val="FF6B35"/>
          </a:solidFill>
          <a:ln/>
        </p:spPr>
      </p:sp>
      <p:sp>
        <p:nvSpPr>
          <p:cNvPr id="13" name="Text 11"/>
          <p:cNvSpPr/>
          <p:nvPr/>
        </p:nvSpPr>
        <p:spPr>
          <a:xfrm>
            <a:off x="4233672" y="330098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Dumb mode — an index still importing</a:t>
            </a:r>
            <a:endParaRPr lang="en-US" sz="1300" dirty="0"/>
          </a:p>
        </p:txBody>
      </p:sp>
      <p:sp>
        <p:nvSpPr>
          <p:cNvPr id="14" name="Shape 12"/>
          <p:cNvSpPr/>
          <p:nvPr/>
        </p:nvSpPr>
        <p:spPr>
          <a:xfrm>
            <a:off x="3977640" y="3822192"/>
            <a:ext cx="91440" cy="91440"/>
          </a:xfrm>
          <a:prstGeom prst="ellipse">
            <a:avLst/>
          </a:prstGeom>
          <a:solidFill>
            <a:srgbClr val="FF6B35"/>
          </a:solidFill>
          <a:ln/>
        </p:spPr>
      </p:sp>
      <p:sp>
        <p:nvSpPr>
          <p:cNvPr id="15" name="Text 13"/>
          <p:cNvSpPr/>
          <p:nvPr/>
        </p:nvSpPr>
        <p:spPr>
          <a:xfrm>
            <a:off x="4233672" y="366674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CachedValuesManager — declared invalidation</a:t>
            </a:r>
            <a:endParaRPr lang="en-US" sz="1300" dirty="0"/>
          </a:p>
        </p:txBody>
      </p:sp>
      <p:sp>
        <p:nvSpPr>
          <p:cNvPr id="16" name="Shape 14"/>
          <p:cNvSpPr/>
          <p:nvPr/>
        </p:nvSpPr>
        <p:spPr>
          <a:xfrm>
            <a:off x="3977640" y="4187952"/>
            <a:ext cx="91440" cy="91440"/>
          </a:xfrm>
          <a:prstGeom prst="ellipse">
            <a:avLst/>
          </a:prstGeom>
          <a:solidFill>
            <a:srgbClr val="FF6B35"/>
          </a:solidFill>
          <a:ln/>
        </p:spPr>
      </p:sp>
      <p:sp>
        <p:nvSpPr>
          <p:cNvPr id="17" name="Text 15"/>
          <p:cNvSpPr/>
          <p:nvPr/>
        </p:nvSpPr>
        <p:spPr>
          <a:xfrm>
            <a:off x="4233672" y="403250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Testing — @SpringBootTest, with a trap</a:t>
            </a:r>
            <a:endParaRPr lang="en-US" sz="1300" dirty="0"/>
          </a:p>
        </p:txBody>
      </p:sp>
      <p:sp>
        <p:nvSpPr>
          <p:cNvPr id="19" name="Text 1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2 · PLUGIN DEV</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An extension point is an SPI — plugin.xml is your META-INF/services</a:t>
            </a:r>
            <a:endParaRPr lang="en-US" sz="2300" dirty="0"/>
          </a:p>
        </p:txBody>
      </p:sp>
      <p:sp>
        <p:nvSpPr>
          <p:cNvPr id="4" name="Shape 2"/>
          <p:cNvSpPr/>
          <p:nvPr/>
        </p:nvSpPr>
        <p:spPr>
          <a:xfrm>
            <a:off x="731520" y="1691640"/>
            <a:ext cx="3200400" cy="1143000"/>
          </a:xfrm>
          <a:prstGeom prst="roundRect">
            <a:avLst>
              <a:gd name="adj" fmla="val 5600"/>
            </a:avLst>
          </a:prstGeom>
          <a:solidFill>
            <a:srgbClr val="F6F7FB"/>
          </a:solidFill>
          <a:ln w="12700">
            <a:solidFill>
              <a:srgbClr val="E2E5F0"/>
            </a:solidFill>
            <a:prstDash val="solid"/>
          </a:ln>
        </p:spPr>
      </p:sp>
      <p:sp>
        <p:nvSpPr>
          <p:cNvPr id="5" name="Text 3"/>
          <p:cNvSpPr/>
          <p:nvPr/>
        </p:nvSpPr>
        <p:spPr>
          <a:xfrm>
            <a:off x="822960" y="1764792"/>
            <a:ext cx="3017520" cy="628650"/>
          </a:xfrm>
          <a:prstGeom prst="rect">
            <a:avLst/>
          </a:prstGeom>
          <a:noFill/>
          <a:ln/>
        </p:spPr>
        <p:txBody>
          <a:bodyPr wrap="square" rtlCol="0" anchor="b"/>
          <a:lstStyle/>
          <a:p>
            <a:pPr algn="ctr" indent="0" marL="0">
              <a:buNone/>
            </a:pPr>
            <a:r>
              <a:rPr lang="en-US" sz="1450" b="1" dirty="0">
                <a:solidFill>
                  <a:srgbClr val="1B2340"/>
                </a:solidFill>
                <a:latin typeface="Calibri" pitchFamily="34" charset="0"/>
                <a:ea typeface="Calibri" pitchFamily="34" charset="-122"/>
                <a:cs typeface="Calibri" pitchFamily="34" charset="-120"/>
              </a:rPr>
              <a:t>Java SPI</a:t>
            </a:r>
            <a:endParaRPr lang="en-US" sz="1450" dirty="0"/>
          </a:p>
        </p:txBody>
      </p:sp>
      <p:sp>
        <p:nvSpPr>
          <p:cNvPr id="6" name="Text 4"/>
          <p:cNvSpPr/>
          <p:nvPr/>
        </p:nvSpPr>
        <p:spPr>
          <a:xfrm>
            <a:off x="822960" y="2286000"/>
            <a:ext cx="3017520" cy="502920"/>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META-INF/services/*</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ServiceLoader finds it</a:t>
            </a:r>
            <a:endParaRPr lang="en-US" sz="950" dirty="0"/>
          </a:p>
        </p:txBody>
      </p:sp>
      <p:sp>
        <p:nvSpPr>
          <p:cNvPr id="7" name="Shape 5"/>
          <p:cNvSpPr/>
          <p:nvPr/>
        </p:nvSpPr>
        <p:spPr>
          <a:xfrm>
            <a:off x="731520" y="3063240"/>
            <a:ext cx="3200400" cy="1143000"/>
          </a:xfrm>
          <a:prstGeom prst="roundRect">
            <a:avLst>
              <a:gd name="adj" fmla="val 5600"/>
            </a:avLst>
          </a:prstGeom>
          <a:solidFill>
            <a:srgbClr val="F6F7FB"/>
          </a:solidFill>
          <a:ln w="12700">
            <a:solidFill>
              <a:srgbClr val="E2E5F0"/>
            </a:solidFill>
            <a:prstDash val="solid"/>
          </a:ln>
        </p:spPr>
      </p:sp>
      <p:sp>
        <p:nvSpPr>
          <p:cNvPr id="8" name="Text 6"/>
          <p:cNvSpPr/>
          <p:nvPr/>
        </p:nvSpPr>
        <p:spPr>
          <a:xfrm>
            <a:off x="822960" y="3136392"/>
            <a:ext cx="3017520" cy="628650"/>
          </a:xfrm>
          <a:prstGeom prst="rect">
            <a:avLst/>
          </a:prstGeom>
          <a:noFill/>
          <a:ln/>
        </p:spPr>
        <p:txBody>
          <a:bodyPr wrap="square" rtlCol="0" anchor="b"/>
          <a:lstStyle/>
          <a:p>
            <a:pPr algn="ctr" indent="0" marL="0">
              <a:buNone/>
            </a:pPr>
            <a:r>
              <a:rPr lang="en-US" sz="1450" b="1" dirty="0">
                <a:solidFill>
                  <a:srgbClr val="1B2340"/>
                </a:solidFill>
                <a:latin typeface="Calibri" pitchFamily="34" charset="0"/>
                <a:ea typeface="Calibri" pitchFamily="34" charset="-122"/>
                <a:cs typeface="Calibri" pitchFamily="34" charset="-120"/>
              </a:rPr>
              <a:t>@RestController</a:t>
            </a:r>
            <a:endParaRPr lang="en-US" sz="1450" dirty="0"/>
          </a:p>
        </p:txBody>
      </p:sp>
      <p:sp>
        <p:nvSpPr>
          <p:cNvPr id="9" name="Text 7"/>
          <p:cNvSpPr/>
          <p:nvPr/>
        </p:nvSpPr>
        <p:spPr>
          <a:xfrm>
            <a:off x="822960" y="3657600"/>
            <a:ext cx="3017520" cy="502920"/>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Spring calls it —</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no socket, no accept loop</a:t>
            </a:r>
            <a:endParaRPr lang="en-US" sz="950" dirty="0"/>
          </a:p>
        </p:txBody>
      </p:sp>
      <p:sp>
        <p:nvSpPr>
          <p:cNvPr id="10" name="Text 8"/>
          <p:cNvSpPr/>
          <p:nvPr/>
        </p:nvSpPr>
        <p:spPr>
          <a:xfrm>
            <a:off x="4069080" y="1965960"/>
            <a:ext cx="548640" cy="457200"/>
          </a:xfrm>
          <a:prstGeom prst="rect">
            <a:avLst/>
          </a:prstGeom>
          <a:noFill/>
          <a:ln/>
        </p:spPr>
        <p:txBody>
          <a:bodyPr wrap="square" rtlCol="0" anchor="ctr"/>
          <a:lstStyle/>
          <a:p>
            <a:pPr algn="ctr" indent="0" marL="0">
              <a:buNone/>
            </a:pPr>
            <a:r>
              <a:rPr lang="en-US" sz="2600" b="1" dirty="0">
                <a:solidFill>
                  <a:srgbClr val="5B6478"/>
                </a:solidFill>
              </a:rPr>
              <a:t>=</a:t>
            </a:r>
            <a:endParaRPr lang="en-US" sz="2600" dirty="0"/>
          </a:p>
        </p:txBody>
      </p:sp>
      <p:sp>
        <p:nvSpPr>
          <p:cNvPr id="11" name="Text 9"/>
          <p:cNvSpPr/>
          <p:nvPr/>
        </p:nvSpPr>
        <p:spPr>
          <a:xfrm>
            <a:off x="4069080" y="3337560"/>
            <a:ext cx="548640" cy="457200"/>
          </a:xfrm>
          <a:prstGeom prst="rect">
            <a:avLst/>
          </a:prstGeom>
          <a:noFill/>
          <a:ln/>
        </p:spPr>
        <p:txBody>
          <a:bodyPr wrap="square" rtlCol="0" anchor="ctr"/>
          <a:lstStyle/>
          <a:p>
            <a:pPr algn="ctr" indent="0" marL="0">
              <a:buNone/>
            </a:pPr>
            <a:r>
              <a:rPr lang="en-US" sz="2600" b="1" dirty="0">
                <a:solidFill>
                  <a:srgbClr val="5B6478"/>
                </a:solidFill>
              </a:rPr>
              <a:t>=</a:t>
            </a:r>
            <a:endParaRPr lang="en-US" sz="2600" dirty="0"/>
          </a:p>
        </p:txBody>
      </p:sp>
      <p:sp>
        <p:nvSpPr>
          <p:cNvPr id="12" name="Shape 10"/>
          <p:cNvSpPr/>
          <p:nvPr/>
        </p:nvSpPr>
        <p:spPr>
          <a:xfrm>
            <a:off x="4754880" y="1691640"/>
            <a:ext cx="3291840" cy="1143000"/>
          </a:xfrm>
          <a:prstGeom prst="roundRect">
            <a:avLst>
              <a:gd name="adj" fmla="val 5600"/>
            </a:avLst>
          </a:prstGeom>
          <a:solidFill>
            <a:srgbClr val="FFFFFF"/>
          </a:solidFill>
          <a:ln w="12700">
            <a:solidFill>
              <a:srgbClr val="E2E5F0"/>
            </a:solidFill>
            <a:prstDash val="solid"/>
          </a:ln>
        </p:spPr>
      </p:sp>
      <p:sp>
        <p:nvSpPr>
          <p:cNvPr id="13" name="Text 11"/>
          <p:cNvSpPr/>
          <p:nvPr/>
        </p:nvSpPr>
        <p:spPr>
          <a:xfrm>
            <a:off x="4846320" y="1764792"/>
            <a:ext cx="3108960" cy="628650"/>
          </a:xfrm>
          <a:prstGeom prst="rect">
            <a:avLst/>
          </a:prstGeom>
          <a:noFill/>
          <a:ln/>
        </p:spPr>
        <p:txBody>
          <a:bodyPr wrap="square" rtlCol="0" anchor="b"/>
          <a:lstStyle/>
          <a:p>
            <a:pPr algn="ctr" indent="0" marL="0">
              <a:buNone/>
            </a:pPr>
            <a:r>
              <a:rPr lang="en-US" sz="1450" b="1" dirty="0">
                <a:solidFill>
                  <a:srgbClr val="1B2340"/>
                </a:solidFill>
                <a:latin typeface="Calibri" pitchFamily="34" charset="0"/>
                <a:ea typeface="Calibri" pitchFamily="34" charset="-122"/>
                <a:cs typeface="Calibri" pitchFamily="34" charset="-120"/>
              </a:rPr>
              <a:t>plugin.xml</a:t>
            </a:r>
            <a:endParaRPr lang="en-US" sz="1450" dirty="0"/>
          </a:p>
        </p:txBody>
      </p:sp>
      <p:sp>
        <p:nvSpPr>
          <p:cNvPr id="14" name="Text 12"/>
          <p:cNvSpPr/>
          <p:nvPr/>
        </p:nvSpPr>
        <p:spPr>
          <a:xfrm>
            <a:off x="4846320" y="2286000"/>
            <a:ext cx="3108960" cy="502920"/>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names interface + class,</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as a STRING</a:t>
            </a:r>
            <a:endParaRPr lang="en-US" sz="950" dirty="0"/>
          </a:p>
        </p:txBody>
      </p:sp>
      <p:sp>
        <p:nvSpPr>
          <p:cNvPr id="15" name="Shape 13"/>
          <p:cNvSpPr/>
          <p:nvPr/>
        </p:nvSpPr>
        <p:spPr>
          <a:xfrm>
            <a:off x="4754880" y="3063240"/>
            <a:ext cx="3291840" cy="1143000"/>
          </a:xfrm>
          <a:prstGeom prst="roundRect">
            <a:avLst>
              <a:gd name="adj" fmla="val 5600"/>
            </a:avLst>
          </a:prstGeom>
          <a:solidFill>
            <a:srgbClr val="FFFFFF"/>
          </a:solidFill>
          <a:ln w="12700">
            <a:solidFill>
              <a:srgbClr val="E2E5F0"/>
            </a:solidFill>
            <a:prstDash val="solid"/>
          </a:ln>
        </p:spPr>
      </p:sp>
      <p:sp>
        <p:nvSpPr>
          <p:cNvPr id="16" name="Text 14"/>
          <p:cNvSpPr/>
          <p:nvPr/>
        </p:nvSpPr>
        <p:spPr>
          <a:xfrm>
            <a:off x="4846320" y="3136392"/>
            <a:ext cx="3108960" cy="628650"/>
          </a:xfrm>
          <a:prstGeom prst="rect">
            <a:avLst/>
          </a:prstGeom>
          <a:noFill/>
          <a:ln/>
        </p:spPr>
        <p:txBody>
          <a:bodyPr wrap="square" rtlCol="0" anchor="b"/>
          <a:lstStyle/>
          <a:p>
            <a:pPr algn="ctr" indent="0" marL="0">
              <a:buNone/>
            </a:pPr>
            <a:r>
              <a:rPr lang="en-US" sz="1450" b="1" dirty="0">
                <a:solidFill>
                  <a:srgbClr val="1B2340"/>
                </a:solidFill>
                <a:latin typeface="Calibri" pitchFamily="34" charset="0"/>
                <a:ea typeface="Calibri" pitchFamily="34" charset="-122"/>
                <a:cs typeface="Calibri" pitchFamily="34" charset="-120"/>
              </a:rPr>
              <a:t>Your extension</a:t>
            </a:r>
            <a:endParaRPr lang="en-US" sz="1450" dirty="0"/>
          </a:p>
        </p:txBody>
      </p:sp>
      <p:sp>
        <p:nvSpPr>
          <p:cNvPr id="17" name="Text 15"/>
          <p:cNvSpPr/>
          <p:nvPr/>
        </p:nvSpPr>
        <p:spPr>
          <a:xfrm>
            <a:off x="4846320" y="3657600"/>
            <a:ext cx="3108960" cy="502920"/>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CompletionContributor,</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Inspection, Reference...</a:t>
            </a:r>
            <a:endParaRPr lang="en-US" sz="950" dirty="0"/>
          </a:p>
        </p:txBody>
      </p:sp>
      <p:sp>
        <p:nvSpPr>
          <p:cNvPr id="18" name="Shape 16"/>
          <p:cNvSpPr/>
          <p:nvPr/>
        </p:nvSpPr>
        <p:spPr>
          <a:xfrm>
            <a:off x="8366760" y="2377440"/>
            <a:ext cx="3108960" cy="1600200"/>
          </a:xfrm>
          <a:prstGeom prst="roundRect">
            <a:avLst>
              <a:gd name="adj" fmla="val 4000"/>
            </a:avLst>
          </a:prstGeom>
          <a:solidFill>
            <a:srgbClr val="141B3C"/>
          </a:solidFill>
          <a:ln w="12700">
            <a:solidFill>
              <a:srgbClr val="E2E5F0"/>
            </a:solidFill>
            <a:prstDash val="solid"/>
          </a:ln>
        </p:spPr>
      </p:sp>
      <p:sp>
        <p:nvSpPr>
          <p:cNvPr id="19" name="Text 17"/>
          <p:cNvSpPr/>
          <p:nvPr/>
        </p:nvSpPr>
        <p:spPr>
          <a:xfrm>
            <a:off x="8458200" y="2450592"/>
            <a:ext cx="2926080" cy="880110"/>
          </a:xfrm>
          <a:prstGeom prst="rect">
            <a:avLst/>
          </a:prstGeom>
          <a:noFill/>
          <a:ln/>
        </p:spPr>
        <p:txBody>
          <a:bodyPr wrap="square" rtlCol="0" anchor="b"/>
          <a:lstStyle/>
          <a:p>
            <a:pPr algn="ctr" indent="0" marL="0">
              <a:buNone/>
            </a:pPr>
            <a:r>
              <a:rPr lang="en-US" sz="1400" b="1" dirty="0">
                <a:solidFill>
                  <a:srgbClr val="FFFFFF"/>
                </a:solidFill>
                <a:latin typeface="Calibri" pitchFamily="34" charset="0"/>
                <a:ea typeface="Calibri" pitchFamily="34" charset="-122"/>
                <a:cs typeface="Calibri" pitchFamily="34" charset="-120"/>
              </a:rPr>
              <a:t>IntelliJ Platform</a:t>
            </a:r>
            <a:endParaRPr lang="en-US" sz="1400" dirty="0"/>
          </a:p>
        </p:txBody>
      </p:sp>
      <p:sp>
        <p:nvSpPr>
          <p:cNvPr id="20" name="Text 18"/>
          <p:cNvSpPr/>
          <p:nvPr/>
        </p:nvSpPr>
        <p:spPr>
          <a:xfrm>
            <a:off x="8458200" y="3209544"/>
            <a:ext cx="2926080" cy="704088"/>
          </a:xfrm>
          <a:prstGeom prst="rect">
            <a:avLst/>
          </a:prstGeom>
          <a:noFill/>
          <a:ln/>
        </p:spPr>
        <p:txBody>
          <a:bodyPr wrap="square" rtlCol="0" anchor="t"/>
          <a:lstStyle/>
          <a:p>
            <a:pPr algn="ctr" indent="0" marL="0">
              <a:buNone/>
            </a:pPr>
            <a:r>
              <a:rPr lang="en-US" sz="950" dirty="0">
                <a:solidFill>
                  <a:srgbClr val="CFE0FF"/>
                </a:solidFill>
                <a:latin typeface="Calibri" pitchFamily="34" charset="0"/>
                <a:ea typeface="Calibri" pitchFamily="34" charset="-122"/>
                <a:cs typeface="Calibri" pitchFamily="34" charset="-120"/>
              </a:rPr>
              <a:t>reads plugin.xml,</a:t>
            </a:r>
            <a:endParaRPr lang="en-US" sz="950" dirty="0"/>
          </a:p>
          <a:p>
            <a:pPr algn="ctr" indent="0" marL="0">
              <a:buNone/>
            </a:pPr>
            <a:r>
              <a:rPr lang="en-US" sz="950" dirty="0">
                <a:solidFill>
                  <a:srgbClr val="CFE0FF"/>
                </a:solidFill>
                <a:latin typeface="Calibri" pitchFamily="34" charset="0"/>
                <a:ea typeface="Calibri" pitchFamily="34" charset="-122"/>
                <a:cs typeface="Calibri" pitchFamily="34" charset="-120"/>
              </a:rPr>
              <a:t>owns the editor loop,</a:t>
            </a:r>
            <a:endParaRPr lang="en-US" sz="950" dirty="0"/>
          </a:p>
          <a:p>
            <a:pPr algn="ctr" indent="0" marL="0">
              <a:buNone/>
            </a:pPr>
            <a:r>
              <a:rPr lang="en-US" sz="950" dirty="0">
                <a:solidFill>
                  <a:srgbClr val="CFE0FF"/>
                </a:solidFill>
                <a:latin typeface="Calibri" pitchFamily="34" charset="0"/>
                <a:ea typeface="Calibri" pitchFamily="34" charset="-122"/>
                <a:cs typeface="Calibri" pitchFamily="34" charset="-120"/>
              </a:rPr>
              <a:t>calls you when it fires</a:t>
            </a:r>
            <a:endParaRPr lang="en-US" sz="950" dirty="0"/>
          </a:p>
        </p:txBody>
      </p:sp>
      <p:sp>
        <p:nvSpPr>
          <p:cNvPr id="21" name="Text 19"/>
          <p:cNvSpPr/>
          <p:nvPr/>
        </p:nvSpPr>
        <p:spPr>
          <a:xfrm>
            <a:off x="731520" y="4663440"/>
            <a:ext cx="10698480" cy="548640"/>
          </a:xfrm>
          <a:prstGeom prst="rect">
            <a:avLst/>
          </a:prstGeom>
          <a:noFill/>
          <a:ln/>
        </p:spPr>
        <p:txBody>
          <a:bodyPr wrap="square" rtlCol="0" anchor="ctr"/>
          <a:lstStyle/>
          <a:p>
            <a:pPr algn="ctr" indent="0" marL="0">
              <a:buNone/>
            </a:pPr>
            <a:r>
              <a:rPr lang="en-US" sz="1300" i="1" dirty="0">
                <a:solidFill>
                  <a:srgbClr val="D9531E"/>
                </a:solidFill>
                <a:latin typeface="Calibri" pitchFamily="34" charset="0"/>
                <a:ea typeface="Calibri" pitchFamily="34" charset="-122"/>
                <a:cs typeface="Calibri" pitchFamily="34" charset="-120"/>
              </a:rPr>
              <a:t>A class renamed without updating its plugin.xml string compiles clean and loads nothing. Nothing warns you.</a:t>
            </a:r>
            <a:endParaRPr lang="en-US" sz="1300" dirty="0"/>
          </a:p>
        </p:txBody>
      </p:sp>
      <p:sp>
        <p:nvSpPr>
          <p:cNvPr id="22" name="Text 20"/>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docs/glossary.md “extension point”, “plugin.xml”; src/main/resources/META-INF/plugin.xml</a:t>
            </a:r>
            <a:endParaRPr lang="en-US" sz="950" dirty="0"/>
          </a:p>
        </p:txBody>
      </p:sp>
      <p:sp>
        <p:nvSpPr>
          <p:cNvPr id="24" name="Text 21"/>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2 · PLUGIN DEV</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PSI is a live, mutable AST — not a DOM tree you parsed yourself</a:t>
            </a:r>
            <a:endParaRPr lang="en-US" sz="2300" dirty="0"/>
          </a:p>
        </p:txBody>
      </p:sp>
      <p:sp>
        <p:nvSpPr>
          <p:cNvPr id="4" name="Shape 2"/>
          <p:cNvSpPr/>
          <p:nvPr/>
        </p:nvSpPr>
        <p:spPr>
          <a:xfrm>
            <a:off x="640080" y="1691640"/>
            <a:ext cx="3291840" cy="1005840"/>
          </a:xfrm>
          <a:prstGeom prst="roundRect">
            <a:avLst>
              <a:gd name="adj" fmla="val 6364"/>
            </a:avLst>
          </a:prstGeom>
          <a:solidFill>
            <a:srgbClr val="F6F7FB"/>
          </a:solidFill>
          <a:ln w="12700">
            <a:solidFill>
              <a:srgbClr val="E2E5F0"/>
            </a:solidFill>
            <a:prstDash val="solid"/>
          </a:ln>
        </p:spPr>
      </p:sp>
      <p:sp>
        <p:nvSpPr>
          <p:cNvPr id="5" name="Text 3"/>
          <p:cNvSpPr/>
          <p:nvPr/>
        </p:nvSpPr>
        <p:spPr>
          <a:xfrm>
            <a:off x="731520" y="1764792"/>
            <a:ext cx="3108960" cy="553212"/>
          </a:xfrm>
          <a:prstGeom prst="rect">
            <a:avLst/>
          </a:prstGeom>
          <a:noFill/>
          <a:ln/>
        </p:spPr>
        <p:txBody>
          <a:bodyPr wrap="square" rtlCol="0" anchor="b"/>
          <a:lstStyle/>
          <a:p>
            <a:pPr algn="ctr" indent="0" marL="0">
              <a:buNone/>
            </a:pPr>
            <a:r>
              <a:rPr lang="en-US" sz="1350" b="1" dirty="0">
                <a:solidFill>
                  <a:srgbClr val="1B2340"/>
                </a:solidFill>
                <a:latin typeface="Calibri" pitchFamily="34" charset="0"/>
                <a:ea typeface="Calibri" pitchFamily="34" charset="-122"/>
                <a:cs typeface="Calibri" pitchFamily="34" charset="-120"/>
              </a:rPr>
              <a:t>javac AST</a:t>
            </a:r>
            <a:endParaRPr lang="en-US" sz="1350" dirty="0"/>
          </a:p>
        </p:txBody>
      </p:sp>
      <p:sp>
        <p:nvSpPr>
          <p:cNvPr id="6" name="Text 4"/>
          <p:cNvSpPr/>
          <p:nvPr/>
        </p:nvSpPr>
        <p:spPr>
          <a:xfrm>
            <a:off x="731520" y="2214677"/>
            <a:ext cx="3108960" cy="442570"/>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CompilationUnitTree —</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throwaway, per compile</a:t>
            </a:r>
            <a:endParaRPr lang="en-US" sz="950" dirty="0"/>
          </a:p>
        </p:txBody>
      </p:sp>
      <p:sp>
        <p:nvSpPr>
          <p:cNvPr id="7" name="Shape 5"/>
          <p:cNvSpPr/>
          <p:nvPr/>
        </p:nvSpPr>
        <p:spPr>
          <a:xfrm>
            <a:off x="4480560" y="1691640"/>
            <a:ext cx="3291840" cy="1005840"/>
          </a:xfrm>
          <a:prstGeom prst="roundRect">
            <a:avLst>
              <a:gd name="adj" fmla="val 6364"/>
            </a:avLst>
          </a:prstGeom>
          <a:solidFill>
            <a:srgbClr val="F6F7FB"/>
          </a:solidFill>
          <a:ln w="12700">
            <a:solidFill>
              <a:srgbClr val="E2E5F0"/>
            </a:solidFill>
            <a:prstDash val="solid"/>
          </a:ln>
        </p:spPr>
      </p:sp>
      <p:sp>
        <p:nvSpPr>
          <p:cNvPr id="8" name="Text 6"/>
          <p:cNvSpPr/>
          <p:nvPr/>
        </p:nvSpPr>
        <p:spPr>
          <a:xfrm>
            <a:off x="4572000" y="1764792"/>
            <a:ext cx="3108960" cy="553212"/>
          </a:xfrm>
          <a:prstGeom prst="rect">
            <a:avLst/>
          </a:prstGeom>
          <a:noFill/>
          <a:ln/>
        </p:spPr>
        <p:txBody>
          <a:bodyPr wrap="square" rtlCol="0" anchor="b"/>
          <a:lstStyle/>
          <a:p>
            <a:pPr algn="ctr" indent="0" marL="0">
              <a:buNone/>
            </a:pPr>
            <a:r>
              <a:rPr lang="en-US" sz="1350" b="1" dirty="0">
                <a:solidFill>
                  <a:srgbClr val="1B2340"/>
                </a:solidFill>
                <a:latin typeface="Calibri" pitchFamily="34" charset="0"/>
                <a:ea typeface="Calibri" pitchFamily="34" charset="-122"/>
                <a:cs typeface="Calibri" pitchFamily="34" charset="-120"/>
              </a:rPr>
              <a:t>A DOM tree</a:t>
            </a:r>
            <a:endParaRPr lang="en-US" sz="1350" dirty="0"/>
          </a:p>
        </p:txBody>
      </p:sp>
      <p:sp>
        <p:nvSpPr>
          <p:cNvPr id="9" name="Text 7"/>
          <p:cNvSpPr/>
          <p:nvPr/>
        </p:nvSpPr>
        <p:spPr>
          <a:xfrm>
            <a:off x="4572000" y="2214677"/>
            <a:ext cx="3108960" cy="442570"/>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mutable, held onto —</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closer, but still not live</a:t>
            </a:r>
            <a:endParaRPr lang="en-US" sz="950" dirty="0"/>
          </a:p>
        </p:txBody>
      </p:sp>
      <p:sp>
        <p:nvSpPr>
          <p:cNvPr id="10" name="Shape 8"/>
          <p:cNvSpPr/>
          <p:nvPr/>
        </p:nvSpPr>
        <p:spPr>
          <a:xfrm>
            <a:off x="8321040" y="1691640"/>
            <a:ext cx="3200400" cy="1005840"/>
          </a:xfrm>
          <a:prstGeom prst="roundRect">
            <a:avLst>
              <a:gd name="adj" fmla="val 6364"/>
            </a:avLst>
          </a:prstGeom>
          <a:solidFill>
            <a:srgbClr val="141B3C"/>
          </a:solidFill>
          <a:ln w="12700">
            <a:solidFill>
              <a:srgbClr val="E2E5F0"/>
            </a:solidFill>
            <a:prstDash val="solid"/>
          </a:ln>
        </p:spPr>
      </p:sp>
      <p:sp>
        <p:nvSpPr>
          <p:cNvPr id="11" name="Text 9"/>
          <p:cNvSpPr/>
          <p:nvPr/>
        </p:nvSpPr>
        <p:spPr>
          <a:xfrm>
            <a:off x="8412480" y="1764792"/>
            <a:ext cx="3017520" cy="553212"/>
          </a:xfrm>
          <a:prstGeom prst="rect">
            <a:avLst/>
          </a:prstGeom>
          <a:noFill/>
          <a:ln/>
        </p:spPr>
        <p:txBody>
          <a:bodyPr wrap="square" rtlCol="0" anchor="b"/>
          <a:lstStyle/>
          <a:p>
            <a:pPr algn="ctr" indent="0" marL="0">
              <a:buNone/>
            </a:pPr>
            <a:r>
              <a:rPr lang="en-US" sz="1350" b="1" dirty="0">
                <a:solidFill>
                  <a:srgbClr val="FFFFFF"/>
                </a:solidFill>
                <a:latin typeface="Calibri" pitchFamily="34" charset="0"/>
                <a:ea typeface="Calibri" pitchFamily="34" charset="-122"/>
                <a:cs typeface="Calibri" pitchFamily="34" charset="-120"/>
              </a:rPr>
              <a:t>PSI</a:t>
            </a:r>
            <a:endParaRPr lang="en-US" sz="1350" dirty="0"/>
          </a:p>
        </p:txBody>
      </p:sp>
      <p:sp>
        <p:nvSpPr>
          <p:cNvPr id="12" name="Text 10"/>
          <p:cNvSpPr/>
          <p:nvPr/>
        </p:nvSpPr>
        <p:spPr>
          <a:xfrm>
            <a:off x="8412480" y="2214677"/>
            <a:ext cx="3017520" cy="442570"/>
          </a:xfrm>
          <a:prstGeom prst="rect">
            <a:avLst/>
          </a:prstGeom>
          <a:noFill/>
          <a:ln/>
        </p:spPr>
        <p:txBody>
          <a:bodyPr wrap="square" rtlCol="0" anchor="t"/>
          <a:lstStyle/>
          <a:p>
            <a:pPr algn="ctr" indent="0" marL="0">
              <a:buNone/>
            </a:pPr>
            <a:r>
              <a:rPr lang="en-US" sz="950" dirty="0">
                <a:solidFill>
                  <a:srgbClr val="CFE0FF"/>
                </a:solidFill>
                <a:latin typeface="Calibri" pitchFamily="34" charset="0"/>
                <a:ea typeface="Calibri" pitchFamily="34" charset="-122"/>
                <a:cs typeface="Calibri" pitchFamily="34" charset="-120"/>
              </a:rPr>
              <a:t>live AND mutable —</a:t>
            </a:r>
            <a:endParaRPr lang="en-US" sz="950" dirty="0"/>
          </a:p>
          <a:p>
            <a:pPr algn="ctr" indent="0" marL="0">
              <a:buNone/>
            </a:pPr>
            <a:r>
              <a:rPr lang="en-US" sz="950" dirty="0">
                <a:solidFill>
                  <a:srgbClr val="CFE0FF"/>
                </a:solidFill>
                <a:latin typeface="Calibri" pitchFamily="34" charset="0"/>
                <a:ea typeface="Calibri" pitchFamily="34" charset="-122"/>
                <a:cs typeface="Calibri" pitchFamily="34" charset="-120"/>
              </a:rPr>
              <a:t>stays current as you type</a:t>
            </a:r>
            <a:endParaRPr lang="en-US" sz="950" dirty="0"/>
          </a:p>
        </p:txBody>
      </p:sp>
      <p:sp>
        <p:nvSpPr>
          <p:cNvPr id="13" name="Shape 11"/>
          <p:cNvSpPr/>
          <p:nvPr/>
        </p:nvSpPr>
        <p:spPr>
          <a:xfrm>
            <a:off x="3977640" y="2112264"/>
            <a:ext cx="457200" cy="164592"/>
          </a:xfrm>
          <a:prstGeom prst="rightArrow">
            <a:avLst/>
          </a:prstGeom>
          <a:solidFill>
            <a:srgbClr val="FF6B35"/>
          </a:solidFill>
          <a:ln/>
        </p:spPr>
      </p:sp>
      <p:sp>
        <p:nvSpPr>
          <p:cNvPr id="14" name="Shape 12"/>
          <p:cNvSpPr/>
          <p:nvPr/>
        </p:nvSpPr>
        <p:spPr>
          <a:xfrm>
            <a:off x="7818120" y="2112264"/>
            <a:ext cx="457200" cy="164592"/>
          </a:xfrm>
          <a:prstGeom prst="rightArrow">
            <a:avLst/>
          </a:prstGeom>
          <a:solidFill>
            <a:srgbClr val="FF6B35"/>
          </a:solidFill>
          <a:ln/>
        </p:spPr>
      </p:sp>
      <p:sp>
        <p:nvSpPr>
          <p:cNvPr id="15" name="Text 13"/>
          <p:cNvSpPr/>
          <p:nvPr/>
        </p:nvSpPr>
        <p:spPr>
          <a:xfrm>
            <a:off x="640080" y="3063240"/>
            <a:ext cx="10881360" cy="365760"/>
          </a:xfrm>
          <a:prstGeom prst="rect">
            <a:avLst/>
          </a:prstGeom>
          <a:noFill/>
          <a:ln/>
        </p:spPr>
        <p:txBody>
          <a:bodyPr wrap="square" rtlCol="0" anchor="ctr"/>
          <a:lstStyle/>
          <a:p>
            <a:pPr indent="0" marL="0">
              <a:buNone/>
            </a:pPr>
            <a:r>
              <a:rPr lang="en-US" sz="1350" b="1" dirty="0">
                <a:solidFill>
                  <a:srgbClr val="1B2340"/>
                </a:solidFill>
                <a:latin typeface="Calibri" pitchFamily="34" charset="0"/>
                <a:ea typeface="Calibri" pitchFamily="34" charset="-122"/>
                <a:cs typeface="Calibri" pitchFamily="34" charset="-120"/>
              </a:rPr>
              <a:t>Because PSI can go stale mid-edit, this plugin's OWN model holds none of it:</a:t>
            </a:r>
            <a:endParaRPr lang="en-US" sz="1350" dirty="0"/>
          </a:p>
        </p:txBody>
      </p:sp>
      <p:sp>
        <p:nvSpPr>
          <p:cNvPr id="16" name="Shape 14"/>
          <p:cNvSpPr/>
          <p:nvPr/>
        </p:nvSpPr>
        <p:spPr>
          <a:xfrm>
            <a:off x="640080" y="3520440"/>
            <a:ext cx="5120640" cy="1371600"/>
          </a:xfrm>
          <a:prstGeom prst="roundRect">
            <a:avLst>
              <a:gd name="adj" fmla="val 4667"/>
            </a:avLst>
          </a:prstGeom>
          <a:solidFill>
            <a:srgbClr val="FFFFFF"/>
          </a:solidFill>
          <a:ln w="12700">
            <a:solidFill>
              <a:srgbClr val="E2E5F0"/>
            </a:solidFill>
            <a:prstDash val="solid"/>
          </a:ln>
        </p:spPr>
      </p:sp>
      <p:sp>
        <p:nvSpPr>
          <p:cNvPr id="17" name="Text 15"/>
          <p:cNvSpPr/>
          <p:nvPr/>
        </p:nvSpPr>
        <p:spPr>
          <a:xfrm>
            <a:off x="731520" y="3593592"/>
            <a:ext cx="4937760" cy="754380"/>
          </a:xfrm>
          <a:prstGeom prst="rect">
            <a:avLst/>
          </a:prstGeom>
          <a:noFill/>
          <a:ln/>
        </p:spPr>
        <p:txBody>
          <a:bodyPr wrap="square" rtlCol="0" anchor="b"/>
          <a:lstStyle/>
          <a:p>
            <a:pPr algn="ctr" indent="0" marL="0">
              <a:buNone/>
            </a:pPr>
            <a:r>
              <a:rPr lang="en-US" sz="1400" b="1" dirty="0">
                <a:solidFill>
                  <a:srgbClr val="1B2340"/>
                </a:solidFill>
                <a:latin typeface="Calibri" pitchFamily="34" charset="0"/>
                <a:ea typeface="Calibri" pitchFamily="34" charset="-122"/>
                <a:cs typeface="Calibri" pitchFamily="34" charset="-120"/>
              </a:rPr>
              <a:t>SolrFieldModel</a:t>
            </a:r>
            <a:endParaRPr lang="en-US" sz="1400" dirty="0"/>
          </a:p>
        </p:txBody>
      </p:sp>
      <p:sp>
        <p:nvSpPr>
          <p:cNvPr id="18" name="Text 16"/>
          <p:cNvSpPr/>
          <p:nvPr/>
        </p:nvSpPr>
        <p:spPr>
          <a:xfrm>
            <a:off x="731520" y="4233672"/>
            <a:ext cx="4937760" cy="603504"/>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plain data — field names,</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types, properties.</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NO PsiElement anywhere in it.</a:t>
            </a:r>
            <a:endParaRPr lang="en-US" sz="950" dirty="0"/>
          </a:p>
        </p:txBody>
      </p:sp>
      <p:sp>
        <p:nvSpPr>
          <p:cNvPr id="19" name="Shape 17"/>
          <p:cNvSpPr/>
          <p:nvPr/>
        </p:nvSpPr>
        <p:spPr>
          <a:xfrm>
            <a:off x="6035040" y="3520440"/>
            <a:ext cx="5486400" cy="1371600"/>
          </a:xfrm>
          <a:prstGeom prst="roundRect">
            <a:avLst>
              <a:gd name="adj" fmla="val 4667"/>
            </a:avLst>
          </a:prstGeom>
          <a:solidFill>
            <a:srgbClr val="FFFFFF"/>
          </a:solidFill>
          <a:ln w="12700">
            <a:solidFill>
              <a:srgbClr val="E2E5F0"/>
            </a:solidFill>
            <a:prstDash val="solid"/>
          </a:ln>
        </p:spPr>
      </p:sp>
      <p:sp>
        <p:nvSpPr>
          <p:cNvPr id="20" name="Text 18"/>
          <p:cNvSpPr/>
          <p:nvPr/>
        </p:nvSpPr>
        <p:spPr>
          <a:xfrm>
            <a:off x="6126480" y="3593592"/>
            <a:ext cx="5303520" cy="754380"/>
          </a:xfrm>
          <a:prstGeom prst="rect">
            <a:avLst/>
          </a:prstGeom>
          <a:noFill/>
          <a:ln/>
        </p:spPr>
        <p:txBody>
          <a:bodyPr wrap="square" rtlCol="0" anchor="b"/>
          <a:lstStyle/>
          <a:p>
            <a:pPr algn="ctr" indent="0" marL="0">
              <a:buNone/>
            </a:pPr>
            <a:r>
              <a:rPr lang="en-US" sz="1400" b="1" dirty="0">
                <a:solidFill>
                  <a:srgbClr val="1B2340"/>
                </a:solidFill>
                <a:latin typeface="Calibri" pitchFamily="34" charset="0"/>
                <a:ea typeface="Calibri" pitchFamily="34" charset="-122"/>
                <a:cs typeface="Calibri" pitchFamily="34" charset="-120"/>
              </a:rPr>
              <a:t>SolrSchemaPsi</a:t>
            </a:r>
            <a:endParaRPr lang="en-US" sz="1400" dirty="0"/>
          </a:p>
        </p:txBody>
      </p:sp>
      <p:sp>
        <p:nvSpPr>
          <p:cNvPr id="21" name="Text 19"/>
          <p:cNvSpPr/>
          <p:nvPr/>
        </p:nvSpPr>
        <p:spPr>
          <a:xfrm>
            <a:off x="6126480" y="4233672"/>
            <a:ext cx="5303520" cy="603504"/>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re-derives “where was this</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written” from live PSI,</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on demand, when navigation asks.</a:t>
            </a:r>
            <a:endParaRPr lang="en-US" sz="950" dirty="0"/>
          </a:p>
        </p:txBody>
      </p:sp>
      <p:sp>
        <p:nvSpPr>
          <p:cNvPr id="22" name="Text 20"/>
          <p:cNvSpPr/>
          <p:nvPr/>
        </p:nvSpPr>
        <p:spPr>
          <a:xfrm>
            <a:off x="640080" y="5166360"/>
            <a:ext cx="10881360" cy="640080"/>
          </a:xfrm>
          <a:prstGeom prst="rect">
            <a:avLst/>
          </a:prstGeom>
          <a:solidFill>
            <a:srgbClr val="141B3C"/>
          </a:solid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val schema: XmlTag? = xmlFile.rootTag  //  a live node, not a copy</a:t>
            </a:r>
            <a:endParaRPr lang="en-US" sz="1300" dirty="0"/>
          </a:p>
        </p:txBody>
      </p:sp>
      <p:sp>
        <p:nvSpPr>
          <p:cNvPr id="23" name="Text 21"/>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docs/glossary.md “PSI”; configset/navigation/SolrSchemaPsi.kt:16 (KDoc)</a:t>
            </a:r>
            <a:endParaRPr lang="en-US" sz="950" dirty="0"/>
          </a:p>
        </p:txBody>
      </p:sp>
      <p:sp>
        <p:nvSpPr>
          <p:cNvPr id="25" name="Text 2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2 · PLUGIN DEV</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200" b="1" dirty="0">
                <a:solidFill>
                  <a:srgbClr val="1B2340"/>
                </a:solidFill>
                <a:latin typeface="Cambria" pitchFamily="34" charset="0"/>
                <a:ea typeface="Cambria" pitchFamily="34" charset="-122"/>
                <a:cs typeface="Cambria" pitchFamily="34" charset="-120"/>
              </a:rPr>
              <a:t>Dumb mode is an index still importing — queries against it are skipped, not queued</a:t>
            </a:r>
            <a:endParaRPr lang="en-US" sz="2200" dirty="0"/>
          </a:p>
        </p:txBody>
      </p:sp>
      <p:sp>
        <p:nvSpPr>
          <p:cNvPr id="4" name="Text 2"/>
          <p:cNvSpPr/>
          <p:nvPr/>
        </p:nvSpPr>
        <p:spPr>
          <a:xfrm>
            <a:off x="640080" y="1554480"/>
            <a:ext cx="10607040" cy="4617720"/>
          </a:xfrm>
          <a:prstGeom prst="rect">
            <a:avLst/>
          </a:prstGeom>
          <a:noFill/>
          <a:ln/>
        </p:spPr>
        <p:txBody>
          <a:bodyPr wrap="square" rtlCol="0" anchor="t"/>
          <a:lstStyle/>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While a project's indexes build, IntelliJ is “dumb” — it runs, but nothing backed by an index can answer.</a:t>
            </a:r>
            <a:endParaRPr lang="en-US" sz="1550" dirty="0"/>
          </a:p>
          <a:p>
            <a:pPr marL="228600" indent="-228600">
              <a:lnSpc>
                <a:spcPct val="112000"/>
              </a:lnSpc>
              <a:spcAft>
                <a:spcPts val="1100"/>
              </a:spcAft>
              <a:buSzPct val="100000"/>
              <a:buChar char="•"/>
            </a:pPr>
            <a:r>
              <a:rPr lang="en-US" sz="1500" dirty="0">
                <a:solidFill>
                  <a:srgbClr val="1B2340"/>
                </a:solidFill>
                <a:latin typeface="Calibri" pitchFamily="34" charset="0"/>
                <a:ea typeface="Calibri" pitchFamily="34" charset="-122"/>
                <a:cs typeface="Calibri" pitchFamily="34" charset="-120"/>
              </a:rPr>
              <a:t>A contribution that has not declared itself DumbAware is SKIPPED ENTIRELY while indexing runs. Silent — no log, no error.</a:t>
            </a:r>
            <a:endParaRPr lang="en-US" sz="1550" dirty="0"/>
          </a:p>
          <a:p>
            <a:pPr indent="0" marL="0">
              <a:lnSpc>
                <a:spcPct val="112000"/>
              </a:lnSpc>
              <a:spcAft>
                <a:spcPts val="400"/>
              </a:spcAft>
              <a:buNone/>
            </a:pPr>
            <a:r>
              <a:rPr lang="en-US" sz="600" dirty="0">
                <a:solidFill>
                  <a:srgbClr val="1B2340"/>
                </a:solidFill>
                <a:latin typeface="Calibri" pitchFamily="34" charset="0"/>
                <a:ea typeface="Calibri" pitchFamily="34" charset="-122"/>
                <a:cs typeface="Calibri" pitchFamily="34" charset="-120"/>
              </a:rPr>
              <a:t> </a:t>
            </a:r>
            <a:endParaRPr lang="en-US" sz="1550" dirty="0"/>
          </a:p>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This plugin reads no index at all, so every contribution declares dumb-awareness — and the opt-in is NOT uniform:</a:t>
            </a:r>
            <a:endParaRPr lang="en-US" sz="1550" dirty="0"/>
          </a:p>
          <a:p>
            <a:pPr lvl="1" marL="457200" indent="-228600">
              <a:lnSpc>
                <a:spcPct val="112000"/>
              </a:lnSpc>
              <a:spcAft>
                <a:spcPts val="1100"/>
              </a:spcAft>
              <a:buSzPct val="100000"/>
              <a:buChar char="•"/>
            </a:pPr>
            <a:r>
              <a:rPr lang="en-US" sz="1300" dirty="0">
                <a:solidFill>
                  <a:srgbClr val="1B2340"/>
                </a:solidFill>
                <a:latin typeface="Calibri" pitchFamily="34" charset="0"/>
                <a:ea typeface="Calibri" pitchFamily="34" charset="-122"/>
                <a:cs typeface="Calibri" pitchFamily="34" charset="-120"/>
              </a:rPr>
              <a:t>LocalInspectionTool / CompletionContributor → override isDumbAware()</a:t>
            </a:r>
            <a:endParaRPr lang="en-US" sz="1550" dirty="0"/>
          </a:p>
          <a:p>
            <a:pPr lvl="1" marL="457200" indent="-228600">
              <a:lnSpc>
                <a:spcPct val="112000"/>
              </a:lnSpc>
              <a:spcAft>
                <a:spcPts val="1100"/>
              </a:spcAft>
              <a:buSzPct val="100000"/>
              <a:buChar char="•"/>
            </a:pPr>
            <a:r>
              <a:rPr lang="en-US" sz="1300" dirty="0">
                <a:solidFill>
                  <a:srgbClr val="1B2340"/>
                </a:solidFill>
                <a:latin typeface="Calibri" pitchFamily="34" charset="0"/>
                <a:ea typeface="Calibri" pitchFamily="34" charset="-122"/>
                <a:cs typeface="Calibri" pitchFamily="34" charset="-120"/>
              </a:rPr>
              <a:t>DocumentationProvider / inlay providers → the DumbAware marker interface</a:t>
            </a:r>
            <a:endParaRPr lang="en-US" sz="1550" dirty="0"/>
          </a:p>
          <a:p>
            <a:pPr lvl="1" marL="457200" indent="-228600">
              <a:lnSpc>
                <a:spcPct val="112000"/>
              </a:lnSpc>
              <a:spcAft>
                <a:spcPts val="1100"/>
              </a:spcAft>
              <a:buSzPct val="100000"/>
              <a:buChar char="•"/>
            </a:pPr>
            <a:r>
              <a:rPr lang="en-US" sz="1300" i="1" dirty="0">
                <a:solidFill>
                  <a:srgbClr val="1B2340"/>
                </a:solidFill>
                <a:latin typeface="Calibri" pitchFamily="34" charset="0"/>
                <a:ea typeface="Calibri" pitchFamily="34" charset="-122"/>
                <a:cs typeface="Calibri" pitchFamily="34" charset="-120"/>
              </a:rPr>
              <a:t>A wrong guess on the marker-interface cases compiles clean and silently does nothing — forever.</a:t>
            </a:r>
            <a:endParaRPr lang="en-US" sz="1550" dirty="0"/>
          </a:p>
          <a:p>
            <a:pPr indent="0" marL="0">
              <a:lnSpc>
                <a:spcPct val="112000"/>
              </a:lnSpc>
              <a:spcAft>
                <a:spcPts val="400"/>
              </a:spcAft>
              <a:buNone/>
            </a:pPr>
            <a:r>
              <a:rPr lang="en-US" sz="600" dirty="0">
                <a:solidFill>
                  <a:srgbClr val="1B2340"/>
                </a:solidFill>
                <a:latin typeface="Calibri" pitchFamily="34" charset="0"/>
                <a:ea typeface="Calibri" pitchFamily="34" charset="-122"/>
                <a:cs typeface="Calibri" pitchFamily="34" charset="-120"/>
              </a:rPr>
              <a:t> </a:t>
            </a:r>
            <a:endParaRPr lang="en-US" sz="1550" dirty="0"/>
          </a:p>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The hard-won rule, from a defect this project actually shipped: a contribution must BOTH decline the declaration AND guard index access with DumbService.</a:t>
            </a:r>
            <a:endParaRPr lang="en-US" sz="1550" dirty="0"/>
          </a:p>
          <a:p>
            <a:pPr marL="228600" indent="-228600">
              <a:lnSpc>
                <a:spcPct val="112000"/>
              </a:lnSpc>
              <a:spcAft>
                <a:spcPts val="1100"/>
              </a:spcAft>
              <a:buSzPct val="100000"/>
              <a:buChar char="•"/>
            </a:pPr>
            <a:r>
              <a:rPr lang="en-US" sz="1500" dirty="0">
                <a:solidFill>
                  <a:srgbClr val="5B6478"/>
                </a:solidFill>
                <a:latin typeface="Calibri" pitchFamily="34" charset="0"/>
                <a:ea typeface="Calibri" pitchFamily="34" charset="-122"/>
                <a:cs typeface="Calibri" pitchFamily="34" charset="-120"/>
              </a:rPr>
              <a:t>An earlier version of this rule said OR. Declining alone keeps a feature out of the paths the flag gates — but its resolve() can still be called directly by something walking references at a caret, and unguarded, that throws during indexing and can take an unrelated popup down with it.</a:t>
            </a:r>
            <a:endParaRPr lang="en-US" sz="1550" dirty="0"/>
          </a:p>
        </p:txBody>
      </p:sp>
      <p:sp>
        <p:nvSpPr>
          <p:cNvPr id="5" name="Text 3"/>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docs/glossary.md “dumb mode”; docs/platform-mechanisms.md; CLAUDE.md “Rules no build gate enforces”</a:t>
            </a:r>
            <a:endParaRPr lang="en-US" sz="950" dirty="0"/>
          </a:p>
        </p:txBody>
      </p:sp>
      <p:sp>
        <p:nvSpPr>
          <p:cNvPr id="7" name="Text 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2 · PLUGIN DEV</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Invalidation is declared up front, not triggered by hand</a:t>
            </a:r>
            <a:endParaRPr lang="en-US" sz="2300" dirty="0"/>
          </a:p>
        </p:txBody>
      </p:sp>
      <p:sp>
        <p:nvSpPr>
          <p:cNvPr id="4" name="Shape 2"/>
          <p:cNvSpPr/>
          <p:nvPr/>
        </p:nvSpPr>
        <p:spPr>
          <a:xfrm>
            <a:off x="640080" y="1737360"/>
            <a:ext cx="5120640" cy="1417320"/>
          </a:xfrm>
          <a:prstGeom prst="roundRect">
            <a:avLst>
              <a:gd name="adj" fmla="val 4516"/>
            </a:avLst>
          </a:prstGeom>
          <a:solidFill>
            <a:srgbClr val="F6F7FB"/>
          </a:solidFill>
          <a:ln w="12700">
            <a:solidFill>
              <a:srgbClr val="E2E5F0"/>
            </a:solidFill>
            <a:prstDash val="solid"/>
          </a:ln>
        </p:spPr>
      </p:sp>
      <p:sp>
        <p:nvSpPr>
          <p:cNvPr id="5" name="Text 3"/>
          <p:cNvSpPr/>
          <p:nvPr/>
        </p:nvSpPr>
        <p:spPr>
          <a:xfrm>
            <a:off x="731520" y="1810512"/>
            <a:ext cx="4937760" cy="779526"/>
          </a:xfrm>
          <a:prstGeom prst="rect">
            <a:avLst/>
          </a:prstGeom>
          <a:noFill/>
          <a:ln/>
        </p:spPr>
        <p:txBody>
          <a:bodyPr wrap="square" rtlCol="0" anchor="b"/>
          <a:lstStyle/>
          <a:p>
            <a:pPr algn="ctr" indent="0" marL="0">
              <a:buNone/>
            </a:pPr>
            <a:r>
              <a:rPr lang="en-US" sz="1500" b="1" dirty="0">
                <a:solidFill>
                  <a:srgbClr val="1B2340"/>
                </a:solidFill>
                <a:latin typeface="Calibri" pitchFamily="34" charset="0"/>
                <a:ea typeface="Calibri" pitchFamily="34" charset="-122"/>
                <a:cs typeface="Calibri" pitchFamily="34" charset="-120"/>
              </a:rPr>
              <a:t>The Java instinct</a:t>
            </a:r>
            <a:endParaRPr lang="en-US" sz="1500" dirty="0"/>
          </a:p>
        </p:txBody>
      </p:sp>
      <p:sp>
        <p:nvSpPr>
          <p:cNvPr id="6" name="Text 4"/>
          <p:cNvSpPr/>
          <p:nvPr/>
        </p:nvSpPr>
        <p:spPr>
          <a:xfrm>
            <a:off x="731520" y="2474366"/>
            <a:ext cx="4937760" cy="623621"/>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ConcurrentHashMap&lt;Path, Model&gt;</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you populate and evict by hand</a:t>
            </a:r>
            <a:endParaRPr lang="en-US" sz="950" dirty="0"/>
          </a:p>
        </p:txBody>
      </p:sp>
      <p:sp>
        <p:nvSpPr>
          <p:cNvPr id="7" name="Shape 5"/>
          <p:cNvSpPr/>
          <p:nvPr/>
        </p:nvSpPr>
        <p:spPr>
          <a:xfrm>
            <a:off x="6035040" y="1737360"/>
            <a:ext cx="5486400" cy="1417320"/>
          </a:xfrm>
          <a:prstGeom prst="roundRect">
            <a:avLst>
              <a:gd name="adj" fmla="val 4516"/>
            </a:avLst>
          </a:prstGeom>
          <a:solidFill>
            <a:srgbClr val="141B3C"/>
          </a:solidFill>
          <a:ln w="12700">
            <a:solidFill>
              <a:srgbClr val="E2E5F0"/>
            </a:solidFill>
            <a:prstDash val="solid"/>
          </a:ln>
        </p:spPr>
      </p:sp>
      <p:sp>
        <p:nvSpPr>
          <p:cNvPr id="8" name="Text 6"/>
          <p:cNvSpPr/>
          <p:nvPr/>
        </p:nvSpPr>
        <p:spPr>
          <a:xfrm>
            <a:off x="6126480" y="1810512"/>
            <a:ext cx="5303520" cy="779526"/>
          </a:xfrm>
          <a:prstGeom prst="rect">
            <a:avLst/>
          </a:prstGeom>
          <a:noFill/>
          <a:ln/>
        </p:spPr>
        <p:txBody>
          <a:bodyPr wrap="square" rtlCol="0" anchor="b"/>
          <a:lstStyle/>
          <a:p>
            <a:pPr algn="ctr" indent="0" marL="0">
              <a:buNone/>
            </a:pPr>
            <a:r>
              <a:rPr lang="en-US" sz="1500" b="1" dirty="0">
                <a:solidFill>
                  <a:srgbClr val="FFFFFF"/>
                </a:solidFill>
                <a:latin typeface="Calibri" pitchFamily="34" charset="0"/>
                <a:ea typeface="Calibri" pitchFamily="34" charset="-122"/>
                <a:cs typeface="Calibri" pitchFamily="34" charset="-120"/>
              </a:rPr>
              <a:t>CachedValuesManager</a:t>
            </a:r>
            <a:endParaRPr lang="en-US" sz="1500" dirty="0"/>
          </a:p>
        </p:txBody>
      </p:sp>
      <p:sp>
        <p:nvSpPr>
          <p:cNvPr id="9" name="Text 7"/>
          <p:cNvSpPr/>
          <p:nvPr/>
        </p:nvSpPr>
        <p:spPr>
          <a:xfrm>
            <a:off x="6126480" y="2474366"/>
            <a:ext cx="5303520" cy="623621"/>
          </a:xfrm>
          <a:prstGeom prst="rect">
            <a:avLst/>
          </a:prstGeom>
          <a:noFill/>
          <a:ln/>
        </p:spPr>
        <p:txBody>
          <a:bodyPr wrap="square" rtlCol="0" anchor="t"/>
          <a:lstStyle/>
          <a:p>
            <a:pPr algn="ctr" indent="0" marL="0">
              <a:buNone/>
            </a:pPr>
            <a:r>
              <a:rPr lang="en-US" sz="950" dirty="0">
                <a:solidFill>
                  <a:srgbClr val="CFE0FF"/>
                </a:solidFill>
                <a:latin typeface="Calibri" pitchFamily="34" charset="0"/>
                <a:ea typeface="Calibri" pitchFamily="34" charset="-122"/>
                <a:cs typeface="Calibri" pitchFamily="34" charset="-120"/>
              </a:rPr>
              <a:t>a Caffeine cache with a declared</a:t>
            </a:r>
            <a:endParaRPr lang="en-US" sz="950" dirty="0"/>
          </a:p>
          <a:p>
            <a:pPr algn="ctr" indent="0" marL="0">
              <a:buNone/>
            </a:pPr>
            <a:r>
              <a:rPr lang="en-US" sz="950" dirty="0">
                <a:solidFill>
                  <a:srgbClr val="CFE0FF"/>
                </a:solidFill>
                <a:latin typeface="Calibri" pitchFamily="34" charset="0"/>
                <a:ea typeface="Calibri" pitchFamily="34" charset="-122"/>
                <a:cs typeface="Calibri" pitchFamily="34" charset="-120"/>
              </a:rPr>
              <a:t>Expiry — invalidation is configuration</a:t>
            </a:r>
            <a:endParaRPr lang="en-US" sz="950" dirty="0"/>
          </a:p>
        </p:txBody>
      </p:sp>
      <p:sp>
        <p:nvSpPr>
          <p:cNvPr id="10" name="Text 8"/>
          <p:cNvSpPr/>
          <p:nvPr/>
        </p:nvSpPr>
        <p:spPr>
          <a:xfrm>
            <a:off x="640080" y="3383280"/>
            <a:ext cx="10881360" cy="365760"/>
          </a:xfrm>
          <a:prstGeom prst="rect">
            <a:avLst/>
          </a:prstGeom>
          <a:noFill/>
          <a:ln/>
        </p:spPr>
        <p:txBody>
          <a:bodyPr wrap="square" rtlCol="0" anchor="ctr"/>
          <a:lstStyle/>
          <a:p>
            <a:pPr indent="0" marL="0">
              <a:buNone/>
            </a:pPr>
            <a:r>
              <a:rPr lang="en-US" sz="1350" b="1" dirty="0">
                <a:solidFill>
                  <a:srgbClr val="1B2340"/>
                </a:solidFill>
                <a:latin typeface="Calibri" pitchFamily="34" charset="0"/>
                <a:ea typeface="Calibri" pitchFamily="34" charset="-122"/>
                <a:cs typeface="Calibri" pitchFamily="34" charset="-120"/>
              </a:rPr>
              <a:t>SolrConfigsetReader.modelFor — the one place this plugin uses it:</a:t>
            </a:r>
            <a:endParaRPr lang="en-US" sz="1350" dirty="0"/>
          </a:p>
        </p:txBody>
      </p:sp>
      <p:sp>
        <p:nvSpPr>
          <p:cNvPr id="11" name="Shape 9"/>
          <p:cNvSpPr/>
          <p:nvPr/>
        </p:nvSpPr>
        <p:spPr>
          <a:xfrm>
            <a:off x="640080" y="3794760"/>
            <a:ext cx="5120640" cy="1371600"/>
          </a:xfrm>
          <a:prstGeom prst="roundRect">
            <a:avLst>
              <a:gd name="adj" fmla="val 4667"/>
            </a:avLst>
          </a:prstGeom>
          <a:solidFill>
            <a:srgbClr val="FFFFFF"/>
          </a:solidFill>
          <a:ln w="12700">
            <a:solidFill>
              <a:srgbClr val="E2E5F0"/>
            </a:solidFill>
            <a:prstDash val="solid"/>
          </a:ln>
        </p:spPr>
      </p:sp>
      <p:sp>
        <p:nvSpPr>
          <p:cNvPr id="12" name="Text 10"/>
          <p:cNvSpPr/>
          <p:nvPr/>
        </p:nvSpPr>
        <p:spPr>
          <a:xfrm>
            <a:off x="731520" y="3867912"/>
            <a:ext cx="4937760" cy="754380"/>
          </a:xfrm>
          <a:prstGeom prst="rect">
            <a:avLst/>
          </a:prstGeom>
          <a:noFill/>
          <a:ln/>
        </p:spPr>
        <p:txBody>
          <a:bodyPr wrap="square" rtlCol="0" anchor="b"/>
          <a:lstStyle/>
          <a:p>
            <a:pPr algn="ctr" indent="0" marL="0">
              <a:buNone/>
            </a:pPr>
            <a:r>
              <a:rPr lang="en-US" sz="1350" b="1" dirty="0">
                <a:solidFill>
                  <a:srgbClr val="1B2340"/>
                </a:solidFill>
                <a:latin typeface="Calibri" pitchFamily="34" charset="0"/>
                <a:ea typeface="Calibri" pitchFamily="34" charset="-122"/>
                <a:cs typeface="Calibri" pitchFamily="34" charset="-120"/>
              </a:rPr>
              <a:t>Hangs on the PsiDirectory</a:t>
            </a:r>
            <a:endParaRPr lang="en-US" sz="1350" dirty="0"/>
          </a:p>
        </p:txBody>
      </p:sp>
      <p:sp>
        <p:nvSpPr>
          <p:cNvPr id="13" name="Text 11"/>
          <p:cNvSpPr/>
          <p:nvPr/>
        </p:nvSpPr>
        <p:spPr>
          <a:xfrm>
            <a:off x="731520" y="4507992"/>
            <a:ext cx="4937760" cy="603504"/>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not a map this class owns —</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a path-keyed map outlives the</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configset it once named</a:t>
            </a:r>
            <a:endParaRPr lang="en-US" sz="950" dirty="0"/>
          </a:p>
        </p:txBody>
      </p:sp>
      <p:sp>
        <p:nvSpPr>
          <p:cNvPr id="14" name="Shape 12"/>
          <p:cNvSpPr/>
          <p:nvPr/>
        </p:nvSpPr>
        <p:spPr>
          <a:xfrm>
            <a:off x="6035040" y="3794760"/>
            <a:ext cx="5486400" cy="1371600"/>
          </a:xfrm>
          <a:prstGeom prst="roundRect">
            <a:avLst>
              <a:gd name="adj" fmla="val 4667"/>
            </a:avLst>
          </a:prstGeom>
          <a:solidFill>
            <a:srgbClr val="FFFFFF"/>
          </a:solidFill>
          <a:ln w="12700">
            <a:solidFill>
              <a:srgbClr val="E2E5F0"/>
            </a:solidFill>
            <a:prstDash val="solid"/>
          </a:ln>
        </p:spPr>
      </p:sp>
      <p:sp>
        <p:nvSpPr>
          <p:cNvPr id="15" name="Text 13"/>
          <p:cNvSpPr/>
          <p:nvPr/>
        </p:nvSpPr>
        <p:spPr>
          <a:xfrm>
            <a:off x="6126480" y="3867912"/>
            <a:ext cx="5303520" cy="754380"/>
          </a:xfrm>
          <a:prstGeom prst="rect">
            <a:avLst/>
          </a:prstGeom>
          <a:noFill/>
          <a:ln/>
        </p:spPr>
        <p:txBody>
          <a:bodyPr wrap="square" rtlCol="0" anchor="b"/>
          <a:lstStyle/>
          <a:p>
            <a:pPr algn="ctr" indent="0" marL="0">
              <a:buNone/>
            </a:pPr>
            <a:r>
              <a:rPr lang="en-US" sz="1350" b="1" dirty="0">
                <a:solidFill>
                  <a:srgbClr val="1B2340"/>
                </a:solidFill>
                <a:latin typeface="Calibri" pitchFamily="34" charset="0"/>
                <a:ea typeface="Calibri" pitchFamily="34" charset="-122"/>
                <a:cs typeface="Calibri" pitchFamily="34" charset="-120"/>
              </a:rPr>
              <a:t>Deps: both files’ PSI + VFS count</a:t>
            </a:r>
            <a:endParaRPr lang="en-US" sz="1350" dirty="0"/>
          </a:p>
        </p:txBody>
      </p:sp>
      <p:sp>
        <p:nvSpPr>
          <p:cNvPr id="16" name="Text 14"/>
          <p:cNvSpPr/>
          <p:nvPr/>
        </p:nvSpPr>
        <p:spPr>
          <a:xfrm>
            <a:off x="6126480" y="4507992"/>
            <a:ext cx="5303520" cy="603504"/>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NOT PsiModificationTracker—</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that fires on ANY PSI change</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anywhere in the project</a:t>
            </a:r>
            <a:endParaRPr lang="en-US" sz="950" dirty="0"/>
          </a:p>
        </p:txBody>
      </p:sp>
      <p:sp>
        <p:nvSpPr>
          <p:cNvPr id="17" name="Text 15"/>
          <p:cNvSpPr/>
          <p:nvPr/>
        </p:nvSpPr>
        <p:spPr>
          <a:xfrm>
            <a:off x="640080" y="5394960"/>
            <a:ext cx="10881360" cy="594360"/>
          </a:xfrm>
          <a:prstGeom prst="rect">
            <a:avLst/>
          </a:prstGeom>
          <a:noFill/>
          <a:ln/>
        </p:spPr>
        <p:txBody>
          <a:bodyPr wrap="square" rtlCol="0" anchor="t"/>
          <a:lstStyle/>
          <a:p>
            <a:pPr algn="ctr" indent="0" marL="0">
              <a:buNone/>
            </a:pPr>
            <a:r>
              <a:rPr lang="en-US" sz="1250" i="1" dirty="0">
                <a:solidFill>
                  <a:srgbClr val="D9531E"/>
                </a:solidFill>
                <a:latin typeface="Calibri" pitchFamily="34" charset="0"/>
                <a:ea typeface="Calibri" pitchFamily="34" charset="-122"/>
                <a:cs typeface="Calibri" pitchFamily="34" charset="-120"/>
              </a:rPr>
              <a:t>“Never build a cache in front of SolrConfigsetReader.modelFor — a fact it doesn’t already read must join its dependency list.” — CLAUDE.md</a:t>
            </a:r>
            <a:endParaRPr lang="en-US" sz="1250" dirty="0"/>
          </a:p>
        </p:txBody>
      </p:sp>
      <p:sp>
        <p:nvSpPr>
          <p:cNvPr id="18" name="Text 16"/>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docs/glossary.md “CachedValuesManager”; configset/reading/SolrConfigsetReader.kt; docs/platform-mechanisms.md</a:t>
            </a:r>
            <a:endParaRPr lang="en-US" sz="950" dirty="0"/>
          </a:p>
        </p:txBody>
      </p:sp>
      <p:sp>
        <p:nvSpPr>
          <p:cNvPr id="20" name="Text 17"/>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2 · PLUGIN DEV</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000" b="1" dirty="0">
                <a:solidFill>
                  <a:srgbClr val="1B2340"/>
                </a:solidFill>
                <a:latin typeface="Cambria" pitchFamily="34" charset="0"/>
                <a:ea typeface="Cambria" pitchFamily="34" charset="-122"/>
                <a:cs typeface="Cambria" pitchFamily="34" charset="-120"/>
              </a:rPr>
              <a:t>BasePlatformTestCase is @SpringBootTest, not a plain unit test — and its JUnit version is a trap</a:t>
            </a:r>
            <a:endParaRPr lang="en-US" sz="2000" dirty="0"/>
          </a:p>
        </p:txBody>
      </p:sp>
      <p:sp>
        <p:nvSpPr>
          <p:cNvPr id="4" name="Text 2"/>
          <p:cNvSpPr/>
          <p:nvPr/>
        </p:nvSpPr>
        <p:spPr>
          <a:xfrm>
            <a:off x="640080" y="1554480"/>
            <a:ext cx="10607040" cy="4617720"/>
          </a:xfrm>
          <a:prstGeom prst="rect">
            <a:avLst/>
          </a:prstGeom>
          <a:noFill/>
          <a:ln/>
        </p:spPr>
        <p:txBody>
          <a:bodyPr wrap="square" rtlCol="0" anchor="t"/>
          <a:lstStyle/>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Anything with PSI in it boots a real, headless IDE — closer to @SpringBootTest than to a mock.</a:t>
            </a:r>
            <a:endParaRPr lang="en-US" sz="1550" dirty="0"/>
          </a:p>
          <a:p>
            <a:pPr marL="228600" indent="-228600">
              <a:lnSpc>
                <a:spcPct val="112000"/>
              </a:lnSpc>
              <a:spcAft>
                <a:spcPts val="1100"/>
              </a:spcAft>
              <a:buSzPct val="100000"/>
              <a:buChar char="•"/>
            </a:pPr>
            <a:r>
              <a:rPr lang="en-US" sz="1500" dirty="0">
                <a:solidFill>
                  <a:srgbClr val="1B2340"/>
                </a:solidFill>
                <a:latin typeface="Calibri" pitchFamily="34" charset="0"/>
                <a:ea typeface="Calibri" pitchFamily="34" charset="-122"/>
                <a:cs typeface="Calibri" pitchFamily="34" charset="-120"/>
              </a:rPr>
              <a:t>Despite the JUnit 4 dependency, it is JUnit-3-STYLE: methods must be named testSomething() and are found by that prefix, not by @Test. An @Test method with a different name silently does not run.</a:t>
            </a:r>
            <a:endParaRPr lang="en-US" sz="1550" dirty="0"/>
          </a:p>
          <a:p>
            <a:pPr indent="0" marL="0">
              <a:lnSpc>
                <a:spcPct val="112000"/>
              </a:lnSpc>
              <a:spcAft>
                <a:spcPts val="400"/>
              </a:spcAft>
              <a:buNone/>
            </a:pPr>
            <a:r>
              <a:rPr lang="en-US" sz="600" dirty="0">
                <a:solidFill>
                  <a:srgbClr val="1B2340"/>
                </a:solidFill>
                <a:latin typeface="Calibri" pitchFamily="34" charset="0"/>
                <a:ea typeface="Calibri" pitchFamily="34" charset="-122"/>
                <a:cs typeface="Calibri" pitchFamily="34" charset="-120"/>
              </a:rPr>
              <a:t> </a:t>
            </a:r>
            <a:endParaRPr lang="en-US" sz="1550" dirty="0"/>
          </a:p>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Anything importing nothing from the platform is plain JUnit 4 — more than a third of this suite, 59 of 156 test files.</a:t>
            </a:r>
            <a:endParaRPr lang="en-US" sz="1550" dirty="0"/>
          </a:p>
          <a:p>
            <a:pPr marL="228600" indent="-228600">
              <a:lnSpc>
                <a:spcPct val="112000"/>
              </a:lnSpc>
              <a:spcAft>
                <a:spcPts val="1100"/>
              </a:spcAft>
              <a:buSzPct val="100000"/>
              <a:buChar char="•"/>
            </a:pPr>
            <a:r>
              <a:rPr lang="en-US" sz="1500" dirty="0">
                <a:solidFill>
                  <a:srgbClr val="1B2340"/>
                </a:solidFill>
                <a:latin typeface="Calibri" pitchFamily="34" charset="0"/>
                <a:ea typeface="Calibri" pitchFamily="34" charset="-122"/>
                <a:cs typeface="Calibri" pitchFamily="34" charset="-120"/>
              </a:rPr>
              <a:t>No container to boot, milliseconds instead of a second per test — this is what model importing zero IntelliJ types buys, concretely (see Act 3).</a:t>
            </a:r>
            <a:endParaRPr lang="en-US" sz="1550" dirty="0"/>
          </a:p>
          <a:p>
            <a:pPr indent="0" marL="0">
              <a:lnSpc>
                <a:spcPct val="112000"/>
              </a:lnSpc>
              <a:spcAft>
                <a:spcPts val="400"/>
              </a:spcAft>
              <a:buNone/>
            </a:pPr>
            <a:r>
              <a:rPr lang="en-US" sz="600" dirty="0">
                <a:solidFill>
                  <a:srgbClr val="1B2340"/>
                </a:solidFill>
                <a:latin typeface="Calibri" pitchFamily="34" charset="0"/>
                <a:ea typeface="Calibri" pitchFamily="34" charset="-122"/>
                <a:cs typeface="Calibri" pitchFamily="34" charset="-120"/>
              </a:rPr>
              <a:t> </a:t>
            </a:r>
            <a:endParaRPr lang="en-US" sz="1550" dirty="0"/>
          </a:p>
          <a:p>
            <a:pPr indent="0" marL="0">
              <a:lnSpc>
                <a:spcPct val="112000"/>
              </a:lnSpc>
              <a:spcAft>
                <a:spcPts val="500"/>
              </a:spcAft>
              <a:buNone/>
            </a:pPr>
            <a:r>
              <a:rPr lang="en-US" sz="1550" b="1" i="1" dirty="0">
                <a:solidFill>
                  <a:srgbClr val="D9531E"/>
                </a:solidFill>
                <a:latin typeface="Calibri" pitchFamily="34" charset="0"/>
                <a:ea typeface="Calibri" pitchFamily="34" charset="-122"/>
                <a:cs typeface="Calibri" pitchFamily="34" charset="-120"/>
              </a:rPr>
              <a:t>A green ./gradlew build is not the same as a working feature.</a:t>
            </a:r>
            <a:endParaRPr lang="en-US" sz="1550" dirty="0"/>
          </a:p>
          <a:p>
            <a:pPr marL="228600" indent="-228600">
              <a:lnSpc>
                <a:spcPct val="112000"/>
              </a:lnSpc>
              <a:spcAft>
                <a:spcPts val="1100"/>
              </a:spcAft>
              <a:buSzPct val="100000"/>
              <a:buChar char="•"/>
            </a:pPr>
            <a:r>
              <a:rPr lang="en-US" sz="1500" dirty="0">
                <a:solidFill>
                  <a:srgbClr val="1B2340"/>
                </a:solidFill>
                <a:latin typeface="Calibri" pitchFamily="34" charset="0"/>
                <a:ea typeface="Calibri" pitchFamily="34" charset="-122"/>
                <a:cs typeface="Calibri" pitchFamily="34" charset="-120"/>
              </a:rPr>
              <a:t>Every fixture test builds its subject directly and never touches plugin.xml. A package rename once left three inspection registrations pointing at a deleted package: the build was green, all three were dead in the real IDE. SolrPluginDescriptorTest — plain JUnit, reflection over every plugin.xml class name — closes exactly that gap in milliseconds.</a:t>
            </a:r>
            <a:endParaRPr lang="en-US" sz="1550" dirty="0"/>
          </a:p>
        </p:txBody>
      </p:sp>
      <p:sp>
        <p:nvSpPr>
          <p:cNvPr id="5" name="Text 3"/>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docs/glossary.md “BasePlatformTestCase”, “plugin.xml”; docs/how-to/testing-and-the-build-gates.md</a:t>
            </a:r>
            <a:endParaRPr lang="en-US" sz="950" dirty="0"/>
          </a:p>
        </p:txBody>
      </p:sp>
      <p:sp>
        <p:nvSpPr>
          <p:cNvPr id="7" name="Text 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2 · RECAP</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500" b="1" dirty="0">
                <a:solidFill>
                  <a:srgbClr val="1B2340"/>
                </a:solidFill>
                <a:latin typeface="Cambria" pitchFamily="34" charset="0"/>
                <a:ea typeface="Cambria" pitchFamily="34" charset="-122"/>
                <a:cs typeface="Cambria" pitchFamily="34" charset="-120"/>
              </a:rPr>
              <a:t>Four ideas that explain almost everything in Act 1</a:t>
            </a:r>
            <a:endParaRPr lang="en-US" sz="2500" dirty="0"/>
          </a:p>
        </p:txBody>
      </p:sp>
      <p:sp>
        <p:nvSpPr>
          <p:cNvPr id="4" name="Text 2"/>
          <p:cNvSpPr/>
          <p:nvPr/>
        </p:nvSpPr>
        <p:spPr>
          <a:xfrm>
            <a:off x="640080" y="1554480"/>
            <a:ext cx="10607040" cy="4617720"/>
          </a:xfrm>
          <a:prstGeom prst="rect">
            <a:avLst/>
          </a:prstGeom>
          <a:noFill/>
          <a:ln/>
        </p:spPr>
        <p:txBody>
          <a:bodyPr wrap="square" rtlCol="0" anchor="t"/>
          <a:lstStyle/>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1. Extension point = SPI — you implement an interface, plugin.xml names it, the platform calls you.</a:t>
            </a:r>
            <a:endParaRPr lang="en-US" sz="1550" dirty="0"/>
          </a:p>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2. PSI is a live, mutable AST — which is exactly why this plugin's own model holds none of it.</a:t>
            </a:r>
            <a:endParaRPr lang="en-US" sz="1550" dirty="0"/>
          </a:p>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3. Dumb mode is an index still importing — decline AND guard, not decline OR guard.</a:t>
            </a:r>
            <a:endParaRPr lang="en-US" sz="1550" dirty="0"/>
          </a:p>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4. CachedValuesManager wants declared dependencies, not a hand-rolled map you evict yourself.</a:t>
            </a:r>
            <a:endParaRPr lang="en-US" sz="1550" dirty="0"/>
          </a:p>
          <a:p>
            <a:pPr indent="0" marL="0">
              <a:lnSpc>
                <a:spcPct val="112000"/>
              </a:lnSpc>
              <a:spcAft>
                <a:spcPts val="400"/>
              </a:spcAft>
              <a:buNone/>
            </a:pPr>
            <a:r>
              <a:rPr lang="en-US" sz="600" dirty="0">
                <a:solidFill>
                  <a:srgbClr val="1B2340"/>
                </a:solidFill>
                <a:latin typeface="Calibri" pitchFamily="34" charset="0"/>
                <a:ea typeface="Calibri" pitchFamily="34" charset="-122"/>
                <a:cs typeface="Calibri" pitchFamily="34" charset="-120"/>
              </a:rPr>
              <a:t> </a:t>
            </a:r>
            <a:endParaRPr lang="en-US" sz="1550" dirty="0"/>
          </a:p>
          <a:p>
            <a:pPr marL="228600" indent="-228600">
              <a:lnSpc>
                <a:spcPct val="112000"/>
              </a:lnSpc>
              <a:spcAft>
                <a:spcPts val="1100"/>
              </a:spcAft>
              <a:buSzPct val="100000"/>
              <a:buChar char="•"/>
            </a:pPr>
            <a:r>
              <a:rPr lang="en-US" sz="1500" i="1" dirty="0">
                <a:solidFill>
                  <a:srgbClr val="1B2340"/>
                </a:solidFill>
                <a:latin typeface="Calibri" pitchFamily="34" charset="0"/>
                <a:ea typeface="Calibri" pitchFamily="34" charset="-122"/>
                <a:cs typeface="Calibri" pitchFamily="34" charset="-120"/>
              </a:rPr>
              <a:t>Contributions thin, services fat — every fact Act 1 displayed traces back to a plain function over parsed text or bytecode, tested without booting anything. Act 3 is that services layer.</a:t>
            </a:r>
            <a:endParaRPr lang="en-US" sz="1550" dirty="0"/>
          </a:p>
        </p:txBody>
      </p:sp>
      <p:sp>
        <p:nvSpPr>
          <p:cNvPr id="5" name="Text 3"/>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docs/glossary.md</a:t>
            </a:r>
            <a:endParaRPr lang="en-US" sz="950" dirty="0"/>
          </a:p>
        </p:txBody>
      </p:sp>
      <p:sp>
        <p:nvSpPr>
          <p:cNvPr id="7" name="Text 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1B3C"/>
        </a:solidFill>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1F2A56"/>
          </a:solidFill>
          <a:ln/>
        </p:spPr>
      </p:sp>
      <p:sp>
        <p:nvSpPr>
          <p:cNvPr id="3" name="Text 1"/>
          <p:cNvSpPr/>
          <p:nvPr/>
        </p:nvSpPr>
        <p:spPr>
          <a:xfrm>
            <a:off x="411480" y="502920"/>
            <a:ext cx="2651760" cy="1463040"/>
          </a:xfrm>
          <a:prstGeom prst="rect">
            <a:avLst/>
          </a:prstGeom>
          <a:noFill/>
          <a:ln/>
        </p:spPr>
        <p:txBody>
          <a:bodyPr wrap="square" rtlCol="0" anchor="ctr"/>
          <a:lstStyle/>
          <a:p>
            <a:pPr indent="0" marL="0">
              <a:buNone/>
            </a:pPr>
            <a:r>
              <a:rPr lang="en-US" sz="9000" b="1" dirty="0">
                <a:solidFill>
                  <a:srgbClr val="FF6B35"/>
                </a:solidFill>
                <a:latin typeface="Cambria" pitchFamily="34" charset="0"/>
                <a:ea typeface="Cambria" pitchFamily="34" charset="-122"/>
                <a:cs typeface="Cambria" pitchFamily="34" charset="-120"/>
              </a:rPr>
              <a:t>03</a:t>
            </a:r>
            <a:endParaRPr lang="en-US" sz="9000" dirty="0"/>
          </a:p>
        </p:txBody>
      </p:sp>
      <p:sp>
        <p:nvSpPr>
          <p:cNvPr id="4" name="Text 2"/>
          <p:cNvSpPr/>
          <p:nvPr/>
        </p:nvSpPr>
        <p:spPr>
          <a:xfrm>
            <a:off x="411480" y="1965960"/>
            <a:ext cx="2743200" cy="1463040"/>
          </a:xfrm>
          <a:prstGeom prst="rect">
            <a:avLst/>
          </a:prstGeom>
          <a:noFill/>
          <a:ln/>
        </p:spPr>
        <p:txBody>
          <a:bodyPr wrap="square" rtlCol="0" anchor="ctr"/>
          <a:lstStyle/>
          <a:p>
            <a:pPr indent="0" marL="0">
              <a:lnSpc>
                <a:spcPct val="130000"/>
              </a:lnSpc>
              <a:buNone/>
            </a:pPr>
            <a:r>
              <a:rPr lang="en-US" sz="1600" b="1" spc="150" kern="0" dirty="0">
                <a:solidFill>
                  <a:srgbClr val="CFE0FF"/>
                </a:solidFill>
                <a:latin typeface="Calibri" pitchFamily="34" charset="0"/>
                <a:ea typeface="Calibri" pitchFamily="34" charset="-122"/>
                <a:cs typeface="Calibri" pitchFamily="34" charset="-120"/>
              </a:rPr>
              <a:t>CODE LAYOUT</a:t>
            </a:r>
            <a:endParaRPr lang="en-US" sz="1600" dirty="0"/>
          </a:p>
        </p:txBody>
      </p:sp>
      <p:sp>
        <p:nvSpPr>
          <p:cNvPr id="5" name="Text 3"/>
          <p:cNvSpPr/>
          <p:nvPr/>
        </p:nvSpPr>
        <p:spPr>
          <a:xfrm>
            <a:off x="3977640" y="777240"/>
            <a:ext cx="7589520" cy="1371600"/>
          </a:xfrm>
          <a:prstGeom prst="rect">
            <a:avLst/>
          </a:prstGeom>
          <a:noFill/>
          <a:ln/>
        </p:spPr>
        <p:txBody>
          <a:bodyPr wrap="square" rtlCol="0" anchor="ctr"/>
          <a:lstStyle/>
          <a:p>
            <a:pPr indent="0" marL="0">
              <a:lnSpc>
                <a:spcPct val="115000"/>
              </a:lnSpc>
              <a:buNone/>
            </a:pPr>
            <a:r>
              <a:rPr lang="en-US" sz="2600" b="1" dirty="0">
                <a:solidFill>
                  <a:srgbClr val="FFFFFF"/>
                </a:solidFill>
                <a:latin typeface="Cambria" pitchFamily="34" charset="0"/>
                <a:ea typeface="Cambria" pitchFamily="34" charset="-122"/>
                <a:cs typeface="Cambria" pitchFamily="34" charset="-120"/>
              </a:rPr>
              <a:t>What lives where,</a:t>
            </a:r>
            <a:endParaRPr lang="en-US" sz="2600" dirty="0"/>
          </a:p>
          <a:p>
            <a:pPr indent="0" marL="0">
              <a:lnSpc>
                <a:spcPct val="115000"/>
              </a:lnSpc>
              <a:buNone/>
            </a:pPr>
            <a:r>
              <a:rPr lang="en-US" sz="2600" b="1" dirty="0">
                <a:solidFill>
                  <a:srgbClr val="FFFFFF"/>
                </a:solidFill>
                <a:latin typeface="Cambria" pitchFamily="34" charset="0"/>
                <a:ea typeface="Cambria" pitchFamily="34" charset="-122"/>
                <a:cs typeface="Cambria" pitchFamily="34" charset="-120"/>
              </a:rPr>
              <a:t>and the rules that keep it there</a:t>
            </a:r>
            <a:endParaRPr lang="en-US" sz="2600" dirty="0"/>
          </a:p>
        </p:txBody>
      </p:sp>
      <p:sp>
        <p:nvSpPr>
          <p:cNvPr id="6" name="Shape 4"/>
          <p:cNvSpPr/>
          <p:nvPr/>
        </p:nvSpPr>
        <p:spPr>
          <a:xfrm>
            <a:off x="3977640" y="2359152"/>
            <a:ext cx="91440" cy="91440"/>
          </a:xfrm>
          <a:prstGeom prst="ellipse">
            <a:avLst/>
          </a:prstGeom>
          <a:solidFill>
            <a:srgbClr val="FF6B35"/>
          </a:solidFill>
          <a:ln/>
        </p:spPr>
      </p:sp>
      <p:sp>
        <p:nvSpPr>
          <p:cNvPr id="7" name="Text 5"/>
          <p:cNvSpPr/>
          <p:nvPr/>
        </p:nvSpPr>
        <p:spPr>
          <a:xfrm>
            <a:off x="4233672" y="220370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The organizing principle — the caret test</a:t>
            </a:r>
            <a:endParaRPr lang="en-US" sz="1300" dirty="0"/>
          </a:p>
        </p:txBody>
      </p:sp>
      <p:sp>
        <p:nvSpPr>
          <p:cNvPr id="8" name="Shape 6"/>
          <p:cNvSpPr/>
          <p:nvPr/>
        </p:nvSpPr>
        <p:spPr>
          <a:xfrm>
            <a:off x="3977640" y="2724912"/>
            <a:ext cx="91440" cy="91440"/>
          </a:xfrm>
          <a:prstGeom prst="ellipse">
            <a:avLst/>
          </a:prstGeom>
          <a:solidFill>
            <a:srgbClr val="FF6B35"/>
          </a:solidFill>
          <a:ln/>
        </p:spPr>
      </p:sp>
      <p:sp>
        <p:nvSpPr>
          <p:cNvPr id="9" name="Text 7"/>
          <p:cNvSpPr/>
          <p:nvPr/>
        </p:nvSpPr>
        <p:spPr>
          <a:xfrm>
            <a:off x="4233672" y="256946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The tree, by weight</a:t>
            </a:r>
            <a:endParaRPr lang="en-US" sz="1300" dirty="0"/>
          </a:p>
        </p:txBody>
      </p:sp>
      <p:sp>
        <p:nvSpPr>
          <p:cNvPr id="10" name="Shape 8"/>
          <p:cNvSpPr/>
          <p:nvPr/>
        </p:nvSpPr>
        <p:spPr>
          <a:xfrm>
            <a:off x="3977640" y="3090672"/>
            <a:ext cx="91440" cy="91440"/>
          </a:xfrm>
          <a:prstGeom prst="ellipse">
            <a:avLst/>
          </a:prstGeom>
          <a:solidFill>
            <a:srgbClr val="FF6B35"/>
          </a:solidFill>
          <a:ln/>
        </p:spPr>
      </p:sp>
      <p:sp>
        <p:nvSpPr>
          <p:cNvPr id="11" name="Text 9"/>
          <p:cNvSpPr/>
          <p:nvPr/>
        </p:nvSpPr>
        <p:spPr>
          <a:xfrm>
            <a:off x="4233672" y="293522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model/ — a domain layer with zero platform imports</a:t>
            </a:r>
            <a:endParaRPr lang="en-US" sz="1300" dirty="0"/>
          </a:p>
        </p:txBody>
      </p:sp>
      <p:sp>
        <p:nvSpPr>
          <p:cNvPr id="12" name="Shape 10"/>
          <p:cNvSpPr/>
          <p:nvPr/>
        </p:nvSpPr>
        <p:spPr>
          <a:xfrm>
            <a:off x="3977640" y="3456432"/>
            <a:ext cx="91440" cy="91440"/>
          </a:xfrm>
          <a:prstGeom prst="ellipse">
            <a:avLst/>
          </a:prstGeom>
          <a:solidFill>
            <a:srgbClr val="FF6B35"/>
          </a:solidFill>
          <a:ln/>
        </p:spPr>
      </p:sp>
      <p:sp>
        <p:nvSpPr>
          <p:cNvPr id="13" name="Text 11"/>
          <p:cNvSpPr/>
          <p:nvPr/>
        </p:nvSpPr>
        <p:spPr>
          <a:xfrm>
            <a:off x="4233672" y="330098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The one prohibition the whole tree protects</a:t>
            </a:r>
            <a:endParaRPr lang="en-US" sz="1300" dirty="0"/>
          </a:p>
        </p:txBody>
      </p:sp>
      <p:sp>
        <p:nvSpPr>
          <p:cNvPr id="14" name="Shape 12"/>
          <p:cNvSpPr/>
          <p:nvPr/>
        </p:nvSpPr>
        <p:spPr>
          <a:xfrm>
            <a:off x="3977640" y="3822192"/>
            <a:ext cx="91440" cy="91440"/>
          </a:xfrm>
          <a:prstGeom prst="ellipse">
            <a:avLst/>
          </a:prstGeom>
          <a:solidFill>
            <a:srgbClr val="FF6B35"/>
          </a:solidFill>
          <a:ln/>
        </p:spPr>
      </p:sp>
      <p:sp>
        <p:nvSpPr>
          <p:cNvPr id="15" name="Text 13"/>
          <p:cNvSpPr/>
          <p:nvPr/>
        </p:nvSpPr>
        <p:spPr>
          <a:xfrm>
            <a:off x="4233672" y="366674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The shared layer — parsing vs. reading</a:t>
            </a:r>
            <a:endParaRPr lang="en-US" sz="1300" dirty="0"/>
          </a:p>
        </p:txBody>
      </p:sp>
      <p:sp>
        <p:nvSpPr>
          <p:cNvPr id="16" name="Shape 14"/>
          <p:cNvSpPr/>
          <p:nvPr/>
        </p:nvSpPr>
        <p:spPr>
          <a:xfrm>
            <a:off x="3977640" y="4187952"/>
            <a:ext cx="91440" cy="91440"/>
          </a:xfrm>
          <a:prstGeom prst="ellipse">
            <a:avLst/>
          </a:prstGeom>
          <a:solidFill>
            <a:srgbClr val="FF6B35"/>
          </a:solidFill>
          <a:ln/>
        </p:spPr>
      </p:sp>
      <p:sp>
        <p:nvSpPr>
          <p:cNvPr id="17" name="Text 15"/>
          <p:cNvSpPr/>
          <p:nvPr/>
        </p:nvSpPr>
        <p:spPr>
          <a:xfrm>
            <a:off x="4233672" y="403250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server/ and where later work goes</a:t>
            </a:r>
            <a:endParaRPr lang="en-US" sz="1300" dirty="0"/>
          </a:p>
        </p:txBody>
      </p:sp>
      <p:sp>
        <p:nvSpPr>
          <p:cNvPr id="19" name="Text 1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3 · CODE LAYOUT</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200" b="1" dirty="0">
                <a:solidFill>
                  <a:srgbClr val="1B2340"/>
                </a:solidFill>
                <a:latin typeface="Cambria" pitchFamily="34" charset="0"/>
                <a:ea typeface="Cambria" pitchFamily="34" charset="-122"/>
                <a:cs typeface="Cambria" pitchFamily="34" charset="-120"/>
              </a:rPr>
              <a:t>The caret test: which file is the user's cursor in when this fires?</a:t>
            </a:r>
            <a:endParaRPr lang="en-US" sz="2200" dirty="0"/>
          </a:p>
        </p:txBody>
      </p:sp>
      <p:sp>
        <p:nvSpPr>
          <p:cNvPr id="4" name="Shape 2"/>
          <p:cNvSpPr/>
          <p:nvPr/>
        </p:nvSpPr>
        <p:spPr>
          <a:xfrm>
            <a:off x="640080" y="1554480"/>
            <a:ext cx="3383280" cy="914400"/>
          </a:xfrm>
          <a:prstGeom prst="roundRect">
            <a:avLst>
              <a:gd name="adj" fmla="val 7000"/>
            </a:avLst>
          </a:prstGeom>
          <a:solidFill>
            <a:srgbClr val="141B3C"/>
          </a:solidFill>
          <a:ln w="12700">
            <a:solidFill>
              <a:srgbClr val="E2E5F0"/>
            </a:solidFill>
            <a:prstDash val="solid"/>
          </a:ln>
        </p:spPr>
      </p:sp>
      <p:sp>
        <p:nvSpPr>
          <p:cNvPr id="5" name="Text 3"/>
          <p:cNvSpPr/>
          <p:nvPr/>
        </p:nvSpPr>
        <p:spPr>
          <a:xfrm>
            <a:off x="731520" y="1627632"/>
            <a:ext cx="3200400" cy="502920"/>
          </a:xfrm>
          <a:prstGeom prst="rect">
            <a:avLst/>
          </a:prstGeom>
          <a:noFill/>
          <a:ln/>
        </p:spPr>
        <p:txBody>
          <a:bodyPr wrap="square" rtlCol="0" anchor="b"/>
          <a:lstStyle/>
          <a:p>
            <a:pPr algn="ctr" indent="0" marL="0">
              <a:buNone/>
            </a:pPr>
            <a:r>
              <a:rPr lang="en-US" sz="1500" b="1" dirty="0">
                <a:solidFill>
                  <a:srgbClr val="FFFFFF"/>
                </a:solidFill>
                <a:latin typeface="Calibri" pitchFamily="34" charset="0"/>
                <a:ea typeface="Calibri" pitchFamily="34" charset="-122"/>
                <a:cs typeface="Calibri" pitchFamily="34" charset="-120"/>
              </a:rPr>
              <a:t>Surface</a:t>
            </a:r>
            <a:endParaRPr lang="en-US" sz="1500" dirty="0"/>
          </a:p>
        </p:txBody>
      </p:sp>
      <p:sp>
        <p:nvSpPr>
          <p:cNvPr id="6" name="Text 4"/>
          <p:cNvSpPr/>
          <p:nvPr/>
        </p:nvSpPr>
        <p:spPr>
          <a:xfrm>
            <a:off x="731520" y="2029968"/>
            <a:ext cx="3200400" cy="402336"/>
          </a:xfrm>
          <a:prstGeom prst="rect">
            <a:avLst/>
          </a:prstGeom>
          <a:noFill/>
          <a:ln/>
        </p:spPr>
        <p:txBody>
          <a:bodyPr wrap="square" rtlCol="0" anchor="t"/>
          <a:lstStyle/>
          <a:p>
            <a:pPr algn="ctr" indent="0" marL="0">
              <a:buNone/>
            </a:pPr>
            <a:r>
              <a:rPr lang="en-US" sz="950" dirty="0">
                <a:solidFill>
                  <a:srgbClr val="CFE0FF"/>
                </a:solidFill>
                <a:latin typeface="Calibri" pitchFamily="34" charset="0"/>
                <a:ea typeface="Calibri" pitchFamily="34" charset="-122"/>
                <a:cs typeface="Calibri" pitchFamily="34" charset="-120"/>
              </a:rPr>
              <a:t>configset · server · (code)</a:t>
            </a:r>
            <a:endParaRPr lang="en-US" sz="950" dirty="0"/>
          </a:p>
        </p:txBody>
      </p:sp>
      <p:sp>
        <p:nvSpPr>
          <p:cNvPr id="7" name="Shape 5"/>
          <p:cNvSpPr/>
          <p:nvPr/>
        </p:nvSpPr>
        <p:spPr>
          <a:xfrm>
            <a:off x="4160520" y="1929384"/>
            <a:ext cx="548640" cy="164592"/>
          </a:xfrm>
          <a:prstGeom prst="rightArrow">
            <a:avLst/>
          </a:prstGeom>
          <a:solidFill>
            <a:srgbClr val="FF6B35"/>
          </a:solidFill>
          <a:ln/>
        </p:spPr>
      </p:sp>
      <p:sp>
        <p:nvSpPr>
          <p:cNvPr id="8" name="Shape 6"/>
          <p:cNvSpPr/>
          <p:nvPr/>
        </p:nvSpPr>
        <p:spPr>
          <a:xfrm>
            <a:off x="4800600" y="1554480"/>
            <a:ext cx="3383280" cy="914400"/>
          </a:xfrm>
          <a:prstGeom prst="roundRect">
            <a:avLst>
              <a:gd name="adj" fmla="val 7000"/>
            </a:avLst>
          </a:prstGeom>
          <a:solidFill>
            <a:srgbClr val="1F2A56"/>
          </a:solidFill>
          <a:ln w="12700">
            <a:solidFill>
              <a:srgbClr val="E2E5F0"/>
            </a:solidFill>
            <a:prstDash val="solid"/>
          </a:ln>
        </p:spPr>
      </p:sp>
      <p:sp>
        <p:nvSpPr>
          <p:cNvPr id="9" name="Text 7"/>
          <p:cNvSpPr/>
          <p:nvPr/>
        </p:nvSpPr>
        <p:spPr>
          <a:xfrm>
            <a:off x="4892040" y="1627632"/>
            <a:ext cx="3200400" cy="502920"/>
          </a:xfrm>
          <a:prstGeom prst="rect">
            <a:avLst/>
          </a:prstGeom>
          <a:noFill/>
          <a:ln/>
        </p:spPr>
        <p:txBody>
          <a:bodyPr wrap="square" rtlCol="0" anchor="b"/>
          <a:lstStyle/>
          <a:p>
            <a:pPr algn="ctr" indent="0" marL="0">
              <a:buNone/>
            </a:pPr>
            <a:r>
              <a:rPr lang="en-US" sz="1500" b="1" dirty="0">
                <a:solidFill>
                  <a:srgbClr val="FFFFFF"/>
                </a:solidFill>
                <a:latin typeface="Calibri" pitchFamily="34" charset="0"/>
                <a:ea typeface="Calibri" pitchFamily="34" charset="-122"/>
                <a:cs typeface="Calibri" pitchFamily="34" charset="-120"/>
              </a:rPr>
              <a:t>Subject</a:t>
            </a:r>
            <a:endParaRPr lang="en-US" sz="1500" dirty="0"/>
          </a:p>
        </p:txBody>
      </p:sp>
      <p:sp>
        <p:nvSpPr>
          <p:cNvPr id="10" name="Text 8"/>
          <p:cNvSpPr/>
          <p:nvPr/>
        </p:nvSpPr>
        <p:spPr>
          <a:xfrm>
            <a:off x="4892040" y="2029968"/>
            <a:ext cx="3200400" cy="402336"/>
          </a:xfrm>
          <a:prstGeom prst="rect">
            <a:avLst/>
          </a:prstGeom>
          <a:noFill/>
          <a:ln/>
        </p:spPr>
        <p:txBody>
          <a:bodyPr wrap="square" rtlCol="0" anchor="t"/>
          <a:lstStyle/>
          <a:p>
            <a:pPr algn="ctr" indent="0" marL="0">
              <a:buNone/>
            </a:pPr>
            <a:r>
              <a:rPr lang="en-US" sz="950" dirty="0">
                <a:solidFill>
                  <a:srgbClr val="CFE0FF"/>
                </a:solidFill>
                <a:latin typeface="Calibri" pitchFamily="34" charset="0"/>
                <a:ea typeface="Calibri" pitchFamily="34" charset="-122"/>
                <a:cs typeface="Calibri" pitchFamily="34" charset="-120"/>
              </a:rPr>
              <a:t>which Solr thing — schema, solrconfig</a:t>
            </a:r>
            <a:endParaRPr lang="en-US" sz="950" dirty="0"/>
          </a:p>
        </p:txBody>
      </p:sp>
      <p:sp>
        <p:nvSpPr>
          <p:cNvPr id="11" name="Shape 9"/>
          <p:cNvSpPr/>
          <p:nvPr/>
        </p:nvSpPr>
        <p:spPr>
          <a:xfrm>
            <a:off x="8321040" y="1929384"/>
            <a:ext cx="548640" cy="164592"/>
          </a:xfrm>
          <a:prstGeom prst="rightArrow">
            <a:avLst/>
          </a:prstGeom>
          <a:solidFill>
            <a:srgbClr val="FF6B35"/>
          </a:solidFill>
          <a:ln/>
        </p:spPr>
      </p:sp>
      <p:sp>
        <p:nvSpPr>
          <p:cNvPr id="12" name="Shape 10"/>
          <p:cNvSpPr/>
          <p:nvPr/>
        </p:nvSpPr>
        <p:spPr>
          <a:xfrm>
            <a:off x="8961120" y="1554480"/>
            <a:ext cx="2468880" cy="914400"/>
          </a:xfrm>
          <a:prstGeom prst="roundRect">
            <a:avLst>
              <a:gd name="adj" fmla="val 7000"/>
            </a:avLst>
          </a:prstGeom>
          <a:solidFill>
            <a:srgbClr val="FF6B35"/>
          </a:solidFill>
          <a:ln w="12700">
            <a:solidFill>
              <a:srgbClr val="E2E5F0"/>
            </a:solidFill>
            <a:prstDash val="solid"/>
          </a:ln>
        </p:spPr>
      </p:sp>
      <p:sp>
        <p:nvSpPr>
          <p:cNvPr id="13" name="Text 11"/>
          <p:cNvSpPr/>
          <p:nvPr/>
        </p:nvSpPr>
        <p:spPr>
          <a:xfrm>
            <a:off x="9052560" y="1627632"/>
            <a:ext cx="2286000" cy="502920"/>
          </a:xfrm>
          <a:prstGeom prst="rect">
            <a:avLst/>
          </a:prstGeom>
          <a:noFill/>
          <a:ln/>
        </p:spPr>
        <p:txBody>
          <a:bodyPr wrap="square" rtlCol="0" anchor="b"/>
          <a:lstStyle/>
          <a:p>
            <a:pPr algn="ctr" indent="0" marL="0">
              <a:buNone/>
            </a:pPr>
            <a:r>
              <a:rPr lang="en-US" sz="1350" b="1" dirty="0">
                <a:solidFill>
                  <a:srgbClr val="FFFFFF"/>
                </a:solidFill>
                <a:latin typeface="Calibri" pitchFamily="34" charset="0"/>
                <a:ea typeface="Calibri" pitchFamily="34" charset="-122"/>
                <a:cs typeface="Calibri" pitchFamily="34" charset="-120"/>
              </a:rPr>
              <a:t>Gesture</a:t>
            </a:r>
            <a:endParaRPr lang="en-US" sz="1350" dirty="0"/>
          </a:p>
        </p:txBody>
      </p:sp>
      <p:sp>
        <p:nvSpPr>
          <p:cNvPr id="14" name="Text 12"/>
          <p:cNvSpPr/>
          <p:nvPr/>
        </p:nvSpPr>
        <p:spPr>
          <a:xfrm>
            <a:off x="9052560" y="2029968"/>
            <a:ext cx="2286000" cy="402336"/>
          </a:xfrm>
          <a:prstGeom prst="rect">
            <a:avLst/>
          </a:prstGeom>
          <a:noFill/>
          <a:ln/>
        </p:spPr>
        <p:txBody>
          <a:bodyPr wrap="square" rtlCol="0" anchor="t"/>
          <a:lstStyle/>
          <a:p>
            <a:pPr algn="ctr" indent="0" marL="0">
              <a:buNone/>
            </a:pPr>
            <a:r>
              <a:rPr lang="en-US" sz="950" dirty="0">
                <a:solidFill>
                  <a:srgbClr val="FFE4D6"/>
                </a:solidFill>
                <a:latin typeface="Calibri" pitchFamily="34" charset="0"/>
                <a:ea typeface="Calibri" pitchFamily="34" charset="-122"/>
                <a:cs typeface="Calibri" pitchFamily="34" charset="-120"/>
              </a:rPr>
              <a:t>inspection, completion...</a:t>
            </a:r>
            <a:endParaRPr lang="en-US" sz="950" dirty="0"/>
          </a:p>
        </p:txBody>
      </p:sp>
      <p:sp>
        <p:nvSpPr>
          <p:cNvPr id="15" name="Text 13"/>
          <p:cNvSpPr/>
          <p:nvPr/>
        </p:nvSpPr>
        <p:spPr>
          <a:xfrm>
            <a:off x="640080" y="2788920"/>
            <a:ext cx="10881360" cy="457200"/>
          </a:xfrm>
          <a:prstGeom prst="rect">
            <a:avLst/>
          </a:prstGeom>
          <a:noFill/>
          <a:ln/>
        </p:spPr>
        <p:txBody>
          <a:bodyPr wrap="square" rtlCol="0" anchor="ctr"/>
          <a:lstStyle/>
          <a:p>
            <a:pPr indent="0" marL="0">
              <a:buNone/>
            </a:pPr>
            <a:r>
              <a:rPr lang="en-US" sz="1450" i="1" dirty="0">
                <a:solidFill>
                  <a:srgbClr val="5B6478"/>
                </a:solidFill>
                <a:latin typeface="Calibri" pitchFamily="34" charset="0"/>
                <a:ea typeface="Calibri" pitchFamily="34" charset="-122"/>
                <a:cs typeface="Calibri" pitchFamily="34" charset="-120"/>
              </a:rPr>
              <a:t>“A capability falls under an aspect when the caret that triggers it is always in that aspect's file.”</a:t>
            </a:r>
            <a:endParaRPr lang="en-US" sz="1450" dirty="0"/>
          </a:p>
        </p:txBody>
      </p:sp>
      <p:sp>
        <p:nvSpPr>
          <p:cNvPr id="16" name="Shape 14"/>
          <p:cNvSpPr/>
          <p:nvPr/>
        </p:nvSpPr>
        <p:spPr>
          <a:xfrm>
            <a:off x="640080" y="3520440"/>
            <a:ext cx="5120640" cy="1417320"/>
          </a:xfrm>
          <a:prstGeom prst="roundRect">
            <a:avLst>
              <a:gd name="adj" fmla="val 4516"/>
            </a:avLst>
          </a:prstGeom>
          <a:solidFill>
            <a:srgbClr val="FFFFFF"/>
          </a:solidFill>
          <a:ln w="12700">
            <a:solidFill>
              <a:srgbClr val="E2E5F0"/>
            </a:solidFill>
            <a:prstDash val="solid"/>
          </a:ln>
        </p:spPr>
      </p:sp>
      <p:sp>
        <p:nvSpPr>
          <p:cNvPr id="17" name="Text 15"/>
          <p:cNvSpPr/>
          <p:nvPr/>
        </p:nvSpPr>
        <p:spPr>
          <a:xfrm>
            <a:off x="731520" y="3593592"/>
            <a:ext cx="4937760" cy="779526"/>
          </a:xfrm>
          <a:prstGeom prst="rect">
            <a:avLst/>
          </a:prstGeom>
          <a:noFill/>
          <a:ln/>
        </p:spPr>
        <p:txBody>
          <a:bodyPr wrap="square" rtlCol="0" anchor="b"/>
          <a:lstStyle/>
          <a:p>
            <a:pPr algn="ctr" indent="0" marL="0">
              <a:buNone/>
            </a:pPr>
            <a:r>
              <a:rPr lang="en-US" sz="1400" b="1" dirty="0">
                <a:solidFill>
                  <a:srgbClr val="1B2340"/>
                </a:solidFill>
                <a:latin typeface="Calibri" pitchFamily="34" charset="0"/>
                <a:ea typeface="Calibri" pitchFamily="34" charset="-122"/>
                <a:cs typeface="Calibri" pitchFamily="34" charset="-120"/>
              </a:rPr>
              <a:t>Single-file capability</a:t>
            </a:r>
            <a:endParaRPr lang="en-US" sz="1400" dirty="0"/>
          </a:p>
        </p:txBody>
      </p:sp>
      <p:sp>
        <p:nvSpPr>
          <p:cNvPr id="18" name="Text 16"/>
          <p:cNvSpPr/>
          <p:nvPr/>
        </p:nvSpPr>
        <p:spPr>
          <a:xfrm>
            <a:off x="731520" y="4257446"/>
            <a:ext cx="4937760" cy="623621"/>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inspection · completion · reference</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lives inside schema/ or solrconfig/</a:t>
            </a:r>
            <a:endParaRPr lang="en-US" sz="950" dirty="0"/>
          </a:p>
        </p:txBody>
      </p:sp>
      <p:sp>
        <p:nvSpPr>
          <p:cNvPr id="19" name="Shape 17"/>
          <p:cNvSpPr/>
          <p:nvPr/>
        </p:nvSpPr>
        <p:spPr>
          <a:xfrm>
            <a:off x="6035040" y="3520440"/>
            <a:ext cx="5486400" cy="1417320"/>
          </a:xfrm>
          <a:prstGeom prst="roundRect">
            <a:avLst>
              <a:gd name="adj" fmla="val 4516"/>
            </a:avLst>
          </a:prstGeom>
          <a:solidFill>
            <a:srgbClr val="FFFFFF"/>
          </a:solidFill>
          <a:ln w="12700">
            <a:solidFill>
              <a:srgbClr val="E2E5F0"/>
            </a:solidFill>
            <a:prstDash val="solid"/>
          </a:ln>
        </p:spPr>
      </p:sp>
      <p:sp>
        <p:nvSpPr>
          <p:cNvPr id="20" name="Text 18"/>
          <p:cNvSpPr/>
          <p:nvPr/>
        </p:nvSpPr>
        <p:spPr>
          <a:xfrm>
            <a:off x="6126480" y="3593592"/>
            <a:ext cx="5303520" cy="779526"/>
          </a:xfrm>
          <a:prstGeom prst="rect">
            <a:avLst/>
          </a:prstGeom>
          <a:noFill/>
          <a:ln/>
        </p:spPr>
        <p:txBody>
          <a:bodyPr wrap="square" rtlCol="0" anchor="b"/>
          <a:lstStyle/>
          <a:p>
            <a:pPr algn="ctr" indent="0" marL="0">
              <a:buNone/>
            </a:pPr>
            <a:r>
              <a:rPr lang="en-US" sz="1400" b="1" dirty="0">
                <a:solidFill>
                  <a:srgbClr val="1B2340"/>
                </a:solidFill>
                <a:latin typeface="Calibri" pitchFamily="34" charset="0"/>
                <a:ea typeface="Calibri" pitchFamily="34" charset="-122"/>
                <a:cs typeface="Calibri" pitchFamily="34" charset="-120"/>
              </a:rPr>
              <a:t>Cross-file capability</a:t>
            </a:r>
            <a:endParaRPr lang="en-US" sz="1400" dirty="0"/>
          </a:p>
        </p:txBody>
      </p:sp>
      <p:sp>
        <p:nvSpPr>
          <p:cNvPr id="21" name="Text 19"/>
          <p:cNvSpPr/>
          <p:nvPr/>
        </p:nvSpPr>
        <p:spPr>
          <a:xfrm>
            <a:off x="6126480" y="4257446"/>
            <a:ext cx="5303520" cy="623621"/>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Find Usages · rename</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lives at the configset ROOT —</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configset.navigation</a:t>
            </a:r>
            <a:endParaRPr lang="en-US" sz="950" dirty="0"/>
          </a:p>
        </p:txBody>
      </p:sp>
      <p:sp>
        <p:nvSpPr>
          <p:cNvPr id="22" name="Text 20"/>
          <p:cNvSpPr/>
          <p:nvPr/>
        </p:nvSpPr>
        <p:spPr>
          <a:xfrm>
            <a:off x="640080" y="5257800"/>
            <a:ext cx="10881360" cy="502920"/>
          </a:xfrm>
          <a:prstGeom prst="rect">
            <a:avLst/>
          </a:prstGeom>
          <a:solidFill>
            <a:srgbClr val="141B3C"/>
          </a:solidFill>
          <a:ln/>
        </p:spPr>
        <p:txBody>
          <a:bodyPr wrap="square" rtlCol="0" anchor="ctr"/>
          <a:lstStyle/>
          <a:p>
            <a:pPr algn="ctr" indent="0" marL="0">
              <a:buNone/>
            </a:pPr>
            <a:r>
              <a:rPr lang="en-US" sz="1500" dirty="0">
                <a:solidFill>
                  <a:srgbClr val="FFFFFF"/>
                </a:solidFill>
                <a:latin typeface="Courier New" pitchFamily="34" charset="0"/>
                <a:ea typeface="Courier New" pitchFamily="34" charset="-122"/>
                <a:cs typeface="Courier New" pitchFamily="34" charset="-120"/>
              </a:rPr>
              <a:t>configset.schema  ↔  configset.solrconfig  —  never import each other, either direction</a:t>
            </a:r>
            <a:endParaRPr lang="en-US" sz="1500" dirty="0"/>
          </a:p>
        </p:txBody>
      </p:sp>
      <p:sp>
        <p:nvSpPr>
          <p:cNvPr id="23" name="Text 21"/>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docs/code-organization.md “The organising principle”</a:t>
            </a:r>
            <a:endParaRPr lang="en-US" sz="950" dirty="0"/>
          </a:p>
        </p:txBody>
      </p:sp>
      <p:sp>
        <p:nvSpPr>
          <p:cNvPr id="25" name="Text 2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3 · CODE LAYOUT</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org.apache.solr.ide, by weight</a:t>
            </a:r>
            <a:endParaRPr lang="en-US" sz="2300" dirty="0"/>
          </a:p>
        </p:txBody>
      </p:sp>
      <p:sp>
        <p:nvSpPr>
          <p:cNvPr id="4" name="Text 2"/>
          <p:cNvSpPr/>
          <p:nvPr/>
        </p:nvSpPr>
        <p:spPr>
          <a:xfrm>
            <a:off x="640080" y="1536192"/>
            <a:ext cx="4206240" cy="4572000"/>
          </a:xfrm>
          <a:prstGeom prst="rect">
            <a:avLst/>
          </a:prstGeom>
          <a:noFill/>
          <a:ln/>
        </p:spPr>
        <p:txBody>
          <a:bodyPr wrap="square" rtlCol="0" anchor="t"/>
          <a:lstStyle/>
          <a:p>
            <a:pPr indent="0" marL="0">
              <a:lnSpc>
                <a:spcPct val="110000"/>
              </a:lnSpc>
              <a:spcAft>
                <a:spcPts val="900"/>
              </a:spcAft>
              <a:buNone/>
            </a:pPr>
            <a:r>
              <a:rPr lang="en-US" sz="1300" b="1" dirty="0">
                <a:solidFill>
                  <a:srgbClr val="D9531E"/>
                </a:solidFill>
                <a:latin typeface="Calibri" pitchFamily="34" charset="0"/>
                <a:ea typeface="Calibri" pitchFamily="34" charset="-122"/>
                <a:cs typeface="Calibri" pitchFamily="34" charset="-120"/>
              </a:rPr>
              <a:t>model — zero IntelliJ types anywhere.</a:t>
            </a:r>
            <a:endParaRPr lang="en-US" sz="1300" dirty="0"/>
          </a:p>
          <a:p>
            <a:pPr marL="177800" indent="-177800">
              <a:lnSpc>
                <a:spcPct val="110000"/>
              </a:lnSpc>
              <a:spcAft>
                <a:spcPts val="900"/>
              </a:spcAft>
              <a:buSzPct val="100000"/>
              <a:buChar char="•"/>
            </a:pPr>
            <a:r>
              <a:rPr lang="en-US" sz="1300" dirty="0">
                <a:solidFill>
                  <a:srgbClr val="1B2340"/>
                </a:solidFill>
                <a:latin typeface="Calibri" pitchFamily="34" charset="0"/>
                <a:ea typeface="Calibri" pitchFamily="34" charset="-122"/>
                <a:cs typeface="Calibri" pitchFamily="34" charset="-120"/>
              </a:rPr>
              <a:t>schema/ what a field IS · vocabulary/ what a FILE may contain · query/ what a parameter’s value means</a:t>
            </a:r>
            <a:endParaRPr lang="en-US" sz="1300" dirty="0"/>
          </a:p>
          <a:p>
            <a:pPr indent="0" marL="0">
              <a:lnSpc>
                <a:spcPct val="110000"/>
              </a:lnSpc>
              <a:spcAft>
                <a:spcPts val="900"/>
              </a:spcAft>
              <a:buNone/>
            </a:pPr>
            <a:r>
              <a:rPr lang="en-US" sz="1300" b="1" dirty="0">
                <a:solidFill>
                  <a:srgbClr val="D9531E"/>
                </a:solidFill>
                <a:latin typeface="Calibri" pitchFamily="34" charset="0"/>
                <a:ea typeface="Calibri" pitchFamily="34" charset="-122"/>
                <a:cs typeface="Calibri" pitchFamily="34" charset="-120"/>
              </a:rPr>
              <a:t>configset — the files in the repository.</a:t>
            </a:r>
            <a:endParaRPr lang="en-US" sz="1300" dirty="0"/>
          </a:p>
          <a:p>
            <a:pPr marL="177800" indent="-177800">
              <a:lnSpc>
                <a:spcPct val="110000"/>
              </a:lnSpc>
              <a:spcAft>
                <a:spcPts val="900"/>
              </a:spcAft>
              <a:buSzPct val="100000"/>
              <a:buChar char="•"/>
            </a:pPr>
            <a:r>
              <a:rPr lang="en-US" sz="1300" dirty="0">
                <a:solidFill>
                  <a:srgbClr val="1B2340"/>
                </a:solidFill>
                <a:latin typeface="Calibri" pitchFamily="34" charset="0"/>
                <a:ea typeface="Calibri" pitchFamily="34" charset="-122"/>
                <a:cs typeface="Calibri" pitchFamily="34" charset="-120"/>
              </a:rPr>
              <a:t>activation, reading, editing, navigation (shared) · schema/ (9 leaf packages) · solrconfig/ (6, catching up)</a:t>
            </a:r>
            <a:endParaRPr lang="en-US" sz="1300" dirty="0"/>
          </a:p>
          <a:p>
            <a:pPr indent="0" marL="0">
              <a:lnSpc>
                <a:spcPct val="110000"/>
              </a:lnSpc>
              <a:spcAft>
                <a:spcPts val="900"/>
              </a:spcAft>
              <a:buNone/>
            </a:pPr>
            <a:r>
              <a:rPr lang="en-US" sz="1300" b="1" dirty="0">
                <a:solidFill>
                  <a:srgbClr val="D9531E"/>
                </a:solidFill>
                <a:latin typeface="Calibri" pitchFamily="34" charset="0"/>
                <a:ea typeface="Calibri" pitchFamily="34" charset="-122"/>
                <a:cs typeface="Calibri" pitchFamily="34" charset="-120"/>
              </a:rPr>
              <a:t>server — a live Solr, seven packages.</a:t>
            </a:r>
            <a:endParaRPr lang="en-US" sz="1300" dirty="0"/>
          </a:p>
          <a:p>
            <a:pPr indent="0" marL="0">
              <a:lnSpc>
                <a:spcPct val="110000"/>
              </a:lnSpc>
              <a:spcAft>
                <a:spcPts val="900"/>
              </a:spcAft>
              <a:buNone/>
            </a:pPr>
            <a:r>
              <a:rPr lang="en-US" sz="1300" b="1" dirty="0">
                <a:solidFill>
                  <a:srgbClr val="D9531E"/>
                </a:solidFill>
                <a:latin typeface="Calibri" pitchFamily="34" charset="0"/>
                <a:ea typeface="Calibri" pitchFamily="34" charset="-122"/>
                <a:cs typeface="Calibri" pitchFamily="34" charset="-120"/>
              </a:rPr>
              <a:t>code — field names in Java and Kotlin, through SolrJ.</a:t>
            </a:r>
            <a:endParaRPr lang="en-US" sz="1300" dirty="0"/>
          </a:p>
        </p:txBody>
      </p:sp>
      <p:sp>
        <p:nvSpPr>
          <p:cNvPr id="5" name="Shape 3"/>
          <p:cNvSpPr/>
          <p:nvPr/>
        </p:nvSpPr>
        <p:spPr>
          <a:xfrm>
            <a:off x="5074920" y="1536192"/>
            <a:ext cx="6035040" cy="3703320"/>
          </a:xfrm>
          <a:prstGeom prst="roundRect">
            <a:avLst>
              <a:gd name="adj" fmla="val 2222"/>
            </a:avLst>
          </a:prstGeom>
          <a:solidFill>
            <a:srgbClr val="141B3C"/>
          </a:solidFill>
          <a:ln/>
          <a:effectLst>
            <a:outerShdw sx="100000" sy="100000" kx="0" ky="0" algn="bl" rotWithShape="0" blurRad="127000" dist="25400" dir="5400000">
              <a:srgbClr val="1B2340">
                <a:alpha val="22000"/>
              </a:srgbClr>
            </a:outerShdw>
          </a:effectLst>
        </p:spPr>
      </p:sp>
      <p:sp>
        <p:nvSpPr>
          <p:cNvPr id="6" name="Text 4"/>
          <p:cNvSpPr/>
          <p:nvPr/>
        </p:nvSpPr>
        <p:spPr>
          <a:xfrm>
            <a:off x="5303520" y="1737360"/>
            <a:ext cx="5577840" cy="3383280"/>
          </a:xfrm>
          <a:prstGeom prst="rect">
            <a:avLst/>
          </a:prstGeom>
          <a:noFill/>
          <a:ln/>
        </p:spPr>
        <p:txBody>
          <a:bodyPr wrap="square" rtlCol="0" anchor="t"/>
          <a:lstStyle/>
          <a:p>
            <a:pPr indent="0" marL="0">
              <a:lnSpc>
                <a:spcPct val="110000"/>
              </a:lnSpc>
              <a:buNone/>
            </a:pPr>
            <a:r>
              <a:rPr lang="en-US" sz="1200" b="1" dirty="0">
                <a:solidFill>
                  <a:srgbClr val="FFFFFF"/>
                </a:solidFill>
                <a:latin typeface="Courier New" pitchFamily="34" charset="0"/>
                <a:ea typeface="Courier New" pitchFamily="34" charset="-122"/>
                <a:cs typeface="Courier New" pitchFamily="34" charset="-120"/>
              </a:rPr>
              <a:t>org.apache.solr.ide</a:t>
            </a:r>
            <a:endParaRPr lang="en-US" sz="1200" dirty="0"/>
          </a:p>
          <a:p>
            <a:pPr indent="0" marL="0">
              <a:lnSpc>
                <a:spcPct val="110000"/>
              </a:lnSpc>
              <a:buNone/>
            </a:pPr>
            <a:r>
              <a:rPr lang="en-US" sz="1200" dirty="0">
                <a:solidFill>
                  <a:srgbClr val="FF6B35"/>
                </a:solidFill>
                <a:latin typeface="Courier New" pitchFamily="34" charset="0"/>
                <a:ea typeface="Courier New" pitchFamily="34" charset="-122"/>
                <a:cs typeface="Courier New" pitchFamily="34" charset="-120"/>
              </a:rPr>
              <a:t>├─ model/          schema, vocabulary, query  (no IJ types)</a:t>
            </a:r>
            <a:endParaRPr lang="en-US" sz="1200" dirty="0"/>
          </a:p>
          <a:p>
            <a:pPr indent="0" marL="0">
              <a:lnSpc>
                <a:spcPct val="110000"/>
              </a:lnSpc>
              <a:buNone/>
            </a:pPr>
            <a:r>
              <a:rPr lang="en-US" sz="1200" dirty="0">
                <a:solidFill>
                  <a:srgbClr val="CFE0FF"/>
                </a:solidFill>
                <a:latin typeface="Courier New" pitchFamily="34" charset="0"/>
                <a:ea typeface="Courier New" pitchFamily="34" charset="-122"/>
                <a:cs typeface="Courier New" pitchFamily="34" charset="-120"/>
              </a:rPr>
              <a:t>├─ configset/</a:t>
            </a:r>
            <a:endParaRPr lang="en-US" sz="1200" dirty="0"/>
          </a:p>
          <a:p>
            <a:pPr indent="0" marL="0">
              <a:lnSpc>
                <a:spcPct val="110000"/>
              </a:lnSpc>
              <a:buNone/>
            </a:pPr>
            <a:r>
              <a:rPr lang="en-US" sz="1200" dirty="0">
                <a:solidFill>
                  <a:srgbClr val="FFFFFF"/>
                </a:solidFill>
                <a:latin typeface="Courier New" pitchFamily="34" charset="0"/>
                <a:ea typeface="Courier New" pitchFamily="34" charset="-122"/>
                <a:cs typeface="Courier New" pitchFamily="34" charset="-120"/>
              </a:rPr>
              <a:t>│  ├─ activation/   is this even a Solr project?</a:t>
            </a:r>
            <a:endParaRPr lang="en-US" sz="1200" dirty="0"/>
          </a:p>
          <a:p>
            <a:pPr indent="0" marL="0">
              <a:lnSpc>
                <a:spcPct val="110000"/>
              </a:lnSpc>
              <a:buNone/>
            </a:pPr>
            <a:r>
              <a:rPr lang="en-US" sz="1200" dirty="0">
                <a:solidFill>
                  <a:srgbClr val="FFFFFF"/>
                </a:solidFill>
                <a:latin typeface="Courier New" pitchFamily="34" charset="0"/>
                <a:ea typeface="Courier New" pitchFamily="34" charset="-122"/>
                <a:cs typeface="Courier New" pitchFamily="34" charset="-120"/>
              </a:rPr>
              <a:t>│  ├─ reading/      directory → one model, cached</a:t>
            </a:r>
            <a:endParaRPr lang="en-US" sz="1200" dirty="0"/>
          </a:p>
          <a:p>
            <a:pPr indent="0" marL="0">
              <a:lnSpc>
                <a:spcPct val="110000"/>
              </a:lnSpc>
              <a:buNone/>
            </a:pPr>
            <a:r>
              <a:rPr lang="en-US" sz="1200" dirty="0">
                <a:solidFill>
                  <a:srgbClr val="FFFFFF"/>
                </a:solidFill>
                <a:latin typeface="Courier New" pitchFamily="34" charset="0"/>
                <a:ea typeface="Courier New" pitchFamily="34" charset="-122"/>
                <a:cs typeface="Courier New" pitchFamily="34" charset="-120"/>
              </a:rPr>
              <a:t>│  ├─ editing/      guard rails, both aspects share</a:t>
            </a:r>
            <a:endParaRPr lang="en-US" sz="1200" dirty="0"/>
          </a:p>
          <a:p>
            <a:pPr indent="0" marL="0">
              <a:lnSpc>
                <a:spcPct val="110000"/>
              </a:lnSpc>
              <a:buNone/>
            </a:pPr>
            <a:r>
              <a:rPr lang="en-US" sz="1200" dirty="0">
                <a:solidFill>
                  <a:srgbClr val="FFFFFF"/>
                </a:solidFill>
                <a:latin typeface="Courier New" pitchFamily="34" charset="0"/>
                <a:ea typeface="Courier New" pitchFamily="34" charset="-122"/>
                <a:cs typeface="Courier New" pitchFamily="34" charset="-120"/>
              </a:rPr>
              <a:t>│  ├─ navigation/   Find Usages, rename  (shared)</a:t>
            </a:r>
            <a:endParaRPr lang="en-US" sz="1200" dirty="0"/>
          </a:p>
          <a:p>
            <a:pPr indent="0" marL="0">
              <a:lnSpc>
                <a:spcPct val="110000"/>
              </a:lnSpc>
              <a:buNone/>
            </a:pPr>
            <a:r>
              <a:rPr lang="en-US" sz="1200" dirty="0">
                <a:solidFill>
                  <a:srgbClr val="CFE0FF"/>
                </a:solidFill>
                <a:latin typeface="Courier New" pitchFamily="34" charset="0"/>
                <a:ea typeface="Courier New" pitchFamily="34" charset="-122"/>
                <a:cs typeface="Courier New" pitchFamily="34" charset="-120"/>
              </a:rPr>
              <a:t>│  ├─ schema/       inspection·completion·intention·</a:t>
            </a:r>
            <a:endParaRPr lang="en-US" sz="1200" dirty="0"/>
          </a:p>
          <a:p>
            <a:pPr indent="0" marL="0">
              <a:lnSpc>
                <a:spcPct val="110000"/>
              </a:lnSpc>
              <a:buNone/>
            </a:pPr>
            <a:r>
              <a:rPr lang="en-US" sz="1200" dirty="0">
                <a:solidFill>
                  <a:srgbClr val="CFE0FF"/>
                </a:solidFill>
                <a:latin typeface="Courier New" pitchFamily="34" charset="0"/>
                <a:ea typeface="Courier New" pitchFamily="34" charset="-122"/>
                <a:cs typeface="Courier New" pitchFamily="34" charset="-120"/>
              </a:rPr>
              <a:t>│  │              reference·documentation·hint·</a:t>
            </a:r>
            <a:endParaRPr lang="en-US" sz="1200" dirty="0"/>
          </a:p>
          <a:p>
            <a:pPr indent="0" marL="0">
              <a:lnSpc>
                <a:spcPct val="110000"/>
              </a:lnSpc>
              <a:buNone/>
            </a:pPr>
            <a:r>
              <a:rPr lang="en-US" sz="1200" dirty="0">
                <a:solidFill>
                  <a:srgbClr val="CFE0FF"/>
                </a:solidFill>
                <a:latin typeface="Courier New" pitchFamily="34" charset="0"/>
                <a:ea typeface="Courier New" pitchFamily="34" charset="-122"/>
                <a:cs typeface="Courier New" pitchFamily="34" charset="-120"/>
              </a:rPr>
              <a:t>│  │              descriptor·annotator·parsing</a:t>
            </a:r>
            <a:endParaRPr lang="en-US" sz="1200" dirty="0"/>
          </a:p>
          <a:p>
            <a:pPr indent="0" marL="0">
              <a:lnSpc>
                <a:spcPct val="110000"/>
              </a:lnSpc>
              <a:buNone/>
            </a:pPr>
            <a:r>
              <a:rPr lang="en-US" sz="1200" dirty="0">
                <a:solidFill>
                  <a:srgbClr val="CFE0FF"/>
                </a:solidFill>
                <a:latin typeface="Courier New" pitchFamily="34" charset="0"/>
                <a:ea typeface="Courier New" pitchFamily="34" charset="-122"/>
                <a:cs typeface="Courier New" pitchFamily="34" charset="-120"/>
              </a:rPr>
              <a:t>│  └─ solrconfig/   parsing·inspection·completion·</a:t>
            </a:r>
            <a:endParaRPr lang="en-US" sz="1200" dirty="0"/>
          </a:p>
          <a:p>
            <a:pPr indent="0" marL="0">
              <a:lnSpc>
                <a:spcPct val="110000"/>
              </a:lnSpc>
              <a:buNone/>
            </a:pPr>
            <a:r>
              <a:rPr lang="en-US" sz="1200" dirty="0">
                <a:solidFill>
                  <a:srgbClr val="CFE0FF"/>
                </a:solidFill>
                <a:latin typeface="Courier New" pitchFamily="34" charset="0"/>
                <a:ea typeface="Courier New" pitchFamily="34" charset="-122"/>
                <a:cs typeface="Courier New" pitchFamily="34" charset="-120"/>
              </a:rPr>
              <a:t>│                 reference·descriptor·documentation</a:t>
            </a:r>
            <a:endParaRPr lang="en-US" sz="1200" dirty="0"/>
          </a:p>
          <a:p>
            <a:pPr indent="0" marL="0">
              <a:lnSpc>
                <a:spcPct val="110000"/>
              </a:lnSpc>
              <a:buNone/>
            </a:pPr>
            <a:r>
              <a:rPr lang="en-US" sz="1200" dirty="0">
                <a:solidFill>
                  <a:srgbClr val="CFE0FF"/>
                </a:solidFill>
                <a:latin typeface="Courier New" pitchFamily="34" charset="0"/>
                <a:ea typeface="Courier New" pitchFamily="34" charset="-122"/>
                <a:cs typeface="Courier New" pitchFamily="34" charset="-120"/>
              </a:rPr>
              <a:t>├─ server/          connection·transport·reading·</a:t>
            </a:r>
            <a:endParaRPr lang="en-US" sz="1200" dirty="0"/>
          </a:p>
          <a:p>
            <a:pPr indent="0" marL="0">
              <a:lnSpc>
                <a:spcPct val="110000"/>
              </a:lnSpc>
              <a:buNone/>
            </a:pPr>
            <a:r>
              <a:rPr lang="en-US" sz="1200" dirty="0">
                <a:solidFill>
                  <a:srgbClr val="CFE0FF"/>
                </a:solidFill>
                <a:latin typeface="Courier New" pitchFamily="34" charset="0"/>
                <a:ea typeface="Courier New" pitchFamily="34" charset="-122"/>
                <a:cs typeface="Courier New" pitchFamily="34" charset="-120"/>
              </a:rPr>
              <a:t>│                 topology·query·drift·indexing</a:t>
            </a:r>
            <a:endParaRPr lang="en-US" sz="1200" dirty="0"/>
          </a:p>
          <a:p>
            <a:pPr indent="0" marL="0">
              <a:lnSpc>
                <a:spcPct val="110000"/>
              </a:lnSpc>
              <a:buNone/>
            </a:pPr>
            <a:r>
              <a:rPr lang="en-US" sz="1200" dirty="0">
                <a:solidFill>
                  <a:srgbClr val="CFE0FF"/>
                </a:solidFill>
                <a:latin typeface="Courier New" pitchFamily="34" charset="0"/>
                <a:ea typeface="Courier New" pitchFamily="34" charset="-122"/>
                <a:cs typeface="Courier New" pitchFamily="34" charset="-120"/>
              </a:rPr>
              <a:t>└─ code/            solrj·inspection·completion·</a:t>
            </a:r>
            <a:endParaRPr lang="en-US" sz="1200" dirty="0"/>
          </a:p>
          <a:p>
            <a:pPr indent="0" marL="0">
              <a:lnSpc>
                <a:spcPct val="110000"/>
              </a:lnSpc>
              <a:buNone/>
            </a:pPr>
            <a:r>
              <a:rPr lang="en-US" sz="1200" dirty="0">
                <a:solidFill>
                  <a:srgbClr val="CFE0FF"/>
                </a:solidFill>
                <a:latin typeface="Courier New" pitchFamily="34" charset="0"/>
                <a:ea typeface="Courier New" pitchFamily="34" charset="-122"/>
                <a:cs typeface="Courier New" pitchFamily="34" charset="-120"/>
              </a:rPr>
              <a:t>                  navigation·highlighting·run</a:t>
            </a:r>
            <a:endParaRPr lang="en-US" sz="1200" dirty="0"/>
          </a:p>
        </p:txBody>
      </p:sp>
      <p:sp>
        <p:nvSpPr>
          <p:cNvPr id="7" name="Text 5"/>
          <p:cNvSpPr/>
          <p:nvPr/>
        </p:nvSpPr>
        <p:spPr>
          <a:xfrm>
            <a:off x="5074920" y="5349240"/>
            <a:ext cx="6035040" cy="822960"/>
          </a:xfrm>
          <a:prstGeom prst="rect">
            <a:avLst/>
          </a:prstGeom>
          <a:noFill/>
          <a:ln/>
        </p:spPr>
        <p:txBody>
          <a:bodyPr wrap="square" rtlCol="0" anchor="t"/>
          <a:lstStyle/>
          <a:p>
            <a:pPr indent="0" marL="0">
              <a:buNone/>
            </a:pPr>
            <a:r>
              <a:rPr lang="en-US" sz="1000" i="1" dirty="0">
                <a:solidFill>
                  <a:srgbClr val="5B6478"/>
                </a:solidFill>
                <a:latin typeface="Calibri" pitchFamily="34" charset="0"/>
                <a:ea typeface="Calibri" pitchFamily="34" charset="-122"/>
                <a:cs typeface="Calibri" pitchFamily="34" charset="-120"/>
              </a:rPr>
              <a:t>Counts are files, to show weight, not to be kept current — and were counted directly against the source tree on 2026-10-20 (145 .kt files under org.apache.solr.ide) rather than copied from an older figure.</a:t>
            </a:r>
            <a:endParaRPr lang="en-US" sz="1000" dirty="0"/>
          </a:p>
        </p:txBody>
      </p:sp>
      <p:sp>
        <p:nvSpPr>
          <p:cNvPr id="8" name="Text 6"/>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docs/code-organization.md “The tree”; src/main/kotlin/org/apache/solr/ide/ (counted 2026-10-20)</a:t>
            </a:r>
            <a:endParaRPr lang="en-US" sz="950" dirty="0"/>
          </a:p>
        </p:txBody>
      </p:sp>
      <p:sp>
        <p:nvSpPr>
          <p:cNvPr id="10" name="Text 7"/>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3 · CODE LAYOUT</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1900" b="1" dirty="0">
                <a:solidFill>
                  <a:srgbClr val="1B2340"/>
                </a:solidFill>
                <a:latin typeface="Cambria" pitchFamily="34" charset="0"/>
                <a:ea typeface="Cambria" pitchFamily="34" charset="-122"/>
                <a:cs typeface="Cambria" pitchFamily="34" charset="-120"/>
              </a:rPr>
              <a:t>model — a domain layer with zero platform imports, the way a POJO domain stays free of @Entity</a:t>
            </a:r>
            <a:endParaRPr lang="en-US" sz="1900" dirty="0"/>
          </a:p>
        </p:txBody>
      </p:sp>
      <p:sp>
        <p:nvSpPr>
          <p:cNvPr id="4" name="Text 2"/>
          <p:cNvSpPr/>
          <p:nvPr/>
        </p:nvSpPr>
        <p:spPr>
          <a:xfrm>
            <a:off x="640080" y="1554480"/>
            <a:ext cx="10607040" cy="4617720"/>
          </a:xfrm>
          <a:prstGeom prst="rect">
            <a:avLst/>
          </a:prstGeom>
          <a:noFill/>
          <a:ln/>
        </p:spPr>
        <p:txBody>
          <a:bodyPr wrap="square" rtlCol="0" anchor="t"/>
          <a:lstStyle/>
          <a:p>
            <a:pPr indent="0" marL="0">
              <a:lnSpc>
                <a:spcPct val="112000"/>
              </a:lnSpc>
              <a:spcAft>
                <a:spcPts val="500"/>
              </a:spcAft>
              <a:buNone/>
            </a:pPr>
            <a:r>
              <a:rPr lang="en-US" sz="1550" b="1" i="1" dirty="0">
                <a:solidFill>
                  <a:srgbClr val="D9531E"/>
                </a:solidFill>
                <a:latin typeface="Calibri" pitchFamily="34" charset="0"/>
                <a:ea typeface="Calibri" pitchFamily="34" charset="-122"/>
                <a:cs typeface="Calibri" pitchFamily="34" charset="-120"/>
              </a:rPr>
              <a:t>“Nothing in model imports an IntelliJ type.”</a:t>
            </a:r>
            <a:endParaRPr lang="en-US" sz="1550" dirty="0"/>
          </a:p>
          <a:p>
            <a:pPr marL="228600" indent="-228600">
              <a:lnSpc>
                <a:spcPct val="112000"/>
              </a:lnSpc>
              <a:spcAft>
                <a:spcPts val="1100"/>
              </a:spcAft>
              <a:buSzPct val="100000"/>
              <a:buChar char="•"/>
            </a:pPr>
            <a:r>
              <a:rPr lang="en-US" sz="1500" dirty="0">
                <a:solidFill>
                  <a:srgbClr val="1B2340"/>
                </a:solidFill>
                <a:latin typeface="Calibri" pitchFamily="34" charset="0"/>
                <a:ea typeface="Calibri" pitchFamily="34" charset="-122"/>
                <a:cs typeface="Calibri" pitchFamily="34" charset="-120"/>
              </a:rPr>
              <a:t>Load-bearing, not stylistic: 59 of the repo's 156 test files — more than a third — are plain JUnit 4 precisely because of it. No fixture, no headless IDE, milliseconds instead of a second per test.</a:t>
            </a:r>
            <a:endParaRPr lang="en-US" sz="1550" dirty="0"/>
          </a:p>
          <a:p>
            <a:pPr indent="0" marL="0">
              <a:lnSpc>
                <a:spcPct val="112000"/>
              </a:lnSpc>
              <a:spcAft>
                <a:spcPts val="400"/>
              </a:spcAft>
              <a:buNone/>
            </a:pPr>
            <a:r>
              <a:rPr lang="en-US" sz="600" dirty="0">
                <a:solidFill>
                  <a:srgbClr val="1B2340"/>
                </a:solidFill>
                <a:latin typeface="Calibri" pitchFamily="34" charset="0"/>
                <a:ea typeface="Calibri" pitchFamily="34" charset="-122"/>
                <a:cs typeface="Calibri" pitchFamily="34" charset="-120"/>
              </a:rPr>
              <a:t> </a:t>
            </a:r>
            <a:endParaRPr lang="en-US" sz="1550" dirty="0"/>
          </a:p>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model.schema — what a field IS, whichever source described it.</a:t>
            </a:r>
            <a:endParaRPr lang="en-US" sz="1550" dirty="0"/>
          </a:p>
          <a:p>
            <a:pPr marL="228600" indent="-228600">
              <a:lnSpc>
                <a:spcPct val="112000"/>
              </a:lnSpc>
              <a:spcAft>
                <a:spcPts val="1100"/>
              </a:spcAft>
              <a:buSzPct val="100000"/>
              <a:buChar char="•"/>
            </a:pPr>
            <a:r>
              <a:rPr lang="en-US" sz="1500" dirty="0">
                <a:solidFill>
                  <a:srgbClr val="1B2340"/>
                </a:solidFill>
                <a:latin typeface="Calibri" pitchFamily="34" charset="0"/>
                <a:ea typeface="Calibri" pitchFamily="34" charset="-122"/>
                <a:cs typeface="Calibri" pitchFamily="34" charset="-120"/>
              </a:rPr>
              <a:t>SolrFieldModel merges a repository half and a server half into one SolrFact per property, reporting how they agree rather than resolving the disagreement away — filed here because it belongs to BOTH surfaces equally.</a:t>
            </a:r>
            <a:endParaRPr lang="en-US" sz="1550" dirty="0"/>
          </a:p>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model.vocabulary — what a FILE may legally contain.</a:t>
            </a:r>
            <a:endParaRPr lang="en-US" sz="1550" dirty="0"/>
          </a:p>
          <a:p>
            <a:pPr marL="228600" indent="-228600">
              <a:lnSpc>
                <a:spcPct val="112000"/>
              </a:lnSpc>
              <a:spcAft>
                <a:spcPts val="1100"/>
              </a:spcAft>
              <a:buSzPct val="100000"/>
              <a:buChar char="•"/>
            </a:pPr>
            <a:r>
              <a:rPr lang="en-US" sz="1500" dirty="0">
                <a:solidFill>
                  <a:srgbClr val="1B2340"/>
                </a:solidFill>
                <a:latin typeface="Calibri" pitchFamily="34" charset="0"/>
                <a:ea typeface="Calibri" pitchFamily="34" charset="-122"/>
                <a:cs typeface="Calibri" pitchFamily="34" charset="-120"/>
              </a:rPr>
              <a:t>SolrClassCatalog, SolrElementCatalog, SolrParameterCatalog — all generated at build time, never hand-written.</a:t>
            </a:r>
            <a:endParaRPr lang="en-US" sz="1550" dirty="0"/>
          </a:p>
        </p:txBody>
      </p:sp>
      <p:sp>
        <p:nvSpPr>
          <p:cNvPr id="5" name="Text 3"/>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docs/code-organization.md “The organising principle”; docs/glossary.md “data class”; model/SolrFieldModel.kt</a:t>
            </a:r>
            <a:endParaRPr lang="en-US" sz="950" dirty="0"/>
          </a:p>
        </p:txBody>
      </p:sp>
      <p:sp>
        <p:nvSpPr>
          <p:cNvPr id="7" name="Text 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3 · CODE LAYOUT</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000" b="1" dirty="0">
                <a:solidFill>
                  <a:srgbClr val="1B2340"/>
                </a:solidFill>
                <a:latin typeface="Cambria" pitchFamily="34" charset="0"/>
                <a:ea typeface="Cambria" pitchFamily="34" charset="-122"/>
                <a:cs typeface="Cambria" pitchFamily="34" charset="-120"/>
              </a:rPr>
              <a:t>The same completion contributor shape, enforcing a boundary neither aspect may cross</a:t>
            </a:r>
            <a:endParaRPr lang="en-US" sz="2000" dirty="0"/>
          </a:p>
        </p:txBody>
      </p:sp>
      <p:sp>
        <p:nvSpPr>
          <p:cNvPr id="4" name="Text 2"/>
          <p:cNvSpPr/>
          <p:nvPr/>
        </p:nvSpPr>
        <p:spPr>
          <a:xfrm>
            <a:off x="640080" y="1554480"/>
            <a:ext cx="4114800" cy="4206240"/>
          </a:xfrm>
          <a:prstGeom prst="rect">
            <a:avLst/>
          </a:prstGeom>
          <a:noFill/>
          <a:ln/>
        </p:spPr>
        <p:txBody>
          <a:bodyPr wrap="square" rtlCol="0" anchor="t"/>
          <a:lstStyle/>
          <a:p>
            <a:pPr indent="0" marL="0">
              <a:lnSpc>
                <a:spcPct val="112000"/>
              </a:lnSpc>
              <a:buNone/>
            </a:pPr>
            <a:r>
              <a:rPr lang="en-US" sz="1050" b="1" dirty="0">
                <a:solidFill>
                  <a:srgbClr val="D9531E"/>
                </a:solidFill>
                <a:latin typeface="Calibri" pitchFamily="34" charset="0"/>
                <a:ea typeface="Calibri" pitchFamily="34" charset="-122"/>
                <a:cs typeface="Calibri" pitchFamily="34" charset="-120"/>
              </a:rPr>
              <a:t>THE ARGUMENT, IN THE SOURCE'S OWN WORDS</a:t>
            </a:r>
            <a:endParaRPr lang="en-US" sz="1050" dirty="0"/>
          </a:p>
          <a:p>
            <a:pPr indent="0" marL="0">
              <a:lnSpc>
                <a:spcPct val="112000"/>
              </a:lnSpc>
              <a:spcAft>
                <a:spcPts val="1000"/>
              </a:spcAft>
              <a:buNone/>
            </a:pPr>
            <a:r>
              <a:rPr lang="en-US" sz="1300" i="1" dirty="0">
                <a:solidFill>
                  <a:srgbClr val="1B2340"/>
                </a:solidFill>
                <a:latin typeface="Calibri" pitchFamily="34" charset="0"/>
                <a:ea typeface="Calibri" pitchFamily="34" charset="-122"/>
                <a:cs typeface="Calibri" pitchFamily="34" charset="-120"/>
              </a:rPr>
              <a:t>“configset.schema and configset.solrconfig must never import each other — one-directional, not a ban on the two appearing together.”</a:t>
            </a:r>
            <a:endParaRPr lang="en-US" sz="1050" dirty="0"/>
          </a:p>
          <a:p>
            <a:pPr indent="0" marL="0">
              <a:lnSpc>
                <a:spcPct val="112000"/>
              </a:lnSpc>
              <a:spcAft>
                <a:spcPts val="1000"/>
              </a:spcAft>
              <a:buNone/>
            </a:pPr>
            <a:r>
              <a:rPr lang="en-US" sz="1250" dirty="0">
                <a:solidFill>
                  <a:srgbClr val="1B2340"/>
                </a:solidFill>
                <a:latin typeface="Calibri" pitchFamily="34" charset="0"/>
                <a:ea typeface="Calibri" pitchFamily="34" charset="-122"/>
                <a:cs typeface="Calibri" pitchFamily="34" charset="-120"/>
              </a:rPr>
              <a:t>Completion answers the identical question — “what may legally be written here?” — in both files, from two separate contributors that share no import between them.</a:t>
            </a:r>
            <a:endParaRPr lang="en-US" sz="1050" dirty="0"/>
          </a:p>
          <a:p>
            <a:pPr indent="0" marL="0">
              <a:lnSpc>
                <a:spcPct val="112000"/>
              </a:lnSpc>
              <a:buNone/>
            </a:pPr>
            <a:r>
              <a:rPr lang="en-US" sz="1250" dirty="0">
                <a:solidFill>
                  <a:srgbClr val="1B2340"/>
                </a:solidFill>
                <a:latin typeface="Calibri" pitchFamily="34" charset="0"/>
                <a:ea typeface="Calibri" pitchFamily="34" charset="-122"/>
                <a:cs typeface="Calibri" pitchFamily="34" charset="-120"/>
              </a:rPr>
              <a:t>Left: attribute completion inside &lt;field&gt; (schema aspect). Right: element completion inside &lt;config&gt; (solrconfig aspect). Same shape of capability, same caret-in-one-file test — filed on opposite sides of a wall neither may cross.</a:t>
            </a:r>
            <a:endParaRPr lang="en-US" sz="1050" dirty="0"/>
          </a:p>
        </p:txBody>
      </p:sp>
      <p:sp>
        <p:nvSpPr>
          <p:cNvPr id="5" name="Text 3"/>
          <p:cNvSpPr/>
          <p:nvPr/>
        </p:nvSpPr>
        <p:spPr>
          <a:xfrm>
            <a:off x="4983480" y="1399032"/>
            <a:ext cx="3246120" cy="256032"/>
          </a:xfrm>
          <a:prstGeom prst="rect">
            <a:avLst/>
          </a:prstGeom>
          <a:noFill/>
          <a:ln/>
        </p:spPr>
        <p:txBody>
          <a:bodyPr wrap="square" rtlCol="0" anchor="ctr"/>
          <a:lstStyle/>
          <a:p>
            <a:pPr algn="ctr" indent="0" marL="0">
              <a:buNone/>
            </a:pPr>
            <a:r>
              <a:rPr lang="en-US" sz="1050" b="1" dirty="0">
                <a:solidFill>
                  <a:srgbClr val="D9531E"/>
                </a:solidFill>
                <a:latin typeface="Calibri" pitchFamily="34" charset="0"/>
                <a:ea typeface="Calibri" pitchFamily="34" charset="-122"/>
                <a:cs typeface="Calibri" pitchFamily="34" charset="-120"/>
              </a:rPr>
              <a:t>configset.schema.completion</a:t>
            </a:r>
            <a:endParaRPr lang="en-US" sz="1050" dirty="0"/>
          </a:p>
        </p:txBody>
      </p:sp>
      <p:sp>
        <p:nvSpPr>
          <p:cNvPr id="6" name="Shape 4"/>
          <p:cNvSpPr/>
          <p:nvPr/>
        </p:nvSpPr>
        <p:spPr>
          <a:xfrm>
            <a:off x="4892040" y="2175798"/>
            <a:ext cx="3429000" cy="997643"/>
          </a:xfrm>
          <a:prstGeom prst="rect">
            <a:avLst/>
          </a:prstGeom>
          <a:solidFill>
            <a:srgbClr val="FFFFFF"/>
          </a:solidFill>
          <a:ln w="12700">
            <a:solidFill>
              <a:srgbClr val="E2E5F0"/>
            </a:solidFill>
            <a:prstDash val="solid"/>
          </a:ln>
          <a:effectLst>
            <a:outerShdw sx="100000" sy="100000" kx="0" ky="0" algn="bl" rotWithShape="0" blurRad="101600" dist="25400" dir="5400000">
              <a:srgbClr val="1B2340">
                <a:alpha val="15000"/>
              </a:srgbClr>
            </a:outerShdw>
          </a:effectLst>
        </p:spPr>
      </p:sp>
      <p:pic>
        <p:nvPicPr>
          <p:cNvPr id="7" name="Image 0" descr="/Users/adityaparikh/IdeaProjects/solr-intellij-plugin/docs/images/05-completion-field-properties.png">    </p:cNvPr>
          <p:cNvPicPr>
            <a:picLocks noChangeAspect="1"/>
          </p:cNvPicPr>
          <p:nvPr/>
        </p:nvPicPr>
        <p:blipFill>
          <a:blip r:embed="rId1"/>
          <a:stretch>
            <a:fillRect/>
          </a:stretch>
        </p:blipFill>
        <p:spPr>
          <a:xfrm>
            <a:off x="4983480" y="2267238"/>
            <a:ext cx="3246120" cy="814763"/>
          </a:xfrm>
          <a:prstGeom prst="rect">
            <a:avLst/>
          </a:prstGeom>
        </p:spPr>
      </p:pic>
      <p:sp>
        <p:nvSpPr>
          <p:cNvPr id="8" name="Text 5"/>
          <p:cNvSpPr/>
          <p:nvPr/>
        </p:nvSpPr>
        <p:spPr>
          <a:xfrm>
            <a:off x="8458200" y="1399032"/>
            <a:ext cx="3246120" cy="256032"/>
          </a:xfrm>
          <a:prstGeom prst="rect">
            <a:avLst/>
          </a:prstGeom>
          <a:noFill/>
          <a:ln/>
        </p:spPr>
        <p:txBody>
          <a:bodyPr wrap="square" rtlCol="0" anchor="ctr"/>
          <a:lstStyle/>
          <a:p>
            <a:pPr algn="ctr" indent="0" marL="0">
              <a:buNone/>
            </a:pPr>
            <a:r>
              <a:rPr lang="en-US" sz="1050" b="1" dirty="0">
                <a:solidFill>
                  <a:srgbClr val="D9531E"/>
                </a:solidFill>
                <a:latin typeface="Calibri" pitchFamily="34" charset="0"/>
                <a:ea typeface="Calibri" pitchFamily="34" charset="-122"/>
                <a:cs typeface="Calibri" pitchFamily="34" charset="-120"/>
              </a:rPr>
              <a:t>configset.solrconfig.completion</a:t>
            </a:r>
            <a:endParaRPr lang="en-US" sz="1050" dirty="0"/>
          </a:p>
        </p:txBody>
      </p:sp>
      <p:sp>
        <p:nvSpPr>
          <p:cNvPr id="9" name="Shape 6"/>
          <p:cNvSpPr/>
          <p:nvPr/>
        </p:nvSpPr>
        <p:spPr>
          <a:xfrm>
            <a:off x="8935302" y="1600200"/>
            <a:ext cx="2291915" cy="2148840"/>
          </a:xfrm>
          <a:prstGeom prst="rect">
            <a:avLst/>
          </a:prstGeom>
          <a:solidFill>
            <a:srgbClr val="FFFFFF"/>
          </a:solidFill>
          <a:ln w="12700">
            <a:solidFill>
              <a:srgbClr val="E2E5F0"/>
            </a:solidFill>
            <a:prstDash val="solid"/>
          </a:ln>
          <a:effectLst>
            <a:outerShdw sx="100000" sy="100000" kx="0" ky="0" algn="bl" rotWithShape="0" blurRad="101600" dist="25400" dir="5400000">
              <a:srgbClr val="1B2340">
                <a:alpha val="15000"/>
              </a:srgbClr>
            </a:outerShdw>
          </a:effectLst>
        </p:spPr>
      </p:sp>
      <p:pic>
        <p:nvPicPr>
          <p:cNvPr id="10" name="Image 1" descr="/Users/adityaparikh/IdeaProjects/solr-intellij-plugin/docs/images/10-completion-solrconfig-structure.png">    </p:cNvPr>
          <p:cNvPicPr>
            <a:picLocks noChangeAspect="1"/>
          </p:cNvPicPr>
          <p:nvPr/>
        </p:nvPicPr>
        <p:blipFill>
          <a:blip r:embed="rId2"/>
          <a:stretch>
            <a:fillRect/>
          </a:stretch>
        </p:blipFill>
        <p:spPr>
          <a:xfrm>
            <a:off x="9026742" y="1691640"/>
            <a:ext cx="2109035" cy="1965960"/>
          </a:xfrm>
          <a:prstGeom prst="rect">
            <a:avLst/>
          </a:prstGeom>
        </p:spPr>
      </p:pic>
      <p:sp>
        <p:nvSpPr>
          <p:cNvPr id="11" name="Shape 7"/>
          <p:cNvSpPr/>
          <p:nvPr/>
        </p:nvSpPr>
        <p:spPr>
          <a:xfrm>
            <a:off x="4983480" y="3977640"/>
            <a:ext cx="6309360" cy="777240"/>
          </a:xfrm>
          <a:prstGeom prst="rect">
            <a:avLst/>
          </a:prstGeom>
          <a:solidFill>
            <a:srgbClr val="141B3C"/>
          </a:solidFill>
          <a:ln/>
        </p:spPr>
      </p:sp>
      <p:sp>
        <p:nvSpPr>
          <p:cNvPr id="12" name="Text 8"/>
          <p:cNvSpPr/>
          <p:nvPr/>
        </p:nvSpPr>
        <p:spPr>
          <a:xfrm>
            <a:off x="5120640" y="3977640"/>
            <a:ext cx="6035040" cy="777240"/>
          </a:xfrm>
          <a:prstGeom prst="rect">
            <a:avLst/>
          </a:prstGeom>
          <a:noFill/>
          <a:ln/>
        </p:spPr>
        <p:txBody>
          <a:bodyPr wrap="square" rtlCol="0" anchor="ctr"/>
          <a:lstStyle/>
          <a:p>
            <a:pPr algn="ctr" indent="0" marL="0">
              <a:buNone/>
            </a:pPr>
            <a:r>
              <a:rPr lang="en-US" sz="1400" dirty="0">
                <a:solidFill>
                  <a:srgbClr val="FFFFFF"/>
                </a:solidFill>
                <a:latin typeface="Courier New" pitchFamily="34" charset="0"/>
                <a:ea typeface="Courier New" pitchFamily="34" charset="-122"/>
                <a:cs typeface="Courier New" pitchFamily="34" charset="-120"/>
              </a:rPr>
              <a:t>configset.schema  ↔  configset.solrconfig  —  never import each other</a:t>
            </a:r>
            <a:endParaRPr lang="en-US" sz="1400" dirty="0"/>
          </a:p>
        </p:txBody>
      </p:sp>
      <p:sp>
        <p:nvSpPr>
          <p:cNvPr id="13" name="Text 9"/>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docs/code-organization.md “configset.schema.completion and configset.solrconfig.completion”; SolrSchemaCompletionContributor.kt; SolrConfigElementDescriptorProvider.kt</a:t>
            </a:r>
            <a:endParaRPr lang="en-US" sz="900" dirty="0"/>
          </a:p>
        </p:txBody>
      </p:sp>
      <p:sp>
        <p:nvSpPr>
          <p:cNvPr id="15" name="Text 10"/>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3 · CODE LAYOUT</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200" b="1" dirty="0">
                <a:solidFill>
                  <a:srgbClr val="1B2340"/>
                </a:solidFill>
                <a:latin typeface="Cambria" pitchFamily="34" charset="0"/>
                <a:ea typeface="Cambria" pitchFamily="34" charset="-122"/>
                <a:cs typeface="Cambria" pitchFamily="34" charset="-120"/>
              </a:rPr>
              <a:t>parsing vs. reading: the boundary is exactly where the platform enters</a:t>
            </a:r>
            <a:endParaRPr lang="en-US" sz="2200" dirty="0"/>
          </a:p>
        </p:txBody>
      </p:sp>
      <p:sp>
        <p:nvSpPr>
          <p:cNvPr id="4" name="Shape 2"/>
          <p:cNvSpPr/>
          <p:nvPr/>
        </p:nvSpPr>
        <p:spPr>
          <a:xfrm>
            <a:off x="548640" y="1417320"/>
            <a:ext cx="2468880" cy="822960"/>
          </a:xfrm>
          <a:prstGeom prst="roundRect">
            <a:avLst>
              <a:gd name="adj" fmla="val 7778"/>
            </a:avLst>
          </a:prstGeom>
          <a:solidFill>
            <a:srgbClr val="F6F7FB"/>
          </a:solidFill>
          <a:ln w="12700">
            <a:solidFill>
              <a:srgbClr val="E2E5F0"/>
            </a:solidFill>
            <a:prstDash val="solid"/>
          </a:ln>
        </p:spPr>
      </p:sp>
      <p:sp>
        <p:nvSpPr>
          <p:cNvPr id="5" name="Text 3"/>
          <p:cNvSpPr/>
          <p:nvPr/>
        </p:nvSpPr>
        <p:spPr>
          <a:xfrm>
            <a:off x="640080" y="1417320"/>
            <a:ext cx="2286000" cy="822960"/>
          </a:xfrm>
          <a:prstGeom prst="rect">
            <a:avLst/>
          </a:prstGeom>
          <a:noFill/>
          <a:ln/>
        </p:spPr>
        <p:txBody>
          <a:bodyPr wrap="square" rtlCol="0" anchor="ctr"/>
          <a:lstStyle/>
          <a:p>
            <a:pPr algn="ctr" indent="0" marL="0">
              <a:buNone/>
            </a:pPr>
            <a:r>
              <a:rPr lang="en-US" sz="1150" b="1" dirty="0">
                <a:solidFill>
                  <a:srgbClr val="1B2340"/>
                </a:solidFill>
                <a:latin typeface="Calibri" pitchFamily="34" charset="0"/>
                <a:ea typeface="Calibri" pitchFamily="34" charset="-122"/>
                <a:cs typeface="Calibri" pitchFamily="34" charset="-120"/>
              </a:rPr>
              <a:t>managed-schema.xml</a:t>
            </a:r>
            <a:endParaRPr lang="en-US" sz="1150" dirty="0"/>
          </a:p>
        </p:txBody>
      </p:sp>
      <p:sp>
        <p:nvSpPr>
          <p:cNvPr id="6" name="Shape 4"/>
          <p:cNvSpPr/>
          <p:nvPr/>
        </p:nvSpPr>
        <p:spPr>
          <a:xfrm>
            <a:off x="548640" y="2468880"/>
            <a:ext cx="2468880" cy="822960"/>
          </a:xfrm>
          <a:prstGeom prst="roundRect">
            <a:avLst>
              <a:gd name="adj" fmla="val 7778"/>
            </a:avLst>
          </a:prstGeom>
          <a:solidFill>
            <a:srgbClr val="F6F7FB"/>
          </a:solidFill>
          <a:ln w="12700">
            <a:solidFill>
              <a:srgbClr val="E2E5F0"/>
            </a:solidFill>
            <a:prstDash val="solid"/>
          </a:ln>
        </p:spPr>
      </p:sp>
      <p:sp>
        <p:nvSpPr>
          <p:cNvPr id="7" name="Text 5"/>
          <p:cNvSpPr/>
          <p:nvPr/>
        </p:nvSpPr>
        <p:spPr>
          <a:xfrm>
            <a:off x="640080" y="2468880"/>
            <a:ext cx="2286000" cy="822960"/>
          </a:xfrm>
          <a:prstGeom prst="rect">
            <a:avLst/>
          </a:prstGeom>
          <a:noFill/>
          <a:ln/>
        </p:spPr>
        <p:txBody>
          <a:bodyPr wrap="square" rtlCol="0" anchor="ctr"/>
          <a:lstStyle/>
          <a:p>
            <a:pPr algn="ctr" indent="0" marL="0">
              <a:buNone/>
            </a:pPr>
            <a:r>
              <a:rPr lang="en-US" sz="1150" b="1" dirty="0">
                <a:solidFill>
                  <a:srgbClr val="1B2340"/>
                </a:solidFill>
                <a:latin typeface="Calibri" pitchFamily="34" charset="0"/>
                <a:ea typeface="Calibri" pitchFamily="34" charset="-122"/>
                <a:cs typeface="Calibri" pitchFamily="34" charset="-120"/>
              </a:rPr>
              <a:t>solrconfig.xml</a:t>
            </a:r>
            <a:endParaRPr lang="en-US" sz="1150" dirty="0"/>
          </a:p>
        </p:txBody>
      </p:sp>
      <p:sp>
        <p:nvSpPr>
          <p:cNvPr id="8" name="Shape 6"/>
          <p:cNvSpPr/>
          <p:nvPr/>
        </p:nvSpPr>
        <p:spPr>
          <a:xfrm>
            <a:off x="3383280" y="1417320"/>
            <a:ext cx="2331720" cy="822960"/>
          </a:xfrm>
          <a:prstGeom prst="roundRect">
            <a:avLst>
              <a:gd name="adj" fmla="val 7778"/>
            </a:avLst>
          </a:prstGeom>
          <a:solidFill>
            <a:srgbClr val="FFFFFF"/>
          </a:solidFill>
          <a:ln w="12700">
            <a:solidFill>
              <a:srgbClr val="E2E5F0"/>
            </a:solidFill>
            <a:prstDash val="solid"/>
          </a:ln>
        </p:spPr>
      </p:sp>
      <p:sp>
        <p:nvSpPr>
          <p:cNvPr id="9" name="Text 7"/>
          <p:cNvSpPr/>
          <p:nvPr/>
        </p:nvSpPr>
        <p:spPr>
          <a:xfrm>
            <a:off x="3474720" y="1490472"/>
            <a:ext cx="2148840" cy="452628"/>
          </a:xfrm>
          <a:prstGeom prst="rect">
            <a:avLst/>
          </a:prstGeom>
          <a:noFill/>
          <a:ln/>
        </p:spPr>
        <p:txBody>
          <a:bodyPr wrap="square" rtlCol="0" anchor="b"/>
          <a:lstStyle/>
          <a:p>
            <a:pPr algn="ctr" indent="0" marL="0">
              <a:buNone/>
            </a:pPr>
            <a:r>
              <a:rPr lang="en-US" sz="1100" b="1" dirty="0">
                <a:solidFill>
                  <a:srgbClr val="1B2340"/>
                </a:solidFill>
                <a:latin typeface="Calibri" pitchFamily="34" charset="0"/>
                <a:ea typeface="Calibri" pitchFamily="34" charset="-122"/>
                <a:cs typeface="Calibri" pitchFamily="34" charset="-120"/>
              </a:rPr>
              <a:t>SolrSchemaParser</a:t>
            </a:r>
            <a:endParaRPr lang="en-US" sz="1100" dirty="0"/>
          </a:p>
        </p:txBody>
      </p:sp>
      <p:sp>
        <p:nvSpPr>
          <p:cNvPr id="10" name="Text 8"/>
          <p:cNvSpPr/>
          <p:nvPr/>
        </p:nvSpPr>
        <p:spPr>
          <a:xfrm>
            <a:off x="3474720" y="1845259"/>
            <a:ext cx="2148840" cy="362102"/>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pure fn, no IJ types</a:t>
            </a:r>
            <a:endParaRPr lang="en-US" sz="950" dirty="0"/>
          </a:p>
        </p:txBody>
      </p:sp>
      <p:sp>
        <p:nvSpPr>
          <p:cNvPr id="11" name="Shape 9"/>
          <p:cNvSpPr/>
          <p:nvPr/>
        </p:nvSpPr>
        <p:spPr>
          <a:xfrm>
            <a:off x="3383280" y="2468880"/>
            <a:ext cx="2331720" cy="822960"/>
          </a:xfrm>
          <a:prstGeom prst="roundRect">
            <a:avLst>
              <a:gd name="adj" fmla="val 7778"/>
            </a:avLst>
          </a:prstGeom>
          <a:solidFill>
            <a:srgbClr val="FFFFFF"/>
          </a:solidFill>
          <a:ln w="12700">
            <a:solidFill>
              <a:srgbClr val="E2E5F0"/>
            </a:solidFill>
            <a:prstDash val="solid"/>
          </a:ln>
        </p:spPr>
      </p:sp>
      <p:sp>
        <p:nvSpPr>
          <p:cNvPr id="12" name="Text 10"/>
          <p:cNvSpPr/>
          <p:nvPr/>
        </p:nvSpPr>
        <p:spPr>
          <a:xfrm>
            <a:off x="3474720" y="2542032"/>
            <a:ext cx="2148840" cy="452628"/>
          </a:xfrm>
          <a:prstGeom prst="rect">
            <a:avLst/>
          </a:prstGeom>
          <a:noFill/>
          <a:ln/>
        </p:spPr>
        <p:txBody>
          <a:bodyPr wrap="square" rtlCol="0" anchor="b"/>
          <a:lstStyle/>
          <a:p>
            <a:pPr algn="ctr" indent="0" marL="0">
              <a:buNone/>
            </a:pPr>
            <a:r>
              <a:rPr lang="en-US" sz="1100" b="1" dirty="0">
                <a:solidFill>
                  <a:srgbClr val="1B2340"/>
                </a:solidFill>
                <a:latin typeface="Calibri" pitchFamily="34" charset="0"/>
                <a:ea typeface="Calibri" pitchFamily="34" charset="-122"/>
                <a:cs typeface="Calibri" pitchFamily="34" charset="-120"/>
              </a:rPr>
              <a:t>SolrConfigParser</a:t>
            </a:r>
            <a:endParaRPr lang="en-US" sz="1100" dirty="0"/>
          </a:p>
        </p:txBody>
      </p:sp>
      <p:sp>
        <p:nvSpPr>
          <p:cNvPr id="13" name="Text 11"/>
          <p:cNvSpPr/>
          <p:nvPr/>
        </p:nvSpPr>
        <p:spPr>
          <a:xfrm>
            <a:off x="3474720" y="2896819"/>
            <a:ext cx="2148840" cy="362102"/>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pure fn, no IJ types</a:t>
            </a:r>
            <a:endParaRPr lang="en-US" sz="950" dirty="0"/>
          </a:p>
        </p:txBody>
      </p:sp>
      <p:sp>
        <p:nvSpPr>
          <p:cNvPr id="14" name="Shape 12"/>
          <p:cNvSpPr/>
          <p:nvPr/>
        </p:nvSpPr>
        <p:spPr>
          <a:xfrm>
            <a:off x="3017520" y="1746504"/>
            <a:ext cx="320040" cy="164592"/>
          </a:xfrm>
          <a:prstGeom prst="rightArrow">
            <a:avLst/>
          </a:prstGeom>
          <a:solidFill>
            <a:srgbClr val="FF6B35"/>
          </a:solidFill>
          <a:ln/>
        </p:spPr>
      </p:sp>
      <p:sp>
        <p:nvSpPr>
          <p:cNvPr id="15" name="Shape 13"/>
          <p:cNvSpPr/>
          <p:nvPr/>
        </p:nvSpPr>
        <p:spPr>
          <a:xfrm>
            <a:off x="3017520" y="2798064"/>
            <a:ext cx="320040" cy="164592"/>
          </a:xfrm>
          <a:prstGeom prst="rightArrow">
            <a:avLst/>
          </a:prstGeom>
          <a:solidFill>
            <a:srgbClr val="FF6B35"/>
          </a:solidFill>
          <a:ln/>
        </p:spPr>
      </p:sp>
      <p:sp>
        <p:nvSpPr>
          <p:cNvPr id="16" name="Shape 14"/>
          <p:cNvSpPr/>
          <p:nvPr/>
        </p:nvSpPr>
        <p:spPr>
          <a:xfrm>
            <a:off x="6080760" y="1920240"/>
            <a:ext cx="2377440" cy="1051560"/>
          </a:xfrm>
          <a:prstGeom prst="roundRect">
            <a:avLst>
              <a:gd name="adj" fmla="val 6087"/>
            </a:avLst>
          </a:prstGeom>
          <a:solidFill>
            <a:srgbClr val="1F2A56"/>
          </a:solidFill>
          <a:ln w="12700">
            <a:solidFill>
              <a:srgbClr val="E2E5F0"/>
            </a:solidFill>
            <a:prstDash val="solid"/>
          </a:ln>
        </p:spPr>
      </p:sp>
      <p:sp>
        <p:nvSpPr>
          <p:cNvPr id="17" name="Text 15"/>
          <p:cNvSpPr/>
          <p:nvPr/>
        </p:nvSpPr>
        <p:spPr>
          <a:xfrm>
            <a:off x="6172200" y="1993392"/>
            <a:ext cx="2194560" cy="578358"/>
          </a:xfrm>
          <a:prstGeom prst="rect">
            <a:avLst/>
          </a:prstGeom>
          <a:noFill/>
          <a:ln/>
        </p:spPr>
        <p:txBody>
          <a:bodyPr wrap="square" rtlCol="0" anchor="b"/>
          <a:lstStyle/>
          <a:p>
            <a:pPr algn="ctr" indent="0" marL="0">
              <a:buNone/>
            </a:pPr>
            <a:r>
              <a:rPr lang="en-US" sz="1050" b="1" dirty="0">
                <a:solidFill>
                  <a:srgbClr val="FFFFFF"/>
                </a:solidFill>
                <a:latin typeface="Calibri" pitchFamily="34" charset="0"/>
                <a:ea typeface="Calibri" pitchFamily="34" charset="-122"/>
                <a:cs typeface="Calibri" pitchFamily="34" charset="-120"/>
              </a:rPr>
              <a:t>SolrConfigsetFacts</a:t>
            </a:r>
            <a:endParaRPr lang="en-US" sz="1050" dirty="0"/>
          </a:p>
        </p:txBody>
      </p:sp>
      <p:sp>
        <p:nvSpPr>
          <p:cNvPr id="18" name="Text 16"/>
          <p:cNvSpPr/>
          <p:nvPr/>
        </p:nvSpPr>
        <p:spPr>
          <a:xfrm>
            <a:off x="6172200" y="2467051"/>
            <a:ext cx="2194560" cy="462686"/>
          </a:xfrm>
          <a:prstGeom prst="rect">
            <a:avLst/>
          </a:prstGeom>
          <a:noFill/>
          <a:ln/>
        </p:spPr>
        <p:txBody>
          <a:bodyPr wrap="square" rtlCol="0" anchor="t"/>
          <a:lstStyle/>
          <a:p>
            <a:pPr algn="ctr" indent="0" marL="0">
              <a:buNone/>
            </a:pPr>
            <a:r>
              <a:rPr lang="en-US" sz="950" dirty="0">
                <a:solidFill>
                  <a:srgbClr val="CFE0FF"/>
                </a:solidFill>
                <a:latin typeface="Calibri" pitchFamily="34" charset="0"/>
                <a:ea typeface="Calibri" pitchFamily="34" charset="-122"/>
                <a:cs typeface="Calibri" pitchFamily="34" charset="-120"/>
              </a:rPr>
              <a:t>fields, types, copyFields,</a:t>
            </a:r>
            <a:endParaRPr lang="en-US" sz="950" dirty="0"/>
          </a:p>
          <a:p>
            <a:pPr algn="ctr" indent="0" marL="0">
              <a:buNone/>
            </a:pPr>
            <a:r>
              <a:rPr lang="en-US" sz="950" dirty="0">
                <a:solidFill>
                  <a:srgbClr val="CFE0FF"/>
                </a:solidFill>
                <a:latin typeface="Calibri" pitchFamily="34" charset="0"/>
                <a:ea typeface="Calibri" pitchFamily="34" charset="-122"/>
                <a:cs typeface="Calibri" pitchFamily="34" charset="-120"/>
              </a:rPr>
              <a:t>uniqueKey, luceneMatchVersion</a:t>
            </a:r>
            <a:endParaRPr lang="en-US" sz="950" dirty="0"/>
          </a:p>
        </p:txBody>
      </p:sp>
      <p:sp>
        <p:nvSpPr>
          <p:cNvPr id="19" name="Shape 17"/>
          <p:cNvSpPr/>
          <p:nvPr/>
        </p:nvSpPr>
        <p:spPr>
          <a:xfrm>
            <a:off x="5760720" y="1746504"/>
            <a:ext cx="274320" cy="164592"/>
          </a:xfrm>
          <a:prstGeom prst="rightArrow">
            <a:avLst/>
          </a:prstGeom>
          <a:solidFill>
            <a:srgbClr val="FF6B35"/>
          </a:solidFill>
          <a:ln/>
        </p:spPr>
      </p:sp>
      <p:sp>
        <p:nvSpPr>
          <p:cNvPr id="20" name="Shape 18"/>
          <p:cNvSpPr/>
          <p:nvPr/>
        </p:nvSpPr>
        <p:spPr>
          <a:xfrm>
            <a:off x="5760720" y="2798064"/>
            <a:ext cx="274320" cy="164592"/>
          </a:xfrm>
          <a:prstGeom prst="rightArrow">
            <a:avLst/>
          </a:prstGeom>
          <a:solidFill>
            <a:srgbClr val="FF6B35"/>
          </a:solidFill>
          <a:ln/>
        </p:spPr>
      </p:sp>
      <p:sp>
        <p:nvSpPr>
          <p:cNvPr id="21" name="Shape 19"/>
          <p:cNvSpPr/>
          <p:nvPr/>
        </p:nvSpPr>
        <p:spPr>
          <a:xfrm>
            <a:off x="8823960" y="1920240"/>
            <a:ext cx="2651760" cy="1051560"/>
          </a:xfrm>
          <a:prstGeom prst="roundRect">
            <a:avLst>
              <a:gd name="adj" fmla="val 6087"/>
            </a:avLst>
          </a:prstGeom>
          <a:solidFill>
            <a:srgbClr val="141B3C"/>
          </a:solidFill>
          <a:ln w="12700">
            <a:solidFill>
              <a:srgbClr val="E2E5F0"/>
            </a:solidFill>
            <a:prstDash val="solid"/>
          </a:ln>
        </p:spPr>
      </p:sp>
      <p:sp>
        <p:nvSpPr>
          <p:cNvPr id="22" name="Text 20"/>
          <p:cNvSpPr/>
          <p:nvPr/>
        </p:nvSpPr>
        <p:spPr>
          <a:xfrm>
            <a:off x="8915400" y="1993392"/>
            <a:ext cx="2468880" cy="578358"/>
          </a:xfrm>
          <a:prstGeom prst="rect">
            <a:avLst/>
          </a:prstGeom>
          <a:noFill/>
          <a:ln/>
        </p:spPr>
        <p:txBody>
          <a:bodyPr wrap="square"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SolrFieldModel</a:t>
            </a:r>
            <a:endParaRPr lang="en-US" sz="1100" dirty="0"/>
          </a:p>
        </p:txBody>
      </p:sp>
      <p:sp>
        <p:nvSpPr>
          <p:cNvPr id="23" name="Text 21"/>
          <p:cNvSpPr/>
          <p:nvPr/>
        </p:nvSpPr>
        <p:spPr>
          <a:xfrm>
            <a:off x="8915400" y="2467051"/>
            <a:ext cx="2468880" cy="462686"/>
          </a:xfrm>
          <a:prstGeom prst="rect">
            <a:avLst/>
          </a:prstGeom>
          <a:noFill/>
          <a:ln/>
        </p:spPr>
        <p:txBody>
          <a:bodyPr wrap="square" rtlCol="0" anchor="t"/>
          <a:lstStyle/>
          <a:p>
            <a:pPr algn="ctr" indent="0" marL="0">
              <a:buNone/>
            </a:pPr>
            <a:r>
              <a:rPr lang="en-US" sz="950" dirty="0">
                <a:solidFill>
                  <a:srgbClr val="CFE0FF"/>
                </a:solidFill>
                <a:latin typeface="Calibri" pitchFamily="34" charset="0"/>
                <a:ea typeface="Calibri" pitchFamily="34" charset="-122"/>
                <a:cs typeface="Calibri" pitchFamily="34" charset="-120"/>
              </a:rPr>
              <a:t>repository ⊕ server</a:t>
            </a:r>
            <a:endParaRPr lang="en-US" sz="950" dirty="0"/>
          </a:p>
          <a:p>
            <a:pPr algn="ctr" indent="0" marL="0">
              <a:buNone/>
            </a:pPr>
            <a:r>
              <a:rPr lang="en-US" sz="950" dirty="0">
                <a:solidFill>
                  <a:srgbClr val="CFE0FF"/>
                </a:solidFill>
                <a:latin typeface="Calibri" pitchFamily="34" charset="0"/>
                <a:ea typeface="Calibri" pitchFamily="34" charset="-122"/>
                <a:cs typeface="Calibri" pitchFamily="34" charset="-120"/>
              </a:rPr>
              <a:t>(server: a live collection)</a:t>
            </a:r>
            <a:endParaRPr lang="en-US" sz="950" dirty="0"/>
          </a:p>
        </p:txBody>
      </p:sp>
      <p:sp>
        <p:nvSpPr>
          <p:cNvPr id="24" name="Shape 22"/>
          <p:cNvSpPr/>
          <p:nvPr/>
        </p:nvSpPr>
        <p:spPr>
          <a:xfrm>
            <a:off x="8503920" y="2363724"/>
            <a:ext cx="274320" cy="164592"/>
          </a:xfrm>
          <a:prstGeom prst="rightArrow">
            <a:avLst/>
          </a:prstGeom>
          <a:solidFill>
            <a:srgbClr val="FF6B35"/>
          </a:solidFill>
          <a:ln/>
        </p:spPr>
      </p:sp>
      <p:sp>
        <p:nvSpPr>
          <p:cNvPr id="25" name="Shape 23"/>
          <p:cNvSpPr/>
          <p:nvPr/>
        </p:nvSpPr>
        <p:spPr>
          <a:xfrm>
            <a:off x="2743200" y="4114800"/>
            <a:ext cx="6675120" cy="1417320"/>
          </a:xfrm>
          <a:prstGeom prst="roundRect">
            <a:avLst>
              <a:gd name="adj" fmla="val 4516"/>
            </a:avLst>
          </a:prstGeom>
          <a:solidFill>
            <a:srgbClr val="FFFFFF"/>
          </a:solidFill>
          <a:ln w="12700">
            <a:solidFill>
              <a:srgbClr val="E2E5F0"/>
            </a:solidFill>
            <a:prstDash val="solid"/>
          </a:ln>
        </p:spPr>
      </p:sp>
      <p:sp>
        <p:nvSpPr>
          <p:cNvPr id="26" name="Text 24"/>
          <p:cNvSpPr/>
          <p:nvPr/>
        </p:nvSpPr>
        <p:spPr>
          <a:xfrm>
            <a:off x="2834640" y="4187952"/>
            <a:ext cx="6492240" cy="779526"/>
          </a:xfrm>
          <a:prstGeom prst="rect">
            <a:avLst/>
          </a:prstGeom>
          <a:noFill/>
          <a:ln/>
        </p:spPr>
        <p:txBody>
          <a:bodyPr wrap="square" rtlCol="0" anchor="b"/>
          <a:lstStyle/>
          <a:p>
            <a:pPr algn="ctr" indent="0" marL="0">
              <a:buNone/>
            </a:pPr>
            <a:r>
              <a:rPr lang="en-US" sz="1300" b="1" dirty="0">
                <a:solidFill>
                  <a:srgbClr val="1B2340"/>
                </a:solidFill>
                <a:latin typeface="Calibri" pitchFamily="34" charset="0"/>
                <a:ea typeface="Calibri" pitchFamily="34" charset="-122"/>
                <a:cs typeface="Calibri" pitchFamily="34" charset="-120"/>
              </a:rPr>
              <a:t>SolrConfigsetReader.modelFor(PsiFile)</a:t>
            </a:r>
            <a:endParaRPr lang="en-US" sz="1300" dirty="0"/>
          </a:p>
        </p:txBody>
      </p:sp>
      <p:sp>
        <p:nvSpPr>
          <p:cNvPr id="27" name="Text 25"/>
          <p:cNvSpPr/>
          <p:nvPr/>
        </p:nvSpPr>
        <p:spPr>
          <a:xfrm>
            <a:off x="2834640" y="4851806"/>
            <a:ext cx="6492240" cy="623621"/>
          </a:xfrm>
          <a:prstGeom prst="rect">
            <a:avLst/>
          </a:prstGeom>
          <a:noFill/>
          <a:ln/>
        </p:spPr>
        <p:txBody>
          <a:bodyPr wrap="square"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CachedValuesManager, hung on the configset’s PsiDirectory</a:t>
            </a:r>
            <a:endParaRPr lang="en-US" sz="950" dirty="0"/>
          </a:p>
          <a:p>
            <a:pPr algn="ctr" indent="0" marL="0">
              <a:buNone/>
            </a:pPr>
            <a:r>
              <a:rPr lang="en-US" sz="950" dirty="0">
                <a:solidFill>
                  <a:srgbClr val="5B6478"/>
                </a:solidFill>
                <a:latin typeface="Calibri" pitchFamily="34" charset="0"/>
                <a:ea typeface="Calibri" pitchFamily="34" charset="-122"/>
                <a:cs typeface="Calibri" pitchFamily="34" charset="-120"/>
              </a:rPr>
              <a:t>deps: both source PsiFiles + VFS_STRUCTURE_MODIFICATIONS</a:t>
            </a:r>
            <a:endParaRPr lang="en-US" sz="950" dirty="0"/>
          </a:p>
        </p:txBody>
      </p:sp>
      <p:sp>
        <p:nvSpPr>
          <p:cNvPr id="28" name="Shape 26"/>
          <p:cNvSpPr/>
          <p:nvPr/>
        </p:nvSpPr>
        <p:spPr>
          <a:xfrm>
            <a:off x="9976104" y="2971800"/>
            <a:ext cx="164592" cy="1097280"/>
          </a:xfrm>
          <a:prstGeom prst="downArrow">
            <a:avLst/>
          </a:prstGeom>
          <a:solidFill>
            <a:srgbClr val="FF6B35"/>
          </a:solidFill>
          <a:ln/>
        </p:spPr>
      </p:sp>
      <p:sp>
        <p:nvSpPr>
          <p:cNvPr id="29" name="Text 27"/>
          <p:cNvSpPr/>
          <p:nvPr/>
        </p:nvSpPr>
        <p:spPr>
          <a:xfrm>
            <a:off x="2743200" y="5715000"/>
            <a:ext cx="6675120" cy="365760"/>
          </a:xfrm>
          <a:prstGeom prst="rect">
            <a:avLst/>
          </a:prstGeom>
          <a:noFill/>
          <a:ln/>
        </p:spPr>
        <p:txBody>
          <a:bodyPr wrap="square" rtlCol="0" anchor="ctr"/>
          <a:lstStyle/>
          <a:p>
            <a:pPr algn="ctr" indent="0" marL="0">
              <a:buNone/>
            </a:pPr>
            <a:r>
              <a:rPr lang="en-US" sz="1100" i="1" dirty="0">
                <a:solidFill>
                  <a:srgbClr val="5B6478"/>
                </a:solidFill>
                <a:latin typeface="Calibri" pitchFamily="34" charset="0"/>
                <a:ea typeface="Calibri" pitchFamily="34" charset="-122"/>
                <a:cs typeface="Calibri" pitchFamily="34" charset="-120"/>
              </a:rPr>
              <a:t>read by: inspection · completion · reference · documentation · hint — never memoized a second time</a:t>
            </a:r>
            <a:endParaRPr lang="en-US" sz="1100" dirty="0"/>
          </a:p>
        </p:txBody>
      </p:sp>
      <p:sp>
        <p:nvSpPr>
          <p:cNvPr id="30" name="Text 28"/>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docs/code-organization.md “From files to the model”, “parsing and reading”; docs/glossary.md “CachedValuesManager”</a:t>
            </a:r>
            <a:endParaRPr lang="en-US" sz="950" dirty="0"/>
          </a:p>
        </p:txBody>
      </p:sp>
      <p:sp>
        <p:nvSpPr>
          <p:cNvPr id="32" name="Text 2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3 · CODE LAYOUT</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200" b="1" dirty="0">
                <a:solidFill>
                  <a:srgbClr val="1B2340"/>
                </a:solidFill>
                <a:latin typeface="Cambria" pitchFamily="34" charset="0"/>
                <a:ea typeface="Cambria" pitchFamily="34" charset="-122"/>
                <a:cs typeface="Cambria" pitchFamily="34" charset="-120"/>
              </a:rPr>
              <a:t>server/ — seven packages, and a test that enforces the boundary</a:t>
            </a:r>
            <a:endParaRPr lang="en-US" sz="2200" dirty="0"/>
          </a:p>
        </p:txBody>
      </p:sp>
      <p:sp>
        <p:nvSpPr>
          <p:cNvPr id="4" name="Text 2"/>
          <p:cNvSpPr/>
          <p:nvPr/>
        </p:nvSpPr>
        <p:spPr>
          <a:xfrm>
            <a:off x="640080" y="1554480"/>
            <a:ext cx="10607040" cy="4617720"/>
          </a:xfrm>
          <a:prstGeom prst="rect">
            <a:avLst/>
          </a:prstGeom>
          <a:noFill/>
          <a:ln/>
        </p:spPr>
        <p:txBody>
          <a:bodyPr wrap="square" rtlCol="0" anchor="t"/>
          <a:lstStyle/>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connection · transport · reading · topology · query · drift · indexing.</a:t>
            </a:r>
            <a:endParaRPr lang="en-US" sz="1550" dirty="0"/>
          </a:p>
          <a:p>
            <a:pPr marL="228600" indent="-228600">
              <a:lnSpc>
                <a:spcPct val="112000"/>
              </a:lnSpc>
              <a:spcAft>
                <a:spcPts val="1100"/>
              </a:spcAft>
              <a:buSzPct val="100000"/>
              <a:buChar char="•"/>
            </a:pPr>
            <a:r>
              <a:rPr lang="en-US" sz="1500" dirty="0">
                <a:solidFill>
                  <a:srgbClr val="1B2340"/>
                </a:solidFill>
                <a:latin typeface="Calibri" pitchFamily="34" charset="0"/>
                <a:ea typeface="Calibri" pitchFamily="34" charset="-122"/>
                <a:cs typeface="Calibri" pitchFamily="34" charset="-120"/>
              </a:rPr>
              <a:t>An HTTP client, a collections tool window, queries through the IDE’s own HTTP Client, a drift view that compares a configset against a collection, and a test document checked before it is indexed. Nothing on the editor path may reach any of it — configset editing works with zero connection configured, by design.</a:t>
            </a:r>
            <a:endParaRPr lang="en-US" sz="1550" dirty="0"/>
          </a:p>
          <a:p>
            <a:pPr indent="0" marL="0">
              <a:lnSpc>
                <a:spcPct val="112000"/>
              </a:lnSpc>
              <a:spcAft>
                <a:spcPts val="400"/>
              </a:spcAft>
              <a:buNone/>
            </a:pPr>
            <a:r>
              <a:rPr lang="en-US" sz="600" dirty="0">
                <a:solidFill>
                  <a:srgbClr val="1B2340"/>
                </a:solidFill>
                <a:latin typeface="Calibri" pitchFamily="34" charset="0"/>
                <a:ea typeface="Calibri" pitchFamily="34" charset="-122"/>
                <a:cs typeface="Calibri" pitchFamily="34" charset="-120"/>
              </a:rPr>
              <a:t> </a:t>
            </a:r>
            <a:endParaRPr lang="en-US" sz="1550" dirty="0"/>
          </a:p>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The distinction that governs it: WHERE state may be written.</a:t>
            </a:r>
            <a:endParaRPr lang="en-US" sz="1550" dirty="0"/>
          </a:p>
          <a:p>
            <a:pPr marL="228600" indent="-228600">
              <a:lnSpc>
                <a:spcPct val="112000"/>
              </a:lnSpc>
              <a:spcAft>
                <a:spcPts val="1100"/>
              </a:spcAft>
              <a:buSzPct val="100000"/>
              <a:buChar char="•"/>
            </a:pPr>
            <a:r>
              <a:rPr lang="en-US" sz="1500" dirty="0">
                <a:solidFill>
                  <a:srgbClr val="1B2340"/>
                </a:solidFill>
                <a:latin typeface="Calibri" pitchFamily="34" charset="0"/>
                <a:ea typeface="Calibri" pitchFamily="34" charset="-122"/>
                <a:cs typeface="Calibri" pitchFamily="34" charset="-120"/>
              </a:rPr>
              <a:t>A configset root is a fact about the project and is shared (persisted through solr.xml, path-macro-collapsed). A connection is a fact about one developer's machine — workspace-local storage, credentials in PasswordSafe, never a committed file.</a:t>
            </a:r>
            <a:endParaRPr lang="en-US" sz="1550" dirty="0"/>
          </a:p>
          <a:p>
            <a:pPr indent="0" marL="0">
              <a:lnSpc>
                <a:spcPct val="112000"/>
              </a:lnSpc>
              <a:spcAft>
                <a:spcPts val="400"/>
              </a:spcAft>
              <a:buNone/>
            </a:pPr>
            <a:r>
              <a:rPr lang="en-US" sz="600" dirty="0">
                <a:solidFill>
                  <a:srgbClr val="1B2340"/>
                </a:solidFill>
                <a:latin typeface="Calibri" pitchFamily="34" charset="0"/>
                <a:ea typeface="Calibri" pitchFamily="34" charset="-122"/>
                <a:cs typeface="Calibri" pitchFamily="34" charset="-120"/>
              </a:rPr>
              <a:t> </a:t>
            </a:r>
            <a:endParaRPr lang="en-US" sz="1550" dirty="0"/>
          </a:p>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Where later work goes, stated plainly rather than left to guesswork:</a:t>
            </a:r>
            <a:endParaRPr lang="en-US" sz="1550" dirty="0"/>
          </a:p>
          <a:p>
            <a:pPr marL="228600" indent="-228600">
              <a:lnSpc>
                <a:spcPct val="112000"/>
              </a:lnSpc>
              <a:spcAft>
                <a:spcPts val="1100"/>
              </a:spcAft>
              <a:buSzPct val="100000"/>
              <a:buChar char="•"/>
            </a:pPr>
            <a:r>
              <a:rPr lang="en-US" sz="1500" dirty="0">
                <a:solidFill>
                  <a:srgbClr val="1B2340"/>
                </a:solidFill>
                <a:latin typeface="Calibri" pitchFamily="34" charset="0"/>
                <a:ea typeface="Calibri" pitchFamily="34" charset="-122"/>
                <a:cs typeface="Calibri" pitchFamily="34" charset="-120"/>
              </a:rPr>
              <a:t>SolrServerBoundaryContractTest walks the source tree and fails on any package outside server/ that imports it — an allowlist of consumers, not a denylist of editor packages, because a list of what to forbid is wrong the day someone adds a package. One consumer outside server/ is on it: code.run, the gutter action that runs a query written in code, when a user presses it.</a:t>
            </a:r>
            <a:endParaRPr lang="en-US" sz="1550" dirty="0"/>
          </a:p>
        </p:txBody>
      </p:sp>
      <p:sp>
        <p:nvSpPr>
          <p:cNvPr id="5" name="Text 3"/>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docs/code-organization.md “The server surface”; server/SolrServerBoundaryContractTest.kt</a:t>
            </a:r>
            <a:endParaRPr lang="en-US" sz="950" dirty="0"/>
          </a:p>
        </p:txBody>
      </p:sp>
      <p:sp>
        <p:nvSpPr>
          <p:cNvPr id="7" name="Text 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1B3C"/>
        </a:solidFill>
      </p:bgPr>
    </p:bg>
    <p:spTree>
      <p:nvGrpSpPr>
        <p:cNvPr id="1" name=""/>
        <p:cNvGrpSpPr/>
        <p:nvPr/>
      </p:nvGrpSpPr>
      <p:grpSpPr>
        <a:xfrm>
          <a:off x="0" y="0"/>
          <a:ext cx="0" cy="0"/>
          <a:chOff x="0" y="0"/>
          <a:chExt cx="0" cy="0"/>
        </a:xfrm>
      </p:grpSpPr>
      <p:sp>
        <p:nvSpPr>
          <p:cNvPr id="2" name="Shape 0"/>
          <p:cNvSpPr/>
          <p:nvPr/>
        </p:nvSpPr>
        <p:spPr>
          <a:xfrm>
            <a:off x="-1097280" y="4297680"/>
            <a:ext cx="3840480" cy="3840480"/>
          </a:xfrm>
          <a:prstGeom prst="ellipse">
            <a:avLst/>
          </a:prstGeom>
          <a:solidFill>
            <a:srgbClr val="1F2A56"/>
          </a:solidFill>
          <a:ln/>
        </p:spPr>
      </p:sp>
      <p:sp>
        <p:nvSpPr>
          <p:cNvPr id="3" name="Text 1"/>
          <p:cNvSpPr/>
          <p:nvPr/>
        </p:nvSpPr>
        <p:spPr>
          <a:xfrm>
            <a:off x="822960" y="1005840"/>
            <a:ext cx="10058400" cy="10972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In one sentence</a:t>
            </a:r>
            <a:endParaRPr lang="en-US" sz="3400" dirty="0"/>
          </a:p>
        </p:txBody>
      </p:sp>
      <p:sp>
        <p:nvSpPr>
          <p:cNvPr id="4" name="Text 2"/>
          <p:cNvSpPr/>
          <p:nvPr/>
        </p:nvSpPr>
        <p:spPr>
          <a:xfrm>
            <a:off x="868680" y="2331720"/>
            <a:ext cx="9601200" cy="3657600"/>
          </a:xfrm>
          <a:prstGeom prst="rect">
            <a:avLst/>
          </a:prstGeom>
          <a:noFill/>
          <a:ln/>
        </p:spPr>
        <p:txBody>
          <a:bodyPr wrap="square" rtlCol="0" anchor="t"/>
          <a:lstStyle/>
          <a:p>
            <a:pPr marL="203200" indent="-203200">
              <a:lnSpc>
                <a:spcPct val="120000"/>
              </a:lnSpc>
              <a:spcAft>
                <a:spcPts val="1200"/>
              </a:spcAft>
              <a:buSzPct val="100000"/>
              <a:buChar char="•"/>
            </a:pPr>
            <a:r>
              <a:rPr lang="en-US" sz="1600" b="1" dirty="0">
                <a:solidFill>
                  <a:srgbClr val="FF6B35"/>
                </a:solidFill>
                <a:latin typeface="Calibri" pitchFamily="34" charset="0"/>
                <a:ea typeface="Calibri" pitchFamily="34" charset="-122"/>
                <a:cs typeface="Calibri" pitchFamily="34" charset="-120"/>
              </a:rPr>
              <a:t>Three surfaces, one model: the configset you edit, the server you deploy it to, and the code that names its fields — each checked against the same idea of what a Solr field is.</a:t>
            </a:r>
            <a:endParaRPr lang="en-US" sz="1600" dirty="0"/>
          </a:p>
          <a:p>
            <a:pPr marL="203200" indent="-203200">
              <a:lnSpc>
                <a:spcPct val="120000"/>
              </a:lnSpc>
              <a:spcAft>
                <a:spcPts val="1200"/>
              </a:spcAft>
              <a:buSzPct val="100000"/>
              <a:buChar char="•"/>
            </a:pPr>
            <a:r>
              <a:rPr lang="en-US" sz="1600" dirty="0">
                <a:solidFill>
                  <a:srgbClr val="CFE0FF"/>
                </a:solidFill>
                <a:latin typeface="Calibri" pitchFamily="34" charset="0"/>
                <a:ea typeface="Calibri" pitchFamily="34" charset="-122"/>
                <a:cs typeface="Calibri" pitchFamily="34" charset="-120"/>
              </a:rPr>
              <a:t>Getting there took a small, consistent set of platform ideas — extension points, PSI, dumb-awareness, declared cache invalidation — through a package tree whose domain model imports nothing from the IDE.</a:t>
            </a:r>
            <a:endParaRPr lang="en-US" sz="1600" dirty="0"/>
          </a:p>
          <a:p>
            <a:pPr marL="203200" indent="-203200">
              <a:lnSpc>
                <a:spcPct val="120000"/>
              </a:lnSpc>
              <a:spcAft>
                <a:spcPts val="1200"/>
              </a:spcAft>
              <a:buSzPct val="100000"/>
              <a:buChar char="•"/>
            </a:pPr>
            <a:r>
              <a:rPr lang="en-US" sz="1600" dirty="0">
                <a:solidFill>
                  <a:srgbClr val="CFE0FF"/>
                </a:solidFill>
                <a:latin typeface="Calibri" pitchFamily="34" charset="0"/>
                <a:ea typeface="Calibri" pitchFamily="34" charset="-122"/>
                <a:cs typeface="Calibri" pitchFamily="34" charset="-120"/>
              </a:rPr>
              <a:t>Every screen in Acts 1, 4 and 5 is a real capture. The server track’s were taken during its first sandbox pass against a real SolrCloud — twelve checks pressed, and one defect found that no test could have.</a:t>
            </a:r>
            <a:endParaRPr lang="en-US" sz="1600" dirty="0"/>
          </a:p>
          <a:p>
            <a:pPr marL="203200" indent="-203200">
              <a:lnSpc>
                <a:spcPct val="120000"/>
              </a:lnSpc>
              <a:spcAft>
                <a:spcPts val="1200"/>
              </a:spcAft>
              <a:buSzPct val="100000"/>
              <a:buChar char="•"/>
            </a:pPr>
            <a:r>
              <a:rPr lang="en-US" sz="1600" dirty="0">
                <a:solidFill>
                  <a:srgbClr val="CFE0FF"/>
                </a:solidFill>
                <a:latin typeface="Calibri" pitchFamily="34" charset="0"/>
                <a:ea typeface="Calibri" pitchFamily="34" charset="-122"/>
                <a:cs typeface="Calibri" pitchFamily="34" charset="-120"/>
              </a:rPr>
              <a:t>Release 0.2.0 ships all three for plain Java and Kotlin with SolrJ. Next: framework support — Spring Boot (IntelliJ IDEA Ultimate only), then Quarkus, Micronaut, MicroProfile and Apache Camel.</a:t>
            </a:r>
            <a:endParaRPr lang="en-US" sz="1600" dirty="0"/>
          </a:p>
          <a:p>
            <a:pPr indent="0" marL="0">
              <a:lnSpc>
                <a:spcPct val="120000"/>
              </a:lnSpc>
              <a:spcAft>
                <a:spcPts val="400"/>
              </a:spcAft>
              <a:buNone/>
            </a:pPr>
            <a:r>
              <a:rPr lang="en-US" sz="600" dirty="0">
                <a:solidFill>
                  <a:srgbClr val="CFE0FF"/>
                </a:solidFill>
                <a:latin typeface="Calibri" pitchFamily="34" charset="0"/>
                <a:ea typeface="Calibri" pitchFamily="34" charset="-122"/>
                <a:cs typeface="Calibri" pitchFamily="34" charset="-120"/>
              </a:rPr>
              <a:t> </a:t>
            </a:r>
            <a:endParaRPr lang="en-US" sz="1600" dirty="0"/>
          </a:p>
          <a:p>
            <a:pPr marL="203200" indent="-203200">
              <a:lnSpc>
                <a:spcPct val="120000"/>
              </a:lnSpc>
              <a:spcAft>
                <a:spcPts val="1200"/>
              </a:spcAft>
              <a:buSzPct val="100000"/>
              <a:buChar char="•"/>
            </a:pPr>
            <a:r>
              <a:rPr lang="en-US" sz="1600" b="1" dirty="0">
                <a:solidFill>
                  <a:srgbClr val="FF6B35"/>
                </a:solidFill>
                <a:latin typeface="Calibri" pitchFamily="34" charset="0"/>
                <a:ea typeface="Calibri" pitchFamily="34" charset="-122"/>
                <a:cs typeface="Calibri" pitchFamily="34" charset="-120"/>
              </a:rPr>
              <a:t>github.com/adityamparikh/solr-intellij-plugin · branch main</a:t>
            </a:r>
            <a:endParaRPr lang="en-US" sz="1600" dirty="0"/>
          </a:p>
        </p:txBody>
      </p:sp>
      <p:sp>
        <p:nvSpPr>
          <p:cNvPr id="6" name="Text 3"/>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2 · PLUGIN DEV</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200" b="1" dirty="0">
                <a:solidFill>
                  <a:srgbClr val="1B2340"/>
                </a:solidFill>
                <a:latin typeface="Cambria" pitchFamily="34" charset="0"/>
                <a:ea typeface="Cambria" pitchFamily="34" charset="-122"/>
                <a:cs typeface="Cambria" pitchFamily="34" charset="-120"/>
              </a:rPr>
              <a:t>Declaring dumb-awareness is half the contract — the guard is the other half</a:t>
            </a:r>
            <a:endParaRPr lang="en-US" sz="2200" dirty="0"/>
          </a:p>
        </p:txBody>
      </p:sp>
      <p:sp>
        <p:nvSpPr>
          <p:cNvPr id="5" name="Text 3"/>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docs/platform-mechanisms.md “Dumb mode, and DumbAware”; configset/navigation/SolrClassReferenceContributor.kt</a:t>
            </a:r>
            <a:endParaRPr lang="en-US" sz="950" dirty="0"/>
          </a:p>
        </p:txBody>
      </p:sp>
      <p:sp>
        <p:nvSpPr>
          <p:cNvPr id="7" name="Text 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29</a:t>
            </a:r>
            <a:endParaRPr lang="en-US" sz="900" dirty="0"/>
          </a:p>
        </p:txBody>
      </p:sp>
      <p:pic>
        <p:nvPicPr>
          <p:cNvPr id="8" name="Picture 7" descr="seq-05-dumb-mode.png"/>
          <p:cNvPicPr>
            <a:picLocks noChangeAspect="1"/>
          </p:cNvPicPr>
          <p:nvPr/>
        </p:nvPicPr>
        <p:blipFill>
          <a:blip r:embed="rId2"/>
          <a:stretch>
            <a:fillRect/>
          </a:stretch>
        </p:blipFill>
        <p:spPr>
          <a:xfrm>
            <a:off x="2515020" y="1560000"/>
            <a:ext cx="7161959" cy="4560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2 · PLUGIN DEV</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200" b="1" dirty="0">
                <a:solidFill>
                  <a:srgbClr val="1B2340"/>
                </a:solidFill>
                <a:latin typeface="Cambria" pitchFamily="34" charset="0"/>
                <a:ea typeface="Cambria" pitchFamily="34" charset="-122"/>
                <a:cs typeface="Cambria" pitchFamily="34" charset="-120"/>
              </a:rPr>
              <a:t>One model, every feature — and the platform decides when to throw it away</a:t>
            </a:r>
            <a:endParaRPr lang="en-US" sz="2200" dirty="0"/>
          </a:p>
        </p:txBody>
      </p:sp>
      <p:sp>
        <p:nvSpPr>
          <p:cNvPr id="5" name="Text 3"/>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docs/platform-mechanisms.md “Caching the field model”; configset/reading/SolrConfigsetReader.kt</a:t>
            </a:r>
            <a:endParaRPr lang="en-US" sz="950" dirty="0"/>
          </a:p>
        </p:txBody>
      </p:sp>
      <p:sp>
        <p:nvSpPr>
          <p:cNvPr id="7" name="Text 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31</a:t>
            </a:r>
            <a:endParaRPr lang="en-US" sz="900" dirty="0"/>
          </a:p>
        </p:txBody>
      </p:sp>
      <p:pic>
        <p:nvPicPr>
          <p:cNvPr id="8" name="Picture 7" descr="seq-04-model-cache.png"/>
          <p:cNvPicPr>
            <a:picLocks noChangeAspect="1"/>
          </p:cNvPicPr>
          <p:nvPr/>
        </p:nvPicPr>
        <p:blipFill>
          <a:blip r:embed="rId2"/>
          <a:stretch>
            <a:fillRect/>
          </a:stretch>
        </p:blipFill>
        <p:spPr>
          <a:xfrm>
            <a:off x="2794006" y="1560000"/>
            <a:ext cx="6603988" cy="4560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3 · CODE LAYOUT</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200" b="1" dirty="0">
                <a:solidFill>
                  <a:srgbClr val="1B2340"/>
                </a:solidFill>
                <a:latin typeface="Cambria" pitchFamily="34" charset="0"/>
                <a:ea typeface="Cambria" pitchFamily="34" charset="-122"/>
                <a:cs typeface="Cambria" pitchFamily="34" charset="-120"/>
              </a:rPr>
              <a:t>One hover, two questions — a provider answering only the first still crashes</a:t>
            </a:r>
            <a:endParaRPr lang="en-US" sz="2200" dirty="0"/>
          </a:p>
        </p:txBody>
      </p:sp>
      <p:sp>
        <p:nvSpPr>
          <p:cNvPr id="5" name="Text 3"/>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docs/how-to/add-an-editor-feature.md “Quick documentation”; configset/solrconfig/documentation/SolrConfigDocumentationProvider.kt</a:t>
            </a:r>
            <a:endParaRPr lang="en-US" sz="950" dirty="0"/>
          </a:p>
        </p:txBody>
      </p:sp>
      <p:sp>
        <p:nvSpPr>
          <p:cNvPr id="7" name="Text 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40</a:t>
            </a:r>
            <a:endParaRPr lang="en-US" sz="900" dirty="0"/>
          </a:p>
        </p:txBody>
      </p:sp>
      <p:pic>
        <p:nvPicPr>
          <p:cNvPr id="8" name="Picture 7" descr="seq-01-quick-documentation.png"/>
          <p:cNvPicPr>
            <a:picLocks noChangeAspect="1"/>
          </p:cNvPicPr>
          <p:nvPr/>
        </p:nvPicPr>
        <p:blipFill>
          <a:blip r:embed="rId2"/>
          <a:stretch>
            <a:fillRect/>
          </a:stretch>
        </p:blipFill>
        <p:spPr>
          <a:xfrm>
            <a:off x="1806029" y="1560000"/>
            <a:ext cx="8579942" cy="4560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
    <p:bg>
      <p:bgPr>
        <a:solidFill>
          <a:srgbClr val="141B3C"/>
        </a:solidFill>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1F2A56"/>
          </a:solidFill>
          <a:ln/>
        </p:spPr>
      </p:sp>
      <p:sp>
        <p:nvSpPr>
          <p:cNvPr id="3" name="Text 1"/>
          <p:cNvSpPr/>
          <p:nvPr/>
        </p:nvSpPr>
        <p:spPr>
          <a:xfrm>
            <a:off x="411480" y="502920"/>
            <a:ext cx="2651760" cy="1463040"/>
          </a:xfrm>
          <a:prstGeom prst="rect">
            <a:avLst/>
          </a:prstGeom>
          <a:noFill/>
          <a:ln/>
        </p:spPr>
        <p:txBody>
          <a:bodyPr wrap="square" rtlCol="0" anchor="ctr"/>
          <a:lstStyle/>
          <a:p>
            <a:pPr indent="0" marL="0">
              <a:buNone/>
            </a:pPr>
            <a:r>
              <a:rPr lang="en-US" sz="9000" b="1" dirty="0">
                <a:solidFill>
                  <a:srgbClr val="FF6B35"/>
                </a:solidFill>
                <a:latin typeface="Cambria" pitchFamily="34" charset="0"/>
                <a:ea typeface="Cambria" pitchFamily="34" charset="-122"/>
                <a:cs typeface="Cambria" pitchFamily="34" charset="-120"/>
              </a:rPr>
              <a:t>04</a:t>
            </a:r>
            <a:endParaRPr lang="en-US" sz="9000" dirty="0"/>
          </a:p>
        </p:txBody>
      </p:sp>
      <p:sp>
        <p:nvSpPr>
          <p:cNvPr id="4" name="Text 2"/>
          <p:cNvSpPr/>
          <p:nvPr/>
        </p:nvSpPr>
        <p:spPr>
          <a:xfrm>
            <a:off x="411480" y="1965960"/>
            <a:ext cx="2743200" cy="1463040"/>
          </a:xfrm>
          <a:prstGeom prst="rect">
            <a:avLst/>
          </a:prstGeom>
          <a:noFill/>
          <a:ln/>
        </p:spPr>
        <p:txBody>
          <a:bodyPr wrap="square" rtlCol="0" anchor="ctr"/>
          <a:lstStyle/>
          <a:p>
            <a:pPr indent="0" marL="0">
              <a:lnSpc>
                <a:spcPct val="130000"/>
              </a:lnSpc>
              <a:buNone/>
            </a:pPr>
            <a:r>
              <a:rPr lang="en-US" sz="1600" b="1" spc="150" kern="0" dirty="0">
                <a:solidFill>
                  <a:srgbClr val="CFE0FF"/>
                </a:solidFill>
                <a:latin typeface="Calibri" pitchFamily="34" charset="0"/>
                <a:ea typeface="Calibri" pitchFamily="34" charset="-122"/>
                <a:cs typeface="Calibri" pitchFamily="34" charset="-120"/>
              </a:rPr>
              <a:t>SERVER</a:t>
            </a:r>
            <a:endParaRPr lang="en-US" sz="1600" dirty="0"/>
          </a:p>
        </p:txBody>
      </p:sp>
      <p:sp>
        <p:nvSpPr>
          <p:cNvPr id="5" name="Text 3"/>
          <p:cNvSpPr/>
          <p:nvPr/>
        </p:nvSpPr>
        <p:spPr>
          <a:xfrm>
            <a:off x="3977640" y="777240"/>
            <a:ext cx="7589520" cy="1371600"/>
          </a:xfrm>
          <a:prstGeom prst="rect">
            <a:avLst/>
          </a:prstGeom>
          <a:noFill/>
          <a:ln/>
        </p:spPr>
        <p:txBody>
          <a:bodyPr wrap="square" rtlCol="0" anchor="ctr"/>
          <a:lstStyle/>
          <a:p>
            <a:pPr indent="0" marL="0">
              <a:lnSpc>
                <a:spcPct val="115000"/>
              </a:lnSpc>
              <a:buNone/>
            </a:pPr>
            <a:r>
              <a:rPr lang="en-US" sz="2600" b="1" dirty="0">
                <a:solidFill>
                  <a:srgbClr val="FFFFFF"/>
                </a:solidFill>
                <a:latin typeface="Cambria" pitchFamily="34" charset="0"/>
                <a:ea typeface="Cambria" pitchFamily="34" charset="-122"/>
                <a:cs typeface="Cambria" pitchFamily="34" charset="-120"/>
              </a:rPr>
              <a:t>The live server,</a:t>
            </a:r>
            <a:endParaRPr lang="en-US" sz="2600" dirty="0"/>
          </a:p>
          <a:p>
            <a:pPr indent="0" marL="0">
              <a:lnSpc>
                <a:spcPct val="115000"/>
              </a:lnSpc>
              <a:buNone/>
            </a:pPr>
            <a:r>
              <a:rPr lang="en-US" sz="2600" b="1" dirty="0">
                <a:solidFill>
                  <a:srgbClr val="FFFFFF"/>
                </a:solidFill>
                <a:latin typeface="Cambria" pitchFamily="34" charset="0"/>
                <a:ea typeface="Cambria" pitchFamily="34" charset="-122"/>
                <a:cs typeface="Cambria" pitchFamily="34" charset="-120"/>
              </a:rPr>
              <a:t>and what it declines to do</a:t>
            </a:r>
            <a:endParaRPr lang="en-US" sz="2600" dirty="0"/>
          </a:p>
        </p:txBody>
      </p:sp>
      <p:sp>
        <p:nvSpPr>
          <p:cNvPr id="6" name="Shape 4"/>
          <p:cNvSpPr/>
          <p:nvPr/>
        </p:nvSpPr>
        <p:spPr>
          <a:xfrm>
            <a:off x="3977640" y="2359152"/>
            <a:ext cx="91440" cy="91440"/>
          </a:xfrm>
          <a:prstGeom prst="ellipse">
            <a:avLst/>
          </a:prstGeom>
          <a:solidFill>
            <a:srgbClr val="FF6B35"/>
          </a:solidFill>
          <a:ln/>
        </p:spPr>
      </p:sp>
      <p:sp>
        <p:nvSpPr>
          <p:cNvPr id="7" name="Text 5"/>
          <p:cNvSpPr/>
          <p:nvPr/>
        </p:nvSpPr>
        <p:spPr>
          <a:xfrm>
            <a:off x="4233672" y="220370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Nothing on the editor path contacts a server — a test enforces it</a:t>
            </a:r>
            <a:endParaRPr lang="en-US" sz="1300" dirty="0"/>
          </a:p>
        </p:txBody>
      </p:sp>
      <p:sp>
        <p:nvSpPr>
          <p:cNvPr id="8" name="Shape 6"/>
          <p:cNvSpPr/>
          <p:nvPr/>
        </p:nvSpPr>
        <p:spPr>
          <a:xfrm>
            <a:off x="3977640" y="2724912"/>
            <a:ext cx="91440" cy="91440"/>
          </a:xfrm>
          <a:prstGeom prst="ellipse">
            <a:avLst/>
          </a:prstGeom>
          <a:solidFill>
            <a:srgbClr val="FF6B35"/>
          </a:solidFill>
          <a:ln/>
        </p:spPr>
      </p:sp>
      <p:sp>
        <p:nvSpPr>
          <p:cNvPr id="9" name="Text 7"/>
          <p:cNvSpPr/>
          <p:nvPr/>
        </p:nvSpPr>
        <p:spPr>
          <a:xfrm>
            <a:off x="4233672" y="256946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A connection is a fact about one machine, never a commit</a:t>
            </a:r>
            <a:endParaRPr lang="en-US" sz="1300" dirty="0"/>
          </a:p>
        </p:txBody>
      </p:sp>
      <p:sp>
        <p:nvSpPr>
          <p:cNvPr id="10" name="Shape 8"/>
          <p:cNvSpPr/>
          <p:nvPr/>
        </p:nvSpPr>
        <p:spPr>
          <a:xfrm>
            <a:off x="3977640" y="3090672"/>
            <a:ext cx="91440" cy="91440"/>
          </a:xfrm>
          <a:prstGeom prst="ellipse">
            <a:avLst/>
          </a:prstGeom>
          <a:solidFill>
            <a:srgbClr val="FF6B35"/>
          </a:solidFill>
          <a:ln/>
        </p:spPr>
      </p:sp>
      <p:sp>
        <p:nvSpPr>
          <p:cNvPr id="11" name="Text 9"/>
          <p:cNvSpPr/>
          <p:nvPr/>
        </p:nvSpPr>
        <p:spPr>
          <a:xfrm>
            <a:off x="4233672" y="293522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Disagreement is shown, never resolved on your behalf</a:t>
            </a:r>
            <a:endParaRPr lang="en-US" sz="1300" dirty="0"/>
          </a:p>
        </p:txBody>
      </p:sp>
      <p:sp>
        <p:nvSpPr>
          <p:cNvPr id="12" name="Shape 10"/>
          <p:cNvSpPr/>
          <p:nvPr/>
        </p:nvSpPr>
        <p:spPr>
          <a:xfrm>
            <a:off x="3977640" y="3456432"/>
            <a:ext cx="91440" cy="91440"/>
          </a:xfrm>
          <a:prstGeom prst="ellipse">
            <a:avLst/>
          </a:prstGeom>
          <a:solidFill>
            <a:srgbClr val="FF6B35"/>
          </a:solidFill>
          <a:ln/>
        </p:spPr>
      </p:sp>
      <p:sp>
        <p:nvSpPr>
          <p:cNvPr id="13" name="Text 11"/>
          <p:cNvSpPr/>
          <p:nvPr/>
        </p:nvSpPr>
        <p:spPr>
          <a:xfrm>
            <a:off x="4233672" y="330098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After every write, read back — a 2xx is not agreement</a:t>
            </a:r>
            <a:endParaRPr lang="en-US" sz="1300" dirty="0"/>
          </a:p>
        </p:txBody>
      </p:sp>
      <p:sp>
        <p:nvSpPr>
          <p:cNvPr id="15"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4 · 1 OF 10 · CONNECTIONS</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A connection is one developer’s fact — never something a commit could carry</a:t>
            </a:r>
            <a:endParaRPr lang="en-US" sz="2300" dirty="0"/>
          </a:p>
        </p:txBody>
      </p:sp>
      <p:sp>
        <p:nvSpPr>
          <p:cNvPr id="4" name="Text 2"/>
          <p:cNvSpPr/>
          <p:nvPr/>
        </p:nvSpPr>
        <p:spPr>
          <a:xfrm>
            <a:off x="640080" y="160020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Settings → Tools → Solr Connections with one connection open: the password field empty, and saying a password is stored.</a:t>
            </a:r>
            <a:endParaRPr lang="en-US" sz="1050" dirty="0"/>
          </a:p>
        </p:txBody>
      </p:sp>
      <p:sp>
        <p:nvSpPr>
          <p:cNvPr id="5" name="Text 3"/>
          <p:cNvSpPr/>
          <p:nvPr/>
        </p:nvSpPr>
        <p:spPr>
          <a:xfrm>
            <a:off x="640080" y="256032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Credentials land in a committed file — or a page shows an empty field and quietly treats it as “no password”.</a:t>
            </a:r>
            <a:endParaRPr lang="en-US" sz="1050" dirty="0"/>
          </a:p>
        </p:txBody>
      </p:sp>
      <p:sp>
        <p:nvSpPr>
          <p:cNvPr id="6" name="Text 4"/>
          <p:cNvSpPr/>
          <p:nvPr/>
        </p:nvSpPr>
        <p:spPr>
          <a:xfrm>
            <a:off x="640080" y="352044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workspace file for the URL and username; the IDE password safe for the secret. SolrConnection has no password field at all.</a:t>
            </a:r>
            <a:endParaRPr lang="en-US" sz="1050" dirty="0"/>
          </a:p>
        </p:txBody>
      </p:sp>
      <p:sp>
        <p:nvSpPr>
          <p:cNvPr id="7" name="Text 5"/>
          <p:cNvSpPr/>
          <p:nvPr/>
        </p:nvSpPr>
        <p:spPr>
          <a:xfrm>
            <a:off x="640080" y="448056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SolrConnectionsConfigurable over SolrConnectionSettings. Saving without a new password leaves the stored one untouched.</a:t>
            </a:r>
            <a:endParaRPr lang="en-US" sz="1050" dirty="0"/>
          </a:p>
        </p:txBody>
      </p:sp>
      <p:sp>
        <p:nvSpPr>
          <p:cNvPr id="8" name="Shape 6"/>
          <p:cNvSpPr/>
          <p:nvPr/>
        </p:nvSpPr>
        <p:spPr>
          <a:xfrm>
            <a:off x="5876012" y="1645920"/>
            <a:ext cx="4920231" cy="3749079"/>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22-connections-settings.png">    </p:cNvPr>
          <p:cNvPicPr>
            <a:picLocks noChangeAspect="1"/>
          </p:cNvPicPr>
          <p:nvPr/>
        </p:nvPicPr>
        <p:blipFill>
          <a:blip r:embed="rId1"/>
          <a:stretch>
            <a:fillRect/>
          </a:stretch>
        </p:blipFill>
        <p:spPr>
          <a:xfrm>
            <a:off x="6013172" y="1783080"/>
            <a:ext cx="4645911" cy="3474759"/>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Settings → Tools → Solr Connections, editing “local”. Captured in the 2026-09-26 sandbox pass.</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server/connection/SolrConnectionSettings.kt; plugin.xml projectConfigurable; docs/screenshots.md entry 22</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4 · 2 OF 10 · TOPOLOGY</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The server’s own vocabulary — read first, never guessed</a:t>
            </a:r>
            <a:endParaRPr lang="en-US" sz="2300" dirty="0"/>
          </a:p>
        </p:txBody>
      </p:sp>
      <p:sp>
        <p:nvSpPr>
          <p:cNvPr id="4" name="Text 2"/>
          <p:cNvSpPr/>
          <p:nvPr/>
        </p:nvSpPr>
        <p:spPr>
          <a:xfrm>
            <a:off x="640080" y="160020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Solr tool window on a SolrCloud server: a collection and its shard, each with a health dot, and the replica marked leader.</a:t>
            </a:r>
            <a:endParaRPr lang="en-US" sz="1050" dirty="0"/>
          </a:p>
        </p:txBody>
      </p:sp>
      <p:sp>
        <p:nvSpPr>
          <p:cNvPr id="5" name="Text 3"/>
          <p:cNvSpPr/>
          <p:nvPr/>
        </p:nvSpPr>
        <p:spPr>
          <a:xfrm>
            <a:off x="640080" y="256032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Assume the cloud vocabulary and every standalone Solr answers HTTP 400 — a hard failure reported against a healthy server.</a:t>
            </a:r>
            <a:endParaRPr lang="en-US" sz="1050" dirty="0"/>
          </a:p>
        </p:txBody>
      </p:sp>
      <p:sp>
        <p:nvSpPr>
          <p:cNvPr id="6" name="Text 4"/>
          <p:cNvSpPr/>
          <p:nvPr/>
        </p:nvSpPr>
        <p:spPr>
          <a:xfrm>
            <a:off x="640080" y="352044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System info first, for the mode; then CLUSTERSTATUS for SolrCloud or core STATUS for standalone. Never on a timer.</a:t>
            </a:r>
            <a:endParaRPr lang="en-US" sz="1050" dirty="0"/>
          </a:p>
        </p:txBody>
      </p:sp>
      <p:sp>
        <p:nvSpPr>
          <p:cNvPr id="7" name="Text 5"/>
          <p:cNvSpPr/>
          <p:nvPr/>
        </p:nvSpPr>
        <p:spPr>
          <a:xfrm>
            <a:off x="640080" y="448056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SolrCollectionsToolWindowFactory; SolrServerReader.topology, a suspending read off the UI thread.</a:t>
            </a:r>
            <a:endParaRPr lang="en-US" sz="1050" dirty="0"/>
          </a:p>
        </p:txBody>
      </p:sp>
      <p:sp>
        <p:nvSpPr>
          <p:cNvPr id="8" name="Shape 6"/>
          <p:cNvSpPr/>
          <p:nvPr/>
        </p:nvSpPr>
        <p:spPr>
          <a:xfrm>
            <a:off x="5271516" y="1863134"/>
            <a:ext cx="6126480" cy="3223171"/>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23-collections-topology.png">    </p:cNvPr>
          <p:cNvPicPr>
            <a:picLocks noChangeAspect="1"/>
          </p:cNvPicPr>
          <p:nvPr/>
        </p:nvPicPr>
        <p:blipFill>
          <a:blip r:embed="rId1"/>
          <a:stretch>
            <a:fillRect/>
          </a:stretch>
        </p:blipFill>
        <p:spPr>
          <a:xfrm>
            <a:off x="5408676" y="2000294"/>
            <a:ext cx="5852160" cy="2948851"/>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solr-mcp-demo: shows → shard1 → its leader replica. The Solr mark on the tool-window stripe opens it. Right-click a collection or field for a ready-to-run query.</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server/reading/SolrServerReader.kt; server/topology/; docs/screenshots.md entry 23</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4 · 3 OF 10 · THE INDEX</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What the index actually holds — including fields no configset names</a:t>
            </a:r>
            <a:endParaRPr lang="en-US" sz="2300" dirty="0"/>
          </a:p>
        </p:txBody>
      </p:sp>
      <p:sp>
        <p:nvSpPr>
          <p:cNvPr id="4" name="Text 2"/>
          <p:cNvSpPr/>
          <p:nvPr/>
        </p:nvSpPr>
        <p:spPr>
          <a:xfrm>
            <a:off x="640080" y="160020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collection’s Fields row: author_s marked as coming from *_s, and price_f with no document count.</a:t>
            </a:r>
            <a:endParaRPr lang="en-US" sz="1050" dirty="0"/>
          </a:p>
        </p:txBody>
      </p:sp>
      <p:sp>
        <p:nvSpPr>
          <p:cNvPr id="5" name="Text 3"/>
          <p:cNvSpPr/>
          <p:nvPr/>
        </p:nvSpPr>
        <p:spPr>
          <a:xfrm>
            <a:off x="640080" y="256032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schema view cannot show author_s at all — it exists only because a dynamic pattern matched at index time.</a:t>
            </a:r>
            <a:endParaRPr lang="en-US" sz="1050" dirty="0"/>
          </a:p>
        </p:txBody>
      </p:sp>
      <p:sp>
        <p:nvSpPr>
          <p:cNvPr id="6" name="Text 4"/>
          <p:cNvSpPr/>
          <p:nvPr/>
        </p:nvSpPr>
        <p:spPr>
          <a:xfrm>
            <a:off x="640080" y="352044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Solr’s Luke handler, read when the row is expanded — one request per collection, and only when asked.</a:t>
            </a:r>
            <a:endParaRPr lang="en-US" sz="1050" dirty="0"/>
          </a:p>
        </p:txBody>
      </p:sp>
      <p:sp>
        <p:nvSpPr>
          <p:cNvPr id="7" name="Text 5"/>
          <p:cNvSpPr/>
          <p:nvPr/>
        </p:nvSpPr>
        <p:spPr>
          <a:xfrm>
            <a:off x="640080" y="448056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SolrLukeReader. Kept out of the field model on purpose: folded in, every dynamic field’s instances would read as drift.</a:t>
            </a:r>
            <a:endParaRPr lang="en-US" sz="1050" dirty="0"/>
          </a:p>
        </p:txBody>
      </p:sp>
      <p:sp>
        <p:nvSpPr>
          <p:cNvPr id="8" name="Shape 6"/>
          <p:cNvSpPr/>
          <p:nvPr/>
        </p:nvSpPr>
        <p:spPr>
          <a:xfrm>
            <a:off x="4892040" y="1868060"/>
            <a:ext cx="6888175" cy="3304800"/>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24-luke-fields.png">    </p:cNvPr>
          <p:cNvPicPr>
            <a:picLocks noChangeAspect="1"/>
          </p:cNvPicPr>
          <p:nvPr/>
        </p:nvPicPr>
        <p:blipFill>
          <a:blip r:embed="rId1"/>
          <a:stretch>
            <a:fillRect/>
          </a:stretch>
        </p:blipFill>
        <p:spPr>
          <a:xfrm>
            <a:off x="5029200" y="2005220"/>
            <a:ext cx="6613855" cy="3030480"/>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10 fields, 2 from dynamic patterns. A point field reports no count — it has no inverted index to count from.</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server/reading/SolrLukeReader.kt; docs/screenshots.md entry 24</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4 · 4 OF 10 · QUERIES</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No console of its own — Solr’s knowledge added to the IDE’s HTTP Client</a:t>
            </a:r>
            <a:endParaRPr lang="en-US" sz="2300" dirty="0"/>
          </a:p>
        </p:txBody>
      </p:sp>
      <p:sp>
        <p:nvSpPr>
          <p:cNvPr id="4" name="Text 2"/>
          <p:cNvSpPr/>
          <p:nvPr/>
        </p:nvSpPr>
        <p:spPr>
          <a:xfrm>
            <a:off x="640080" y="160020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request written against {{solrUrl}}/{{collection}}, run through the local environment, with a summary above the raw JSON.</a:t>
            </a:r>
            <a:endParaRPr lang="en-US" sz="1050" dirty="0"/>
          </a:p>
        </p:txBody>
      </p:sp>
      <p:sp>
        <p:nvSpPr>
          <p:cNvPr id="5" name="Text 3"/>
          <p:cNvSpPr/>
          <p:nvPr/>
        </p:nvSpPr>
        <p:spPr>
          <a:xfrm>
            <a:off x="640080" y="256032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committed query names localhost:8983 and works only for its author; the answer is a wall of JSON.</a:t>
            </a:r>
            <a:endParaRPr lang="en-US" sz="1050" dirty="0"/>
          </a:p>
        </p:txBody>
      </p:sp>
      <p:sp>
        <p:nvSpPr>
          <p:cNvPr id="6" name="Text 4"/>
          <p:cNvSpPr/>
          <p:nvPr/>
        </p:nvSpPr>
        <p:spPr>
          <a:xfrm>
            <a:off x="640080" y="352044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.http file and http-client.env.json — the host comes from the environment, never from the file.</a:t>
            </a:r>
            <a:endParaRPr lang="en-US" sz="1050" dirty="0"/>
          </a:p>
        </p:txBody>
      </p:sp>
      <p:sp>
        <p:nvSpPr>
          <p:cNvPr id="7" name="Text 5"/>
          <p:cNvSpPr/>
          <p:nvPr/>
        </p:nvSpPr>
        <p:spPr>
          <a:xfrm>
            <a:off x="640080" y="448056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addRequestTemplateProvider and responseCustomPresentation — another plugin’s extension points, held by a contract test.</a:t>
            </a:r>
            <a:endParaRPr lang="en-US" sz="1050" dirty="0"/>
          </a:p>
        </p:txBody>
      </p:sp>
      <p:sp>
        <p:nvSpPr>
          <p:cNvPr id="8" name="Shape 6"/>
          <p:cNvSpPr/>
          <p:nvPr/>
        </p:nvSpPr>
        <p:spPr>
          <a:xfrm>
            <a:off x="4892040" y="1492875"/>
            <a:ext cx="6885432" cy="3920373"/>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25-query-and-results.png">    </p:cNvPr>
          <p:cNvPicPr>
            <a:picLocks noChangeAspect="1"/>
          </p:cNvPicPr>
          <p:nvPr/>
        </p:nvPicPr>
        <p:blipFill>
          <a:blip r:embed="rId1"/>
          <a:stretch>
            <a:fillRect/>
          </a:stretch>
        </p:blipFill>
        <p:spPr>
          <a:xfrm>
            <a:off x="5029200" y="1630035"/>
            <a:ext cx="6611112" cy="3646053"/>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An explain request against a collection of 61 TV shows: the file, and its answer in Services.</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server/query/SolrRequestTemplateProvider.kt, SolrQueryResponsePresentation.kt; docs/screenshots.md entry 25</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4 · 5 OF 10 · READING AN ANSWER</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Matches and returned rows, stated separately</a:t>
            </a:r>
            <a:endParaRPr lang="en-US" sz="2300" dirty="0"/>
          </a:p>
        </p:txBody>
      </p:sp>
      <p:sp>
        <p:nvSpPr>
          <p:cNvPr id="4" name="Text 2"/>
          <p:cNvSpPr/>
          <p:nvPr/>
        </p:nvSpPr>
        <p:spPr>
          <a:xfrm>
            <a:off x="640080" y="160020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“8 documents matched in 39 ms, showing 1 to 3.” — then the table, the parsed query, and each document’s explanation.</a:t>
            </a:r>
            <a:endParaRPr lang="en-US" sz="1050" dirty="0"/>
          </a:p>
        </p:txBody>
      </p:sp>
      <p:sp>
        <p:nvSpPr>
          <p:cNvPr id="5" name="Text 3"/>
          <p:cNvSpPr/>
          <p:nvPr/>
        </p:nvSpPr>
        <p:spPr>
          <a:xfrm>
            <a:off x="640080" y="256032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Someone concludes their query found three documents when it found nine thousand and showed three.</a:t>
            </a:r>
            <a:endParaRPr lang="en-US" sz="1050" dirty="0"/>
          </a:p>
        </p:txBody>
      </p:sp>
      <p:sp>
        <p:nvSpPr>
          <p:cNvPr id="6" name="Text 4"/>
          <p:cNvSpPr/>
          <p:nvPr/>
        </p:nvSpPr>
        <p:spPr>
          <a:xfrm>
            <a:off x="640080" y="352044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response body alone, recognised by its shape rather than its URL — Solr behind a proxy lives at any path.</a:t>
            </a:r>
            <a:endParaRPr lang="en-US" sz="1050" dirty="0"/>
          </a:p>
        </p:txBody>
      </p:sp>
      <p:sp>
        <p:nvSpPr>
          <p:cNvPr id="7" name="Text 5"/>
          <p:cNvSpPr/>
          <p:nvPr/>
        </p:nvSpPr>
        <p:spPr>
          <a:xfrm>
            <a:off x="640080" y="448056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SolrQueryResultReader and SolrQueryResultRenderer. The explanation keeps Solr’s indentation: the nesting is the information.</a:t>
            </a:r>
            <a:endParaRPr lang="en-US" sz="1050" dirty="0"/>
          </a:p>
        </p:txBody>
      </p:sp>
      <p:sp>
        <p:nvSpPr>
          <p:cNvPr id="8" name="Shape 6"/>
          <p:cNvSpPr/>
          <p:nvPr/>
        </p:nvSpPr>
        <p:spPr>
          <a:xfrm>
            <a:off x="4892040" y="1937319"/>
            <a:ext cx="6888175" cy="3166282"/>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25-query-and-results.png">    </p:cNvPr>
          <p:cNvPicPr>
            <a:picLocks noChangeAspect="1"/>
          </p:cNvPicPr>
          <p:nvPr/>
        </p:nvPicPr>
        <p:blipFill>
          <a:blip r:embed="rId1"/>
          <a:srcRect l="30000" t="45808" r="1992" b="273"/>
          <a:stretch>
            <a:fillRect/>
          </a:stretch>
        </p:blipFill>
        <p:spPr>
          <a:xfrm>
            <a:off x="5029200" y="2074479"/>
            <a:ext cx="6613855" cy="2891962"/>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The same capture as the previous slide, cropped to the answer.</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server/query/SolrQueryResultReader.kt, SolrQueryResultRenderer.kt; docs/screenshots.md entry 25</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4 · 7 OF 10 · DRIFT</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Three kinds of difference, and both sides of each</a:t>
            </a:r>
            <a:endParaRPr lang="en-US" sz="2300" dirty="0"/>
          </a:p>
        </p:txBody>
      </p:sp>
      <p:sp>
        <p:nvSpPr>
          <p:cNvPr id="4" name="Text 2"/>
          <p:cNvSpPr/>
          <p:nvPr/>
        </p:nvSpPr>
        <p:spPr>
          <a:xfrm>
            <a:off x="640080" y="160020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solr configset against the shows collection: fields only on the server, one not deployed, one differing — with both sides of each.</a:t>
            </a:r>
            <a:endParaRPr lang="en-US" sz="1050" dirty="0"/>
          </a:p>
        </p:txBody>
      </p:sp>
      <p:sp>
        <p:nvSpPr>
          <p:cNvPr id="5" name="Text 3"/>
          <p:cNvSpPr/>
          <p:nvPr/>
        </p:nvSpPr>
        <p:spPr>
          <a:xfrm>
            <a:off x="640080" y="256032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Differs row showing one side — the convenient accessor prefers the repository and hides the disagreement.</a:t>
            </a:r>
            <a:endParaRPr lang="en-US" sz="1050" dirty="0"/>
          </a:p>
        </p:txBody>
      </p:sp>
      <p:sp>
        <p:nvSpPr>
          <p:cNvPr id="6" name="Text 4"/>
          <p:cNvSpPr/>
          <p:nvPr/>
        </p:nvSpPr>
        <p:spPr>
          <a:xfrm>
            <a:off x="640080" y="352044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repository’s facts and the server’s schema, passed as two separate halves so neither can be resolved away.</a:t>
            </a:r>
            <a:endParaRPr lang="en-US" sz="1050" dirty="0"/>
          </a:p>
        </p:txBody>
      </p:sp>
      <p:sp>
        <p:nvSpPr>
          <p:cNvPr id="7" name="Text 5"/>
          <p:cNvSpPr/>
          <p:nvPr/>
        </p:nvSpPr>
        <p:spPr>
          <a:xfrm>
            <a:off x="640080" y="448056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SolrDrift over SolrConfigsetReader.factsFor and SolrServerReader. SolrFact.effective is never called — six tests fail if it is.</a:t>
            </a:r>
            <a:endParaRPr lang="en-US" sz="1050" dirty="0"/>
          </a:p>
        </p:txBody>
      </p:sp>
      <p:sp>
        <p:nvSpPr>
          <p:cNvPr id="8" name="Shape 6"/>
          <p:cNvSpPr/>
          <p:nvPr/>
        </p:nvSpPr>
        <p:spPr>
          <a:xfrm>
            <a:off x="4892040" y="1679753"/>
            <a:ext cx="6885432" cy="3589933"/>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19-drift-three-states.png">    </p:cNvPr>
          <p:cNvPicPr>
            <a:picLocks noChangeAspect="1"/>
          </p:cNvPicPr>
          <p:nvPr/>
        </p:nvPicPr>
        <p:blipFill>
          <a:blip r:embed="rId1"/>
          <a:stretch>
            <a:fillRect/>
          </a:stretch>
        </p:blipFill>
        <p:spPr>
          <a:xfrm>
            <a:off x="5029200" y="1816913"/>
            <a:ext cx="6611112" cy="3315613"/>
          </a:xfrm>
          <a:prstGeom prst="rect">
            <a:avLst/>
          </a:prstGeom>
        </p:spPr>
      </p:pic>
      <p:sp>
        <p:nvSpPr>
          <p:cNvPr id="10" name="Text 7"/>
          <p:cNvSpPr/>
          <p:nvPr/>
        </p:nvSpPr>
        <p:spPr>
          <a:xfrm>
            <a:off x="4892040" y="5486400"/>
            <a:ext cx="6885432"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A real SolrCloud 9.10.1 collection. Under the table, the selected row’s refusal — the next slide.</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server/drift/SolrDrift.kt; specs/0002-solr-server-integration.md FR-9; docs/screenshots.md entry 19</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4 · 8 OF 10 · THE REFUSAL</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The button that must not exist</a:t>
            </a:r>
            <a:endParaRPr lang="en-US" sz="2300" dirty="0"/>
          </a:p>
        </p:txBody>
      </p:sp>
      <p:sp>
        <p:nvSpPr>
          <p:cNvPr id="4" name="Text 2"/>
          <p:cNvSpPr/>
          <p:nvPr/>
        </p:nvSpPr>
        <p:spPr>
          <a:xfrm>
            <a:off x="640080" y="4325112"/>
            <a:ext cx="5303520" cy="5900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Differs row selected: “This plugin will not send this request.”, the reason, then the replace-field request.</a:t>
            </a:r>
            <a:endParaRPr lang="en-US" sz="1050" dirty="0"/>
          </a:p>
        </p:txBody>
      </p:sp>
      <p:sp>
        <p:nvSpPr>
          <p:cNvPr id="5" name="Text 3"/>
          <p:cNvSpPr/>
          <p:nvPr/>
        </p:nvSpPr>
        <p:spPr>
          <a:xfrm>
            <a:off x="640080" y="5006552"/>
            <a:ext cx="5303520" cy="7900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 accepts a type change and reports success — then a stored value stops matching, and naming the field in fl fails with HTTP 500.</a:t>
            </a:r>
            <a:endParaRPr lang="en-US" sz="1050" dirty="0"/>
          </a:p>
        </p:txBody>
      </p:sp>
      <p:sp>
        <p:nvSpPr>
          <p:cNvPr id="6" name="Text 4"/>
          <p:cNvSpPr/>
          <p:nvPr/>
        </p:nvSpPr>
        <p:spPr>
          <a:xfrm>
            <a:off x="6217920" y="4325112"/>
            <a:ext cx="5303520" cy="5900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Verified against Solr 10.0.0, a string field changed to pint. Nothing in Solr’s reply to the write hints at it.</a:t>
            </a:r>
            <a:endParaRPr lang="en-US" sz="1050" dirty="0"/>
          </a:p>
        </p:txBody>
      </p:sp>
      <p:sp>
        <p:nvSpPr>
          <p:cNvPr id="7" name="Text 5"/>
          <p:cNvSpPr/>
          <p:nvPr/>
        </p:nvSpPr>
        <p:spPr>
          <a:xfrm>
            <a:off x="6217920" y="5006552"/>
            <a:ext cx="5303520" cy="5900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SolrSchemaApi sends additions only. The refused request is still shown, reason first, for a reader ready to reindex.</a:t>
            </a:r>
            <a:endParaRPr lang="en-US" sz="1050" dirty="0"/>
          </a:p>
        </p:txBody>
      </p:sp>
      <p:sp>
        <p:nvSpPr>
          <p:cNvPr id="8" name="Shape 6"/>
          <p:cNvSpPr/>
          <p:nvPr/>
        </p:nvSpPr>
        <p:spPr>
          <a:xfrm>
            <a:off x="2535097" y="1463040"/>
            <a:ext cx="7121501" cy="2468880"/>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20-drift-refused-payload.png">    </p:cNvPr>
          <p:cNvPicPr>
            <a:picLocks noChangeAspect="1"/>
          </p:cNvPicPr>
          <p:nvPr/>
        </p:nvPicPr>
        <p:blipFill>
          <a:blip r:embed="rId1"/>
          <a:srcRect b="74486"/>
          <a:stretch>
            <a:fillRect/>
          </a:stretch>
        </p:blipFill>
        <p:spPr>
          <a:xfrm>
            <a:off x="2672257" y="1600200"/>
            <a:ext cx="6847181" cy="963261"/>
          </a:xfrm>
          <a:prstGeom prst="rect">
            <a:avLst/>
          </a:prstGeom>
        </p:spPr>
      </p:pic>
      <p:pic>
        <p:nvPicPr>
          <p:cNvPr id="14" name="Image 1" descr="20-drift-refused-payload.png">    </p:cNvPr>
          <p:cNvPicPr>
            <a:picLocks noChangeAspect="1"/>
          </p:cNvPicPr>
          <p:nvPr/>
        </p:nvPicPr>
        <p:blipFill>
          <a:blip r:embed="rId1"/>
          <a:srcRect t="69809"/>
          <a:stretch>
            <a:fillRect/>
          </a:stretch>
        </p:blipFill>
        <p:spPr>
          <a:xfrm>
            <a:off x="2672257" y="2654901"/>
            <a:ext cx="6847181" cy="1139859"/>
          </a:xfrm>
          <a:prstGeom prst="rect">
            <a:avLst/>
          </a:prstGeom>
        </p:spPr>
      </p:pic>
      <p:sp>
        <p:nvSpPr>
          <p:cNvPr id="10" name="Text 7"/>
          <p:cNvSpPr/>
          <p:nvPr/>
        </p:nvSpPr>
        <p:spPr>
          <a:xfrm>
            <a:off x="640080" y="3959352"/>
            <a:ext cx="10881360" cy="27432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The reason comes before the JSON, so nobody copies the request before reading why it is refused. The empty band between table and pane is cut for the slide.</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server/drift/SolrSchemaApi.kt; docs/user-guide.md “Closing a difference”; docs/screenshots.md entry 20</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4 · 9 OF 10 · READ BACK</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A 2xx is not agreement — the view shows what it read back</a:t>
            </a:r>
            <a:endParaRPr lang="en-US" sz="2300" dirty="0"/>
          </a:p>
        </p:txBody>
      </p:sp>
      <p:sp>
        <p:nvSpPr>
          <p:cNvPr id="4" name="Text 2"/>
          <p:cNvSpPr/>
          <p:nvPr/>
        </p:nvSpPr>
        <p:spPr>
          <a:xfrm>
            <a:off x="640080" y="160020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Top: one field not deployed. Bottom: after Apply, the collection re-read — “books and books agree, across 22 declarations”.</a:t>
            </a:r>
            <a:endParaRPr lang="en-US" sz="1050" dirty="0"/>
          </a:p>
        </p:txBody>
      </p:sp>
      <p:sp>
        <p:nvSpPr>
          <p:cNvPr id="5" name="Text 3"/>
          <p:cNvSpPr/>
          <p:nvPr/>
        </p:nvSpPr>
        <p:spPr>
          <a:xfrm>
            <a:off x="640080" y="256032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success code clears the table while the server still disagrees — an upload missing _version_ returns status 0 and builds nothing.</a:t>
            </a:r>
            <a:endParaRPr lang="en-US" sz="1050" dirty="0"/>
          </a:p>
        </p:txBody>
      </p:sp>
      <p:sp>
        <p:nvSpPr>
          <p:cNvPr id="6" name="Text 4"/>
          <p:cNvSpPr/>
          <p:nvPr/>
        </p:nvSpPr>
        <p:spPr>
          <a:xfrm>
            <a:off x="640080" y="352044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fresh read of the collection after every write — never the write’s own response.</a:t>
            </a:r>
            <a:endParaRPr lang="en-US" sz="1050" dirty="0"/>
          </a:p>
        </p:txBody>
      </p:sp>
      <p:sp>
        <p:nvSpPr>
          <p:cNvPr id="7" name="Text 5"/>
          <p:cNvSpPr/>
          <p:nvPr/>
        </p:nvSpPr>
        <p:spPr>
          <a:xfrm>
            <a:off x="640080" y="448056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SolrDriftPanel re-fetches after upload, reload and apply; the confirmation names the count, the collection and the server first.</a:t>
            </a:r>
            <a:endParaRPr lang="en-US" sz="1050" dirty="0"/>
          </a:p>
        </p:txBody>
      </p:sp>
      <p:sp>
        <p:nvSpPr>
          <p:cNvPr id="8" name="Shape 6"/>
          <p:cNvSpPr/>
          <p:nvPr/>
        </p:nvSpPr>
        <p:spPr>
          <a:xfrm>
            <a:off x="4892040" y="2490536"/>
            <a:ext cx="6885432" cy="1968368"/>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21-drift-apply-before.png">    </p:cNvPr>
          <p:cNvPicPr>
            <a:picLocks noChangeAspect="1"/>
          </p:cNvPicPr>
          <p:nvPr/>
        </p:nvPicPr>
        <p:blipFill>
          <a:blip r:embed="rId1"/>
          <a:srcRect t="4721" r="33959" b="77577"/>
          <a:stretch>
            <a:fillRect/>
          </a:stretch>
        </p:blipFill>
        <p:spPr>
          <a:xfrm>
            <a:off x="5029200" y="2627696"/>
            <a:ext cx="6611112" cy="880178"/>
          </a:xfrm>
          <a:prstGeom prst="rect">
            <a:avLst/>
          </a:prstGeom>
        </p:spPr>
      </p:pic>
      <p:pic>
        <p:nvPicPr>
          <p:cNvPr id="14" name="Image 1" descr="21-drift-apply-after.png">    </p:cNvPr>
          <p:cNvPicPr>
            <a:picLocks noChangeAspect="1"/>
          </p:cNvPicPr>
          <p:nvPr/>
        </p:nvPicPr>
        <p:blipFill>
          <a:blip r:embed="rId3"/>
          <a:srcRect t="4721" r="33959" b="81117"/>
          <a:stretch>
            <a:fillRect/>
          </a:stretch>
        </p:blipFill>
        <p:spPr>
          <a:xfrm>
            <a:off x="5029200" y="3617602"/>
            <a:ext cx="6611112" cy="704142"/>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Before and after Apply Additive Changes, in the same view, choosers untouched.</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server/drift/SolrDriftPanel.kt; specs/0002-solr-server-integration.md FR-10; docs/screenshots.md entry 21</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4 · RECAP</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500" b="1" dirty="0">
                <a:solidFill>
                  <a:srgbClr val="1B2340"/>
                </a:solidFill>
                <a:latin typeface="Cambria" pitchFamily="34" charset="0"/>
                <a:ea typeface="Cambria" pitchFamily="34" charset="-122"/>
                <a:cs typeface="Cambria" pitchFamily="34" charset="-120"/>
              </a:rPr>
              <a:t>Ten slides, pressed in a running IDE</a:t>
            </a:r>
            <a:endParaRPr lang="en-US" sz="2500" dirty="0"/>
          </a:p>
        </p:txBody>
      </p:sp>
      <p:sp>
        <p:nvSpPr>
          <p:cNvPr id="4" name="Text 2"/>
          <p:cNvSpPr/>
          <p:nvPr/>
        </p:nvSpPr>
        <p:spPr>
          <a:xfrm>
            <a:off x="640080" y="1554480"/>
            <a:ext cx="10607040" cy="4617720"/>
          </a:xfrm>
          <a:prstGeom prst="rect">
            <a:avLst/>
          </a:prstGeom>
          <a:noFill/>
          <a:ln/>
        </p:spPr>
        <p:txBody>
          <a:bodyPr wrap="square" rtlCol="0" anchor="t"/>
          <a:lstStyle/>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Every screen above was pressed against a real SolrCloud — the first sandbox pass on 10.0.0, the reshoots on 9.10.1.</a:t>
            </a:r>
            <a:endParaRPr lang="en-US" sz="1550" dirty="0"/>
          </a:p>
          <a:p>
            <a:pPr marL="228600" indent="-228600">
              <a:lnSpc>
                <a:spcPct val="112000"/>
              </a:lnSpc>
              <a:spcAft>
                <a:spcPts val="1100"/>
              </a:spcAft>
              <a:buSzPct val="100000"/>
              <a:buChar char="•"/>
            </a:pPr>
            <a:r>
              <a:rPr lang="en-US" sz="1500" dirty="0">
                <a:solidFill>
                  <a:srgbClr val="1B2340"/>
                </a:solidFill>
                <a:latin typeface="Calibri" pitchFamily="34" charset="0"/>
                <a:ea typeface="Calibri" pitchFamily="34" charset="-122"/>
                <a:cs typeface="Calibri" pitchFamily="34" charset="-120"/>
              </a:rPr>
              <a:t>Connections · the topology · the index’s own fields · queries through the HTTP Client · a readable answer · field names from the live collection · drift in three states · a refused change · an applied one, read back · a test document checked before it is sent.</a:t>
            </a:r>
            <a:endParaRPr lang="en-US" sz="1550" dirty="0"/>
          </a:p>
          <a:p>
            <a:pPr indent="0" marL="0">
              <a:lnSpc>
                <a:spcPct val="112000"/>
              </a:lnSpc>
              <a:spcAft>
                <a:spcPts val="400"/>
              </a:spcAft>
              <a:buNone/>
            </a:pPr>
            <a:r>
              <a:rPr lang="en-US" sz="600" dirty="0">
                <a:solidFill>
                  <a:srgbClr val="1B2340"/>
                </a:solidFill>
                <a:latin typeface="Calibri" pitchFamily="34" charset="0"/>
                <a:ea typeface="Calibri" pitchFamily="34" charset="-122"/>
                <a:cs typeface="Calibri" pitchFamily="34" charset="-120"/>
              </a:rPr>
              <a:t> </a:t>
            </a:r>
            <a:endParaRPr lang="en-US" sz="1550" dirty="0"/>
          </a:p>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Three claims in the specification did not survive a running Solr — each found by checking, not by a bug report.</a:t>
            </a:r>
            <a:endParaRPr lang="en-US" sz="1550" dirty="0"/>
          </a:p>
          <a:p>
            <a:pPr marL="228600" indent="-228600">
              <a:lnSpc>
                <a:spcPct val="112000"/>
              </a:lnSpc>
              <a:spcAft>
                <a:spcPts val="1100"/>
              </a:spcAft>
              <a:buSzPct val="100000"/>
              <a:buChar char="•"/>
            </a:pPr>
            <a:r>
              <a:rPr lang="en-US" sz="1500" i="1" dirty="0">
                <a:solidFill>
                  <a:srgbClr val="1B2340"/>
                </a:solidFill>
                <a:latin typeface="Calibri" pitchFamily="34" charset="0"/>
                <a:ea typeface="Calibri" pitchFamily="34" charset="-122"/>
                <a:cs typeface="Calibri" pitchFamily="34" charset="-120"/>
              </a:rPr>
              <a:t>verifyPlugin reports Compatible for an extension point that does not exist · the named body injector was about request bodies, not completion · the coverage gate measures changed lines, line and branch.</a:t>
            </a:r>
            <a:endParaRPr lang="en-US" sz="1550" dirty="0"/>
          </a:p>
          <a:p>
            <a:pPr indent="0" marL="0">
              <a:lnSpc>
                <a:spcPct val="112000"/>
              </a:lnSpc>
              <a:spcAft>
                <a:spcPts val="400"/>
              </a:spcAft>
              <a:buNone/>
            </a:pPr>
            <a:r>
              <a:rPr lang="en-US" sz="600" dirty="0">
                <a:solidFill>
                  <a:srgbClr val="1B2340"/>
                </a:solidFill>
                <a:latin typeface="Calibri" pitchFamily="34" charset="0"/>
                <a:ea typeface="Calibri" pitchFamily="34" charset="-122"/>
                <a:cs typeface="Calibri" pitchFamily="34" charset="-120"/>
              </a:rPr>
              <a:t> </a:t>
            </a:r>
            <a:endParaRPr lang="en-US" sz="1550" dirty="0"/>
          </a:p>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Added since that pass — tested, not yet pressed in a sandbox.</a:t>
            </a:r>
            <a:endParaRPr lang="en-US" sz="1550" dirty="0"/>
          </a:p>
          <a:p>
            <a:pPr marL="228600" indent="-228600">
              <a:lnSpc>
                <a:spcPct val="112000"/>
              </a:lnSpc>
              <a:spcAft>
                <a:spcPts val="1100"/>
              </a:spcAft>
              <a:buSzPct val="100000"/>
              <a:buChar char="•"/>
            </a:pPr>
            <a:r>
              <a:rPr lang="en-US" sz="1500" dirty="0">
                <a:solidFill>
                  <a:srgbClr val="1B2340"/>
                </a:solidFill>
                <a:latin typeface="Calibri" pitchFamily="34" charset="0"/>
                <a:ea typeface="Calibri" pitchFamily="34" charset="-122"/>
                <a:cs typeface="Calibri" pitchFamily="34" charset="-120"/>
              </a:rPr>
              <a:t>Right-click a collection or a field in the tool window: Query · Explain Scoring · Find Documents with · Count Values of — each a ready-to-run request in a scratch file, addressed to the selected server.</a:t>
            </a:r>
            <a:endParaRPr lang="en-US" sz="1550" dirty="0"/>
          </a:p>
        </p:txBody>
      </p:sp>
      <p:sp>
        <p:nvSpPr>
          <p:cNvPr id="5" name="Text 3"/>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docs/presentation/server-track-outline.md; docs/manual-test-suite.md pass log; docs/screenshots.md entries 19–25, 30 and 31</a:t>
            </a:r>
            <a:endParaRPr lang="en-US" sz="950" dirty="0"/>
          </a:p>
        </p:txBody>
      </p:sp>
      <p:sp>
        <p:nvSpPr>
          <p:cNvPr id="7" name="Text 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
    <p:bg>
      <p:bgPr>
        <a:solidFill>
          <a:srgbClr val="141B3C"/>
        </a:solidFill>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1F2A56"/>
          </a:solidFill>
          <a:ln/>
        </p:spPr>
      </p:sp>
      <p:sp>
        <p:nvSpPr>
          <p:cNvPr id="3" name="Text 1"/>
          <p:cNvSpPr/>
          <p:nvPr/>
        </p:nvSpPr>
        <p:spPr>
          <a:xfrm>
            <a:off x="411480" y="502920"/>
            <a:ext cx="2651760" cy="1463040"/>
          </a:xfrm>
          <a:prstGeom prst="rect">
            <a:avLst/>
          </a:prstGeom>
          <a:noFill/>
          <a:ln/>
        </p:spPr>
        <p:txBody>
          <a:bodyPr wrap="square" rtlCol="0" anchor="ctr"/>
          <a:lstStyle/>
          <a:p>
            <a:pPr indent="0" marL="0">
              <a:buNone/>
            </a:pPr>
            <a:r>
              <a:rPr lang="en-US" sz="9000" b="1" dirty="0">
                <a:solidFill>
                  <a:srgbClr val="FF6B35"/>
                </a:solidFill>
                <a:latin typeface="Cambria" pitchFamily="34" charset="0"/>
                <a:ea typeface="Cambria" pitchFamily="34" charset="-122"/>
                <a:cs typeface="Cambria" pitchFamily="34" charset="-120"/>
              </a:rPr>
              <a:t>05</a:t>
            </a:r>
            <a:endParaRPr lang="en-US" sz="9000" dirty="0"/>
          </a:p>
        </p:txBody>
      </p:sp>
      <p:sp>
        <p:nvSpPr>
          <p:cNvPr id="4" name="Text 2"/>
          <p:cNvSpPr/>
          <p:nvPr/>
        </p:nvSpPr>
        <p:spPr>
          <a:xfrm>
            <a:off x="411480" y="1965960"/>
            <a:ext cx="2743200" cy="1463040"/>
          </a:xfrm>
          <a:prstGeom prst="rect">
            <a:avLst/>
          </a:prstGeom>
          <a:noFill/>
          <a:ln/>
        </p:spPr>
        <p:txBody>
          <a:bodyPr wrap="square" rtlCol="0" anchor="ctr"/>
          <a:lstStyle/>
          <a:p>
            <a:pPr indent="0" marL="0">
              <a:lnSpc>
                <a:spcPct val="130000"/>
              </a:lnSpc>
              <a:buNone/>
            </a:pPr>
            <a:r>
              <a:rPr lang="en-US" sz="1600" b="1" spc="150" kern="0" dirty="0">
                <a:solidFill>
                  <a:srgbClr val="CFE0FF"/>
                </a:solidFill>
                <a:latin typeface="Calibri" pitchFamily="34" charset="0"/>
                <a:ea typeface="Calibri" pitchFamily="34" charset="-122"/>
                <a:cs typeface="Calibri" pitchFamily="34" charset="-120"/>
              </a:rPr>
              <a:t>CODE</a:t>
            </a:r>
            <a:endParaRPr lang="en-US" sz="1600" dirty="0"/>
          </a:p>
        </p:txBody>
      </p:sp>
      <p:sp>
        <p:nvSpPr>
          <p:cNvPr id="5" name="Text 3"/>
          <p:cNvSpPr/>
          <p:nvPr/>
        </p:nvSpPr>
        <p:spPr>
          <a:xfrm>
            <a:off x="3977640" y="777240"/>
            <a:ext cx="7589520" cy="1371600"/>
          </a:xfrm>
          <a:prstGeom prst="rect">
            <a:avLst/>
          </a:prstGeom>
          <a:noFill/>
          <a:ln/>
        </p:spPr>
        <p:txBody>
          <a:bodyPr wrap="square" rtlCol="0" anchor="ctr"/>
          <a:lstStyle/>
          <a:p>
            <a:pPr indent="0" marL="0">
              <a:lnSpc>
                <a:spcPct val="115000"/>
              </a:lnSpc>
              <a:buNone/>
            </a:pPr>
            <a:r>
              <a:rPr lang="en-US" sz="2600" b="1" dirty="0">
                <a:solidFill>
                  <a:srgbClr val="FFFFFF"/>
                </a:solidFill>
                <a:latin typeface="Cambria" pitchFamily="34" charset="0"/>
                <a:ea typeface="Cambria" pitchFamily="34" charset="-122"/>
                <a:cs typeface="Cambria" pitchFamily="34" charset="-120"/>
              </a:rPr>
              <a:t>Field names in Java and Kotlin,</a:t>
            </a:r>
            <a:endParaRPr lang="en-US" sz="2600" dirty="0"/>
          </a:p>
          <a:p>
            <a:pPr indent="0" marL="0">
              <a:lnSpc>
                <a:spcPct val="115000"/>
              </a:lnSpc>
              <a:buNone/>
            </a:pPr>
            <a:r>
              <a:rPr lang="en-US" sz="2600" b="1" dirty="0">
                <a:solidFill>
                  <a:srgbClr val="FFFFFF"/>
                </a:solidFill>
                <a:latin typeface="Cambria" pitchFamily="34" charset="0"/>
                <a:ea typeface="Cambria" pitchFamily="34" charset="-122"/>
                <a:cs typeface="Cambria" pitchFamily="34" charset="-120"/>
              </a:rPr>
              <a:t>checked against the schema</a:t>
            </a:r>
            <a:endParaRPr lang="en-US" sz="2600" dirty="0"/>
          </a:p>
        </p:txBody>
      </p:sp>
      <p:sp>
        <p:nvSpPr>
          <p:cNvPr id="6" name="Shape 4"/>
          <p:cNvSpPr/>
          <p:nvPr/>
        </p:nvSpPr>
        <p:spPr>
          <a:xfrm>
            <a:off x="3977640" y="2359152"/>
            <a:ext cx="91440" cy="91440"/>
          </a:xfrm>
          <a:prstGeom prst="ellipse">
            <a:avLst/>
          </a:prstGeom>
          <a:solidFill>
            <a:srgbClr val="FF6B35"/>
          </a:solidFill>
          <a:ln/>
        </p:spPr>
      </p:sp>
      <p:sp>
        <p:nvSpPr>
          <p:cNvPr id="7" name="Text 5"/>
          <p:cNvSpPr/>
          <p:nvPr/>
        </p:nvSpPr>
        <p:spPr>
          <a:xfrm>
            <a:off x="4233672" y="220370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One recognizer for both languages, written against UAST</a:t>
            </a:r>
            <a:endParaRPr lang="en-US" sz="1300" dirty="0"/>
          </a:p>
        </p:txBody>
      </p:sp>
      <p:sp>
        <p:nvSpPr>
          <p:cNvPr id="8" name="Shape 6"/>
          <p:cNvSpPr/>
          <p:nvPr/>
        </p:nvSpPr>
        <p:spPr>
          <a:xfrm>
            <a:off x="3977640" y="2724912"/>
            <a:ext cx="91440" cy="91440"/>
          </a:xfrm>
          <a:prstGeom prst="ellipse">
            <a:avLst/>
          </a:prstGeom>
          <a:solidFill>
            <a:srgbClr val="FF6B35"/>
          </a:solidFill>
          <a:ln/>
        </p:spPr>
      </p:sp>
      <p:sp>
        <p:nvSpPr>
          <p:cNvPr id="9" name="Text 7"/>
          <p:cNvSpPr/>
          <p:nvPr/>
        </p:nvSpPr>
        <p:spPr>
          <a:xfrm>
            <a:off x="4233672" y="256946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Silent wherever it cannot resolve — precision over recall</a:t>
            </a:r>
            <a:endParaRPr lang="en-US" sz="1300" dirty="0"/>
          </a:p>
        </p:txBody>
      </p:sp>
      <p:sp>
        <p:nvSpPr>
          <p:cNvPr id="10" name="Shape 8"/>
          <p:cNvSpPr/>
          <p:nvPr/>
        </p:nvSpPr>
        <p:spPr>
          <a:xfrm>
            <a:off x="3977640" y="3090672"/>
            <a:ext cx="91440" cy="91440"/>
          </a:xfrm>
          <a:prstGeom prst="ellipse">
            <a:avLst/>
          </a:prstGeom>
          <a:solidFill>
            <a:srgbClr val="FF6B35"/>
          </a:solidFill>
          <a:ln/>
        </p:spPr>
      </p:sp>
      <p:sp>
        <p:nvSpPr>
          <p:cNvPr id="11" name="Text 9"/>
          <p:cNvSpPr/>
          <p:nvPr/>
        </p:nvSpPr>
        <p:spPr>
          <a:xfrm>
            <a:off x="4233672" y="293522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Navigation crosses from Java into the XML that declares a field</a:t>
            </a:r>
            <a:endParaRPr lang="en-US" sz="1300" dirty="0"/>
          </a:p>
        </p:txBody>
      </p:sp>
      <p:sp>
        <p:nvSpPr>
          <p:cNvPr id="12" name="Shape 10"/>
          <p:cNvSpPr/>
          <p:nvPr/>
        </p:nvSpPr>
        <p:spPr>
          <a:xfrm>
            <a:off x="3977640" y="3456432"/>
            <a:ext cx="91440" cy="91440"/>
          </a:xfrm>
          <a:prstGeom prst="ellipse">
            <a:avLst/>
          </a:prstGeom>
          <a:solidFill>
            <a:srgbClr val="FF6B35"/>
          </a:solidFill>
          <a:ln/>
        </p:spPr>
      </p:sp>
      <p:sp>
        <p:nvSpPr>
          <p:cNvPr id="13" name="Text 11"/>
          <p:cNvSpPr/>
          <p:nvPr/>
        </p:nvSpPr>
        <p:spPr>
          <a:xfrm>
            <a:off x="4233672" y="3300984"/>
            <a:ext cx="7498080" cy="384048"/>
          </a:xfrm>
          <a:prstGeom prst="rect">
            <a:avLst/>
          </a:prstGeom>
          <a:noFill/>
          <a:ln/>
        </p:spPr>
        <p:txBody>
          <a:bodyPr wrap="square" rtlCol="0" anchor="ctr"/>
          <a:lstStyle/>
          <a:p>
            <a:pPr indent="0" marL="0">
              <a:buNone/>
            </a:pPr>
            <a:r>
              <a:rPr lang="en-US" sz="1300" dirty="0">
                <a:solidFill>
                  <a:srgbClr val="CFE0FF"/>
                </a:solidFill>
                <a:latin typeface="Calibri" pitchFamily="34" charset="0"/>
                <a:ea typeface="Calibri" pitchFamily="34" charset="-122"/>
                <a:cs typeface="Calibri" pitchFamily="34" charset="-120"/>
              </a:rPr>
              <a:t>A query runs from the line that writes it</a:t>
            </a:r>
            <a:endParaRPr lang="en-US" sz="1300" dirty="0"/>
          </a:p>
        </p:txBody>
      </p:sp>
      <p:sp>
        <p:nvSpPr>
          <p:cNvPr id="15"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5 · 1 OF 5 · THE CHECK</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A field name typo compiles, deploys, and returns nothing — until now</a:t>
            </a:r>
            <a:endParaRPr lang="en-US" sz="2300" dirty="0"/>
          </a:p>
        </p:txBody>
      </p:sp>
      <p:sp>
        <p:nvSpPr>
          <p:cNvPr id="4" name="Text 2"/>
          <p:cNvSpPr/>
          <p:nvPr/>
        </p:nvSpPr>
        <p:spPr>
          <a:xfrm>
            <a:off x="640080" y="160020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categry in a filter query and price in a field list, each marked at the name — id and name in the same string left alone.</a:t>
            </a:r>
            <a:endParaRPr lang="en-US" sz="1050" dirty="0"/>
          </a:p>
        </p:txBody>
      </p:sp>
      <p:sp>
        <p:nvSpPr>
          <p:cNvPr id="5" name="Text 3"/>
          <p:cNvSpPr/>
          <p:nvPr/>
        </p:nvSpPr>
        <p:spPr>
          <a:xfrm>
            <a:off x="640080" y="256032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 answers a query on a missing field with zero results, not an error — the typo arrives as an empty page in production.</a:t>
            </a:r>
            <a:endParaRPr lang="en-US" sz="1050" dirty="0"/>
          </a:p>
        </p:txBody>
      </p:sp>
      <p:sp>
        <p:nvSpPr>
          <p:cNvPr id="6" name="Text 4"/>
          <p:cNvSpPr/>
          <p:nvPr/>
        </p:nvSpPr>
        <p:spPr>
          <a:xfrm>
            <a:off x="640080" y="352044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Every configset in the project. Where there is none — a schema in another repository — the check says nothing.</a:t>
            </a:r>
            <a:endParaRPr lang="en-US" sz="1050" dirty="0"/>
          </a:p>
        </p:txBody>
      </p:sp>
      <p:sp>
        <p:nvSpPr>
          <p:cNvPr id="7" name="Text 5"/>
          <p:cNvSpPr/>
          <p:nvPr/>
        </p:nvSpPr>
        <p:spPr>
          <a:xfrm>
            <a:off x="640080" y="448056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SolrUnknownCodeFieldInspection over SolrJRecognizer, written against UAST so Java and Kotlin share one implementation.</a:t>
            </a:r>
            <a:endParaRPr lang="en-US" sz="1050" dirty="0"/>
          </a:p>
        </p:txBody>
      </p:sp>
      <p:sp>
        <p:nvSpPr>
          <p:cNvPr id="8" name="Shape 6"/>
          <p:cNvSpPr/>
          <p:nvPr/>
        </p:nvSpPr>
        <p:spPr>
          <a:xfrm>
            <a:off x="4892040" y="2604808"/>
            <a:ext cx="6888175" cy="1831303"/>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26-code-field-warning.png">    </p:cNvPr>
          <p:cNvPicPr>
            <a:picLocks noChangeAspect="1"/>
          </p:cNvPicPr>
          <p:nvPr/>
        </p:nvPicPr>
        <p:blipFill>
          <a:blip r:embed="rId1"/>
          <a:stretch>
            <a:fillRect/>
          </a:stretch>
        </p:blipFill>
        <p:spPr>
          <a:xfrm>
            <a:off x="5029200" y="2741968"/>
            <a:ext cx="6613855" cy="1556983"/>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ProductSearch.java:43–47 in the demo, where both defects are planted.</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code/inspection/SolrUnknownCodeFieldInspection.kt; code/solrj/SolrJRecognizer.kt; docs/screenshots.md entry 26</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5 · 3 OF 5 · NAVIGATION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Ctrl-click a name in Java, land on the XML that declares it</a:t>
            </a:r>
            <a:endParaRPr lang="en-US" sz="2300" dirty="0"/>
          </a:p>
        </p:txBody>
      </p:sp>
      <p:sp>
        <p:nvSpPr>
          <p:cNvPr id="4" name="Text 2"/>
          <p:cNvSpPr/>
          <p:nvPr/>
        </p:nvSpPr>
        <p:spPr>
          <a:xfrm>
            <a:off x="640080" y="4325112"/>
            <a:ext cx="5303520" cy="5900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ProductSearch.java and managed-schema.xml side by side — the caret landed on &lt;field name="category"&gt;.</a:t>
            </a:r>
            <a:endParaRPr lang="en-US" sz="1050" dirty="0"/>
          </a:p>
        </p:txBody>
      </p:sp>
      <p:sp>
        <p:nvSpPr>
          <p:cNvPr id="5" name="Text 3"/>
          <p:cNvSpPr/>
          <p:nvPr/>
        </p:nvSpPr>
        <p:spPr>
          <a:xfrm>
            <a:off x="640080" y="5006552"/>
            <a:ext cx="5303520" cy="5900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name in code and its declaration in XML are related by convention, and by nothing the tooling can see.</a:t>
            </a:r>
            <a:endParaRPr lang="en-US" sz="1050" dirty="0"/>
          </a:p>
        </p:txBody>
      </p:sp>
      <p:sp>
        <p:nvSpPr>
          <p:cNvPr id="6" name="Text 4"/>
          <p:cNvSpPr/>
          <p:nvPr/>
        </p:nvSpPr>
        <p:spPr>
          <a:xfrm>
            <a:off x="6217920" y="4325112"/>
            <a:ext cx="5303520" cy="5900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same recognizer the check reads — so the reference is silent exactly where the check is silent.</a:t>
            </a:r>
            <a:endParaRPr lang="en-US" sz="1050" dirty="0"/>
          </a:p>
        </p:txBody>
      </p:sp>
      <p:sp>
        <p:nvSpPr>
          <p:cNvPr id="7" name="Text 5"/>
          <p:cNvSpPr/>
          <p:nvPr/>
        </p:nvSpPr>
        <p:spPr>
          <a:xfrm>
            <a:off x="6217920" y="5006552"/>
            <a:ext cx="5303520" cy="5900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SolrCodeFieldReferenceContributor, resolving through the configset’s own schema.</a:t>
            </a:r>
            <a:endParaRPr lang="en-US" sz="1050" dirty="0"/>
          </a:p>
        </p:txBody>
      </p:sp>
      <p:sp>
        <p:nvSpPr>
          <p:cNvPr id="8" name="Shape 6"/>
          <p:cNvSpPr/>
          <p:nvPr/>
        </p:nvSpPr>
        <p:spPr>
          <a:xfrm>
            <a:off x="2674620" y="1463040"/>
            <a:ext cx="6812280" cy="2468880"/>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28-code-navigate-to-schema.png">    </p:cNvPr>
          <p:cNvPicPr>
            <a:picLocks noChangeAspect="1"/>
          </p:cNvPicPr>
          <p:nvPr/>
        </p:nvPicPr>
        <p:blipFill>
          <a:blip r:embed="rId1"/>
          <a:srcRect b="39759"/>
          <a:stretch>
            <a:fillRect/>
          </a:stretch>
        </p:blipFill>
        <p:spPr>
          <a:xfrm>
            <a:off x="2766060" y="1554480"/>
            <a:ext cx="6629400" cy="2286000"/>
          </a:xfrm>
          <a:prstGeom prst="rect">
            <a:avLst/>
          </a:prstGeom>
        </p:spPr>
      </p:pic>
      <p:sp>
        <p:nvSpPr>
          <p:cNvPr id="10" name="Text 7"/>
          <p:cNvSpPr/>
          <p:nvPr/>
        </p:nvSpPr>
        <p:spPr>
          <a:xfrm>
            <a:off x="640080" y="3959352"/>
            <a:ext cx="10881360" cy="27432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Two files, one boundary: the query at line 39 on the left, the declaration it reached at line 70 on the right.</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code/navigation/SolrCodeFieldReferenceContributor.kt; docs/screenshots.md entry 28</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5 · 4 OF 5 · QUERY SHAPE</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The fields and the operators, told apart — colour, not a parser</a:t>
            </a:r>
            <a:endParaRPr lang="en-US" sz="2300" dirty="0"/>
          </a:p>
        </p:txBody>
      </p:sp>
      <p:sp>
        <p:nvSpPr>
          <p:cNvPr id="4" name="Text 2"/>
          <p:cNvSpPr/>
          <p:nvPr/>
        </p:nvSpPr>
        <p:spPr>
          <a:xfrm>
            <a:off x="640080" y="160020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setQuery("category:books AND name:solr") with the two fields in one colour and AND in another, the terms left as string.</a:t>
            </a:r>
            <a:endParaRPr lang="en-US" sz="1050" dirty="0"/>
          </a:p>
        </p:txBody>
      </p:sp>
      <p:sp>
        <p:nvSpPr>
          <p:cNvPr id="5" name="Text 3"/>
          <p:cNvSpPr/>
          <p:nvPr/>
        </p:nvSpPr>
        <p:spPr>
          <a:xfrm>
            <a:off x="640080" y="256032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query read character by character — and a lowercase and taken for an operator when Solr reads it as a term.</a:t>
            </a:r>
            <a:endParaRPr lang="en-US" sz="1050" dirty="0"/>
          </a:p>
        </p:txBody>
      </p:sp>
      <p:sp>
        <p:nvSpPr>
          <p:cNvPr id="6" name="Text 4"/>
          <p:cNvSpPr/>
          <p:nvPr/>
        </p:nvSpPr>
        <p:spPr>
          <a:xfrm>
            <a:off x="640080" y="352044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same scan the check uses, so the two can never disagree about which characters are a field.</a:t>
            </a:r>
            <a:endParaRPr lang="en-US" sz="1050" dirty="0"/>
          </a:p>
        </p:txBody>
      </p:sp>
      <p:sp>
        <p:nvSpPr>
          <p:cNvPr id="7" name="Text 5"/>
          <p:cNvSpPr/>
          <p:nvPr/>
        </p:nvSpPr>
        <p:spPr>
          <a:xfrm>
            <a:off x="640080" y="448056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An annotator over the recognizer’s query positions. No grammar, no injected language, no folding — chosen, and said plainly.</a:t>
            </a:r>
            <a:endParaRPr lang="en-US" sz="1050" dirty="0"/>
          </a:p>
        </p:txBody>
      </p:sp>
      <p:sp>
        <p:nvSpPr>
          <p:cNvPr id="8" name="Shape 6"/>
          <p:cNvSpPr/>
          <p:nvPr/>
        </p:nvSpPr>
        <p:spPr>
          <a:xfrm>
            <a:off x="4892040" y="2798294"/>
            <a:ext cx="6885432" cy="1352852"/>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27-code-query-colour.png">    </p:cNvPr>
          <p:cNvPicPr>
            <a:picLocks noChangeAspect="1"/>
          </p:cNvPicPr>
          <p:nvPr/>
        </p:nvPicPr>
        <p:blipFill>
          <a:blip r:embed="rId1"/>
          <a:stretch>
            <a:fillRect/>
          </a:stretch>
        </p:blipFill>
        <p:spPr>
          <a:xfrm>
            <a:off x="5029200" y="2935454"/>
            <a:ext cx="6611112" cy="1078532"/>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Default light theme: the colours are the platform’s own keys.</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code/highlighting/SolrQueryHighlightAnnotator.kt; docs/screenshots.md entry 27</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5 · 5 OF 5 · RUN IT</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Running a query from where it is written</a:t>
            </a:r>
            <a:endParaRPr lang="en-US" sz="2300" dirty="0"/>
          </a:p>
        </p:txBody>
      </p:sp>
      <p:sp>
        <p:nvSpPr>
          <p:cNvPr id="4" name="Text 2"/>
          <p:cNvSpPr/>
          <p:nvPr/>
        </p:nvSpPr>
        <p:spPr>
          <a:xfrm>
            <a:off x="640080" y="4873752"/>
            <a:ext cx="2606040" cy="9900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 gutter icon beside setQuery — and beside nothing else — with the collection chooser open.</a:t>
            </a:r>
            <a:endParaRPr lang="en-US" sz="1050" dirty="0"/>
          </a:p>
        </p:txBody>
      </p:sp>
      <p:sp>
        <p:nvSpPr>
          <p:cNvPr id="5" name="Text 3"/>
          <p:cNvSpPr/>
          <p:nvPr/>
        </p:nvSpPr>
        <p:spPr>
          <a:xfrm>
            <a:off x="3337560" y="4873752"/>
            <a:ext cx="2606040" cy="9900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query pasted into another tool, and the collection guessed — code names none; the client chose it.</a:t>
            </a:r>
            <a:endParaRPr lang="en-US" sz="1050" dirty="0"/>
          </a:p>
        </p:txBody>
      </p:sp>
      <p:sp>
        <p:nvSpPr>
          <p:cNvPr id="6" name="Text 4"/>
          <p:cNvSpPr/>
          <p:nvPr/>
        </p:nvSpPr>
        <p:spPr>
          <a:xfrm>
            <a:off x="6035040" y="4873752"/>
            <a:ext cx="2606040" cy="7900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selected connection’s own list of collections, asked when the icon is clicked.</a:t>
            </a:r>
            <a:endParaRPr lang="en-US" sz="1050" dirty="0"/>
          </a:p>
        </p:txBody>
      </p:sp>
      <p:sp>
        <p:nvSpPr>
          <p:cNvPr id="7" name="Text 5"/>
          <p:cNvSpPr/>
          <p:nvPr/>
        </p:nvSpPr>
        <p:spPr>
          <a:xfrm>
            <a:off x="8732520" y="4873752"/>
            <a:ext cx="2606040" cy="9900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SolrRunQueryLineMarkerProvider → SolrQueryRunner: the one code path that reaches a server, allowlisted by a test.</a:t>
            </a:r>
            <a:endParaRPr lang="en-US" sz="1050" dirty="0"/>
          </a:p>
        </p:txBody>
      </p:sp>
      <p:sp>
        <p:nvSpPr>
          <p:cNvPr id="8" name="Shape 6"/>
          <p:cNvSpPr/>
          <p:nvPr/>
        </p:nvSpPr>
        <p:spPr>
          <a:xfrm>
            <a:off x="1099402" y="1463040"/>
            <a:ext cx="9962716" cy="3017520"/>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29-code-run-from-gutter.png">    </p:cNvPr>
          <p:cNvPicPr>
            <a:picLocks noChangeAspect="1"/>
          </p:cNvPicPr>
          <p:nvPr/>
        </p:nvPicPr>
        <p:blipFill>
          <a:blip r:embed="rId1"/>
          <a:stretch>
            <a:fillRect/>
          </a:stretch>
        </p:blipFill>
        <p:spPr>
          <a:xfrm>
            <a:off x="1190842" y="1554480"/>
            <a:ext cx="9779836" cy="2834640"/>
          </a:xfrm>
          <a:prstGeom prst="rect">
            <a:avLst/>
          </a:prstGeom>
        </p:spPr>
      </p:pic>
      <p:sp>
        <p:nvSpPr>
          <p:cNvPr id="10" name="Text 7"/>
          <p:cNvSpPr/>
          <p:nvPr/>
        </p:nvSpPr>
        <p:spPr>
          <a:xfrm>
            <a:off x="640080" y="4507992"/>
            <a:ext cx="10881360" cy="27432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The chooser opens at the editor’s top-right corner, not beside the icon — hence the wide crop.</a:t>
            </a:r>
            <a:endParaRPr lang="en-US" sz="980" dirty="0"/>
          </a:p>
        </p:txBody>
      </p:sp>
      <p:sp>
        <p:nvSpPr>
          <p:cNvPr id="11" name="Text 8"/>
          <p:cNvSpPr/>
          <p:nvPr/>
        </p:nvSpPr>
        <p:spPr>
          <a:xfrm>
            <a:off x="640080" y="5989320"/>
            <a:ext cx="10881360" cy="2743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code/run/SolrRunQuery.kt; SolrServerBoundaryContractTest; docs/screenshots.md entry 29</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2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5 · RECAP</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500" b="1" dirty="0">
                <a:solidFill>
                  <a:srgbClr val="1B2340"/>
                </a:solidFill>
                <a:latin typeface="Cambria" pitchFamily="34" charset="0"/>
                <a:ea typeface="Cambria" pitchFamily="34" charset="-122"/>
                <a:cs typeface="Cambria" pitchFamily="34" charset="-120"/>
              </a:rPr>
              <a:t>One question, asked five ways: does this field exist?</a:t>
            </a:r>
            <a:endParaRPr lang="en-US" sz="2500" dirty="0"/>
          </a:p>
        </p:txBody>
      </p:sp>
      <p:sp>
        <p:nvSpPr>
          <p:cNvPr id="4" name="Text 2"/>
          <p:cNvSpPr/>
          <p:nvPr/>
        </p:nvSpPr>
        <p:spPr>
          <a:xfrm>
            <a:off x="640080" y="1554480"/>
            <a:ext cx="10607040" cy="4617720"/>
          </a:xfrm>
          <a:prstGeom prst="rect">
            <a:avLst/>
          </a:prstGeom>
          <a:noFill/>
          <a:ln/>
        </p:spPr>
        <p:txBody>
          <a:bodyPr wrap="square" rtlCol="0" anchor="t"/>
          <a:lstStyle/>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Three surfaces — the files you edit, the server you talk to, the code that names fields — over one model, all shipping in 0.2.0.</a:t>
            </a:r>
            <a:endParaRPr lang="en-US" sz="1550" dirty="0"/>
          </a:p>
          <a:p>
            <a:pPr marL="228600" indent="-228600">
              <a:lnSpc>
                <a:spcPct val="112000"/>
              </a:lnSpc>
              <a:spcAft>
                <a:spcPts val="1100"/>
              </a:spcAft>
              <a:buSzPct val="100000"/>
              <a:buChar char="•"/>
            </a:pPr>
            <a:r>
              <a:rPr lang="en-US" sz="1500" dirty="0">
                <a:solidFill>
                  <a:srgbClr val="1B2340"/>
                </a:solidFill>
                <a:latin typeface="Calibri" pitchFamily="34" charset="0"/>
                <a:ea typeface="Calibri" pitchFamily="34" charset="-122"/>
                <a:cs typeface="Calibri" pitchFamily="34" charset="-120"/>
              </a:rPr>
              <a:t>The check · completion as a name is typed · navigation across the Java–XML boundary · a query’s structure in colour · a query run from its own line.</a:t>
            </a:r>
            <a:endParaRPr lang="en-US" sz="1550" dirty="0"/>
          </a:p>
          <a:p>
            <a:pPr indent="0" marL="0">
              <a:lnSpc>
                <a:spcPct val="112000"/>
              </a:lnSpc>
              <a:spcAft>
                <a:spcPts val="400"/>
              </a:spcAft>
              <a:buNone/>
            </a:pPr>
            <a:r>
              <a:rPr lang="en-US" sz="600" dirty="0">
                <a:solidFill>
                  <a:srgbClr val="1B2340"/>
                </a:solidFill>
                <a:latin typeface="Calibri" pitchFamily="34" charset="0"/>
                <a:ea typeface="Calibri" pitchFamily="34" charset="-122"/>
                <a:cs typeface="Calibri" pitchFamily="34" charset="-120"/>
              </a:rPr>
              <a:t> </a:t>
            </a:r>
            <a:endParaRPr lang="en-US" sz="1550" dirty="0"/>
          </a:p>
          <a:p>
            <a:pPr indent="0" marL="0">
              <a:lnSpc>
                <a:spcPct val="112000"/>
              </a:lnSpc>
              <a:spcAft>
                <a:spcPts val="500"/>
              </a:spcAft>
              <a:buNone/>
            </a:pPr>
            <a:r>
              <a:rPr lang="en-US" sz="1550" b="1" dirty="0">
                <a:solidFill>
                  <a:srgbClr val="D9531E"/>
                </a:solidFill>
                <a:latin typeface="Calibri" pitchFamily="34" charset="0"/>
                <a:ea typeface="Calibri" pitchFamily="34" charset="-122"/>
                <a:cs typeface="Calibri" pitchFamily="34" charset="-120"/>
              </a:rPr>
              <a:t>Every defect this track shipped and then fixed had one shape: a rule written down twice.</a:t>
            </a:r>
            <a:endParaRPr lang="en-US" sz="1550" dirty="0"/>
          </a:p>
          <a:p>
            <a:pPr marL="228600" indent="-228600">
              <a:lnSpc>
                <a:spcPct val="112000"/>
              </a:lnSpc>
              <a:spcAft>
                <a:spcPts val="1100"/>
              </a:spcAft>
              <a:buSzPct val="100000"/>
              <a:buChar char="•"/>
            </a:pPr>
            <a:r>
              <a:rPr lang="en-US" sz="1500" i="1" dirty="0">
                <a:solidFill>
                  <a:srgbClr val="1B2340"/>
                </a:solidFill>
                <a:latin typeface="Calibri" pitchFamily="34" charset="0"/>
                <a:ea typeface="Calibri" pitchFamily="34" charset="-122"/>
                <a:cs typeface="Calibri" pitchFamily="34" charset="-120"/>
              </a:rPr>
              <a:t>A test agreeing with the code about a template’s text while the platform read it as a key · a scanner where “-” was both a separator and a legal name character — Solr settled it in one query.</a:t>
            </a:r>
            <a:endParaRPr lang="en-US" sz="1550" dirty="0"/>
          </a:p>
        </p:txBody>
      </p:sp>
      <p:sp>
        <p:nvSpPr>
          <p:cNvPr id="5" name="Text 3"/>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docs/presentation/code-track-outline.md; docs/screenshots.md entries 26–29; docs/images/32-code-completion-popup.png</a:t>
            </a:r>
            <a:endParaRPr lang="en-US" sz="950" dirty="0"/>
          </a:p>
        </p:txBody>
      </p:sp>
      <p:sp>
        <p:nvSpPr>
          <p:cNvPr id="7" name="Text 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2 OF 18 · QUICK DOCUMENTATION, ANNOTATED</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Four parts of the popup, and only one of them hand-maintained</a:t>
            </a:r>
            <a:endParaRPr lang="en-US" sz="2300" dirty="0"/>
          </a:p>
        </p:txBody>
      </p:sp>
      <p:sp>
        <p:nvSpPr>
          <p:cNvPr id="4" name="Text 2"/>
          <p:cNvSpPr/>
          <p:nvPr/>
        </p:nvSpPr>
        <p:spPr>
          <a:xfrm>
            <a:off x="640080" y="164592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1 · THE HEADER</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field category of type string — read from the schema file under the caret, parsed live.</a:t>
            </a:r>
            <a:endParaRPr lang="en-US" sz="1050" dirty="0"/>
          </a:p>
        </p:txBody>
      </p:sp>
      <p:sp>
        <p:nvSpPr>
          <p:cNvPr id="5" name="Text 3"/>
          <p:cNvSpPr/>
          <p:nvPr/>
        </p:nvSpPr>
        <p:spPr>
          <a:xfrm>
            <a:off x="640080" y="265176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2 · THE MATCH SUMMARY</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Computed here by walking the type’s analyzer chain. The wildcard caveat under it is the plugin’s own sentence.</a:t>
            </a:r>
            <a:endParaRPr lang="en-US" sz="1050" dirty="0"/>
          </a:p>
        </p:txBody>
      </p:sp>
      <p:sp>
        <p:nvSpPr>
          <p:cNvPr id="6" name="Text 4"/>
          <p:cNvSpPr/>
          <p:nvPr/>
        </p:nvSpPr>
        <p:spPr>
          <a:xfrm>
            <a:off x="640080" y="365760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3 · VALUE AND FROM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Resolved live — the field, then its type, then Solr’s default — with From naming which one won.</a:t>
            </a:r>
            <a:endParaRPr lang="en-US" sz="1050" dirty="0"/>
          </a:p>
        </p:txBody>
      </p:sp>
      <p:sp>
        <p:nvSpPr>
          <p:cNvPr id="7" name="Text 5"/>
          <p:cNvSpPr/>
          <p:nvPr/>
        </p:nvSpPr>
        <p:spPr>
          <a:xfrm>
            <a:off x="640080" y="466344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4 · PROPERTY, ACCEPTS, MEANING</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Hand-maintained inside the plugin: about twenty entries, stable across Solr majors. The one deliberate exception.</a:t>
            </a:r>
            <a:endParaRPr lang="en-US" sz="1050" dirty="0"/>
          </a:p>
        </p:txBody>
      </p:sp>
      <p:sp>
        <p:nvSpPr>
          <p:cNvPr id="8" name="Shape 6"/>
          <p:cNvSpPr/>
          <p:nvPr/>
        </p:nvSpPr>
        <p:spPr>
          <a:xfrm>
            <a:off x="5809061" y="1463040"/>
            <a:ext cx="5051390" cy="3950208"/>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02-quick-doc-field-annotated.png">    </p:cNvPr>
          <p:cNvPicPr>
            <a:picLocks noChangeAspect="1"/>
          </p:cNvPicPr>
          <p:nvPr/>
        </p:nvPicPr>
        <p:blipFill>
          <a:blip r:embed="rId1"/>
          <a:stretch>
            <a:fillRect/>
          </a:stretch>
        </p:blipFill>
        <p:spPr>
          <a:xfrm>
            <a:off x="5946221" y="1600200"/>
            <a:ext cx="4777070" cy="3675888"/>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The previous slide’s popup, marked. The key is the FAQ’s.</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docs/faq.md, the annotated field popup; model/schema/SolrFieldProperties.kt (KDoc); docs/screenshots.md entry 2</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6">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DEEP DIVE 3 OF 18 · QUICK DOCUMENTATION, ANNOTATED</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Five parts, five build-time sources — and nothing fetched at edit time</a:t>
            </a:r>
            <a:endParaRPr lang="en-US" sz="2300" dirty="0"/>
          </a:p>
        </p:txBody>
      </p:sp>
      <p:sp>
        <p:nvSpPr>
          <p:cNvPr id="4" name="Text 2"/>
          <p:cNvSpPr/>
          <p:nvPr/>
        </p:nvSpPr>
        <p:spPr>
          <a:xfrm>
            <a:off x="640080" y="1600200"/>
            <a:ext cx="4114800" cy="73152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1 · SHORT NAME AND KIND</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Composed from the class’s simple name; the kind is which Lucene SPI service file listed it.</a:t>
            </a:r>
            <a:endParaRPr lang="en-US" sz="1050" dirty="0"/>
          </a:p>
        </p:txBody>
      </p:sp>
      <p:sp>
        <p:nvSpPr>
          <p:cNvPr id="5" name="Text 3"/>
          <p:cNvSpPr/>
          <p:nvPr/>
        </p:nvSpPr>
        <p:spPr>
          <a:xfrm>
            <a:off x="640080" y="2359152"/>
            <a:ext cx="4114800" cy="73152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2 · THE CLASS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From the scanned .class file — a Lucene class, despite the solr. spelling a configset uses.</a:t>
            </a:r>
            <a:endParaRPr lang="en-US" sz="1050" dirty="0"/>
          </a:p>
        </p:txBody>
      </p:sp>
      <p:sp>
        <p:nvSpPr>
          <p:cNvPr id="6" name="Text 4"/>
          <p:cNvSpPr/>
          <p:nvPr/>
        </p:nvSpPr>
        <p:spPr>
          <a:xfrm>
            <a:off x="640080" y="3118104"/>
            <a:ext cx="4114800" cy="73152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3 · THE SUMMARY</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first sentence of the sources jar’s Javadoc, its {@link} rendered to plain text.</a:t>
            </a:r>
            <a:endParaRPr lang="en-US" sz="1050" dirty="0"/>
          </a:p>
        </p:txBody>
      </p:sp>
      <p:sp>
        <p:nvSpPr>
          <p:cNvPr id="7" name="Text 5"/>
          <p:cNvSpPr/>
          <p:nvPr/>
        </p:nvSpPr>
        <p:spPr>
          <a:xfrm>
            <a:off x="640080" y="3877056"/>
            <a:ext cx="4114800" cy="73152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4 · WHAT IT ACCEPTS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Read out of the factory’s constructor bytecode: each argument it takes, and its value’s type.</a:t>
            </a:r>
            <a:endParaRPr lang="en-US" sz="1050" dirty="0"/>
          </a:p>
        </p:txBody>
      </p:sp>
      <p:sp>
        <p:nvSpPr>
          <p:cNvPr id="14" name="Text 5b"/>
          <p:cNvSpPr/>
          <p:nvPr/>
        </p:nvSpPr>
        <p:spPr>
          <a:xfrm>
            <a:off x="640080" y="4636008"/>
            <a:ext cx="4114800" cy="73152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5 · THE LINK</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Constructed, never fetched — for the version the configset’s own luceneMatchVersion declares.</a:t>
            </a:r>
            <a:endParaRPr lang="en-US" sz="1050" dirty="0"/>
          </a:p>
        </p:txBody>
      </p:sp>
      <p:sp>
        <p:nvSpPr>
          <p:cNvPr id="8" name="Shape 6"/>
          <p:cNvSpPr/>
          <p:nvPr/>
        </p:nvSpPr>
        <p:spPr>
          <a:xfrm>
            <a:off x="4892040" y="2137849"/>
            <a:ext cx="6885432" cy="2673742"/>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03-quick-doc-class-annotated.png">    </p:cNvPr>
          <p:cNvPicPr>
            <a:picLocks noChangeAspect="1"/>
          </p:cNvPicPr>
          <p:nvPr/>
        </p:nvPicPr>
        <p:blipFill>
          <a:blip r:embed="rId1"/>
          <a:stretch>
            <a:fillRect/>
          </a:stretch>
        </p:blipFill>
        <p:spPr>
          <a:xfrm>
            <a:off x="5029200" y="2275009"/>
            <a:ext cx="6611112" cy="2399422"/>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Framed wider than the plain capture: the markers sit in the editor margin, right of the popup.</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docs/faq.md, the annotated class popup; buildSrc GenerateSolrCatalogTask (ASM); docs/screenshots.md entry 3</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3 · CODE LAYOUT</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200" b="1" dirty="0">
                <a:solidFill>
                  <a:srgbClr val="1B2340"/>
                </a:solidFill>
                <a:latin typeface="Cambria" pitchFamily="34" charset="0"/>
                <a:ea typeface="Cambria" pitchFamily="34" charset="-122"/>
                <a:cs typeface="Cambria" pitchFamily="34" charset="-120"/>
              </a:rPr>
              <a:t>One keystroke, one model read — and only names that resolve are offered</a:t>
            </a:r>
            <a:endParaRPr lang="en-US" sz="2200" dirty="0"/>
          </a:p>
        </p:txBody>
      </p:sp>
      <p:sp>
        <p:nvSpPr>
          <p:cNvPr id="5" name="Text 3"/>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docs/how-to/add-an-editor-feature.md “Completion”; configset/solrconfig/completion/SolrParameterFieldCompletionProvider.kt</a:t>
            </a:r>
            <a:endParaRPr lang="en-US" sz="950" dirty="0"/>
          </a:p>
        </p:txBody>
      </p:sp>
      <p:sp>
        <p:nvSpPr>
          <p:cNvPr id="7" name="Text 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41</a:t>
            </a:r>
            <a:endParaRPr lang="en-US" sz="900" dirty="0"/>
          </a:p>
        </p:txBody>
      </p:sp>
      <p:pic>
        <p:nvPicPr>
          <p:cNvPr id="8" name="Picture 7" descr="seq-02-completion.png"/>
          <p:cNvPicPr>
            <a:picLocks noChangeAspect="1"/>
          </p:cNvPicPr>
          <p:nvPr/>
        </p:nvPicPr>
        <p:blipFill>
          <a:blip r:embed="rId2"/>
          <a:stretch>
            <a:fillRect/>
          </a:stretch>
        </p:blipFill>
        <p:spPr>
          <a:xfrm>
            <a:off x="655168" y="1672476"/>
            <a:ext cx="10881360" cy="4345152"/>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3 · CODE LAYOUT</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200" b="1" dirty="0">
                <a:solidFill>
                  <a:srgbClr val="1B2340"/>
                </a:solidFill>
                <a:latin typeface="Cambria" pitchFamily="34" charset="0"/>
                <a:ea typeface="Cambria" pitchFamily="34" charset="-122"/>
                <a:cs typeface="Cambria" pitchFamily="34" charset="-120"/>
              </a:rPr>
              <a:t>An inspection outside a configset is silent before it visits a single tag</a:t>
            </a:r>
            <a:endParaRPr lang="en-US" sz="2200" dirty="0"/>
          </a:p>
        </p:txBody>
      </p:sp>
      <p:sp>
        <p:nvSpPr>
          <p:cNvPr id="5" name="Text 3"/>
          <p:cNvSpPr/>
          <p:nvPr/>
        </p:nvSpPr>
        <p:spPr>
          <a:xfrm>
            <a:off x="640080" y="6199632"/>
            <a:ext cx="10607040" cy="274320"/>
          </a:xfrm>
          <a:prstGeom prst="rect">
            <a:avLst/>
          </a:prstGeom>
          <a:noFill/>
          <a:ln/>
        </p:spPr>
        <p:txBody>
          <a:bodyPr wrap="square"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Source: docs/how-to/add-an-editor-feature.md “The walkthrough: an inspection”; configset/schema/inspection/SolrDanglingCopyFieldInspection.kt</a:t>
            </a:r>
            <a:endParaRPr lang="en-US" sz="950" dirty="0"/>
          </a:p>
        </p:txBody>
      </p:sp>
      <p:sp>
        <p:nvSpPr>
          <p:cNvPr id="7" name="Text 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42</a:t>
            </a:r>
            <a:endParaRPr lang="en-US" sz="900" dirty="0"/>
          </a:p>
        </p:txBody>
      </p:sp>
      <p:pic>
        <p:nvPicPr>
          <p:cNvPr id="8" name="Picture 7" descr="seq-03-inspection.png"/>
          <p:cNvPicPr>
            <a:picLocks noChangeAspect="1"/>
          </p:cNvPicPr>
          <p:nvPr/>
        </p:nvPicPr>
        <p:blipFill>
          <a:blip r:embed="rId2"/>
          <a:stretch>
            <a:fillRect/>
          </a:stretch>
        </p:blipFill>
        <p:spPr>
          <a:xfrm>
            <a:off x="3192901" y="1563624"/>
            <a:ext cx="5805893" cy="4562856"/>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4 · 6 OF 10 · LIVE FIELDS</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Field names from the collection a request is about to reach</a:t>
            </a:r>
            <a:endParaRPr lang="en-US" sz="2300" dirty="0"/>
          </a:p>
        </p:txBody>
      </p:sp>
      <p:sp>
        <p:nvSpPr>
          <p:cNvPr id="4" name="Text 2"/>
          <p:cNvSpPr/>
          <p:nvPr/>
        </p:nvSpPr>
        <p:spPr>
          <a:xfrm>
            <a:off x="640080" y="160020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Ctrl-Space in a JSON body’s "fields" array: the fields of books, each labelled books · local — collection and connection.</a:t>
            </a:r>
            <a:endParaRPr lang="en-US" sz="1050" dirty="0"/>
          </a:p>
        </p:txBody>
      </p:sp>
      <p:sp>
        <p:nvSpPr>
          <p:cNvPr id="5" name="Text 3"/>
          <p:cNvSpPr/>
          <p:nvPr/>
        </p:nvSpPr>
        <p:spPr>
          <a:xfrm>
            <a:off x="640080" y="256032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Names from a configset, which may not be what is deployed — subtitle here is on the server and in no file.</a:t>
            </a:r>
            <a:endParaRPr lang="en-US" sz="1050" dirty="0"/>
          </a:p>
        </p:txBody>
      </p:sp>
      <p:sp>
        <p:nvSpPr>
          <p:cNvPr id="6" name="Text 4"/>
          <p:cNvSpPr/>
          <p:nvPr/>
        </p:nvSpPr>
        <p:spPr>
          <a:xfrm>
            <a:off x="640080" y="352044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collection the request line names, read once from the selected connection. Where it cannot be, the configsets answer.</a:t>
            </a:r>
            <a:endParaRPr lang="en-US" sz="1050" dirty="0"/>
          </a:p>
        </p:txBody>
      </p:sp>
      <p:sp>
        <p:nvSpPr>
          <p:cNvPr id="7" name="Text 5"/>
          <p:cNvSpPr/>
          <p:nvPr/>
        </p:nvSpPr>
        <p:spPr>
          <a:xfrm>
            <a:off x="640080" y="448056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SolrQueryFieldCompletionContributor, over the JSON the HTTP Client already injects. Only an explicit Ctrl-Space may reach the server.</a:t>
            </a:r>
            <a:endParaRPr lang="en-US" sz="1050" dirty="0"/>
          </a:p>
        </p:txBody>
      </p:sp>
      <p:sp>
        <p:nvSpPr>
          <p:cNvPr id="8" name="Shape 6"/>
          <p:cNvSpPr/>
          <p:nvPr/>
        </p:nvSpPr>
        <p:spPr>
          <a:xfrm>
            <a:off x="5563474" y="1463040"/>
            <a:ext cx="5542565" cy="3950208"/>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30-completion-live-schema.png">    </p:cNvPr>
          <p:cNvPicPr>
            <a:picLocks noChangeAspect="1"/>
          </p:cNvPicPr>
          <p:nvPr/>
        </p:nvPicPr>
        <p:blipFill>
          <a:blip r:embed="rId1"/>
          <a:stretch>
            <a:fillRect/>
          </a:stretch>
        </p:blipFill>
        <p:spPr>
          <a:xfrm>
            <a:off x="5700634" y="1600200"/>
            <a:ext cx="5268245" cy="3675888"/>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The source label is the image: books · local says the list came from the server, not a configset.</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server/query/SolrQueryFieldCompletionContributor.kt, SolrCollectionFields.kt; docs/screenshots.md entry 30</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4 · 10 OF 10 · A TEST DOCUMENT</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A test document, checked against the schema before Solr is asked</a:t>
            </a:r>
            <a:endParaRPr lang="en-US" sz="2300" dirty="0"/>
          </a:p>
        </p:txBody>
      </p:sp>
      <p:sp>
        <p:nvSpPr>
          <p:cNvPr id="4" name="Text 2"/>
          <p:cNvSpPr/>
          <p:nvPr/>
        </p:nvSpPr>
        <p:spPr>
          <a:xfrm>
            <a:off x="640080" y="160020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Index a test document into shows: every field a user would fill, prefilled with placeholders, and the verdict under the editor.</a:t>
            </a:r>
            <a:endParaRPr lang="en-US" sz="1050" dirty="0"/>
          </a:p>
        </p:txBody>
      </p:sp>
      <p:sp>
        <p:nvSpPr>
          <p:cNvPr id="5" name="Text 3"/>
          <p:cNvSpPr/>
          <p:nvPr/>
        </p:nvSpPr>
        <p:spPr>
          <a:xfrm>
            <a:off x="640080" y="256032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An unknown field returns status 0: Solr adds it to the deployed schema, and one typo becomes permanent drift.</a:t>
            </a:r>
            <a:endParaRPr lang="en-US" sz="1050" dirty="0"/>
          </a:p>
        </p:txBody>
      </p:sp>
      <p:sp>
        <p:nvSpPr>
          <p:cNvPr id="6" name="Text 4"/>
          <p:cNvSpPr/>
          <p:nvPr/>
        </p:nvSpPr>
        <p:spPr>
          <a:xfrm>
            <a:off x="640080" y="352044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collection’s schema: the unique key and required fields first, then the rest in declared order.</a:t>
            </a:r>
            <a:endParaRPr lang="en-US" sz="1050" dirty="0"/>
          </a:p>
        </p:txBody>
      </p:sp>
      <p:sp>
        <p:nvSpPr>
          <p:cNvPr id="7" name="Text 5"/>
          <p:cNvSpPr/>
          <p:nvPr/>
        </p:nvSpPr>
        <p:spPr>
          <a:xfrm>
            <a:off x="640080" y="448056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SolrIndexDocumentDialog over SolrSampleDocument and SolrDocumentValidation. A misspelled field or a missing id disables OK.</a:t>
            </a:r>
            <a:endParaRPr lang="en-US" sz="1050" dirty="0"/>
          </a:p>
        </p:txBody>
      </p:sp>
      <p:sp>
        <p:nvSpPr>
          <p:cNvPr id="8" name="Shape 6"/>
          <p:cNvSpPr/>
          <p:nvPr/>
        </p:nvSpPr>
        <p:spPr>
          <a:xfrm>
            <a:off x="5201910" y="1463040"/>
            <a:ext cx="6265691" cy="3950208"/>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31-index-test-document.png">    </p:cNvPr>
          <p:cNvPicPr>
            <a:picLocks noChangeAspect="1"/>
          </p:cNvPicPr>
          <p:nvPr/>
        </p:nvPicPr>
        <p:blipFill>
          <a:blip r:embed="rId1"/>
          <a:stretch>
            <a:fillRect/>
          </a:stretch>
        </p:blipFill>
        <p:spPr>
          <a:xfrm>
            <a:off x="5339070" y="1600200"/>
            <a:ext cx="5991371" cy="3675888"/>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This document matches the schema. Misspell a field and the line under the editor says why OK is disabled.</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server/indexing/SolrDocumentValidation.kt, SolrSampleDocument.kt, SolrIndexDocumentDialog.kt; docs/screenshots.md entry 31</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640080" y="365760"/>
            <a:ext cx="10789920" cy="310896"/>
          </a:xfrm>
          <a:prstGeom prst="rect">
            <a:avLst/>
          </a:prstGeom>
          <a:noFill/>
          <a:ln/>
        </p:spPr>
        <p:txBody>
          <a:bodyPr wrap="square" rtlCol="0" anchor="ctr"/>
          <a:lstStyle/>
          <a:p>
            <a:pPr indent="0" marL="0">
              <a:buNone/>
            </a:pPr>
            <a:r>
              <a:rPr lang="en-US" sz="1200" b="1" spc="150" kern="0" dirty="0">
                <a:solidFill>
                  <a:srgbClr val="D9531E"/>
                </a:solidFill>
                <a:latin typeface="Calibri" pitchFamily="34" charset="0"/>
                <a:ea typeface="Calibri" pitchFamily="34" charset="-122"/>
                <a:cs typeface="Calibri" pitchFamily="34" charset="-120"/>
              </a:rPr>
              <a:t>ACT 5 · 2 OF 5 · COMPLETION</a:t>
            </a:r>
            <a:endParaRPr lang="en-US" sz="1200" dirty="0"/>
          </a:p>
        </p:txBody>
      </p:sp>
      <p:sp>
        <p:nvSpPr>
          <p:cNvPr id="3" name="Text 1"/>
          <p:cNvSpPr/>
          <p:nvPr/>
        </p:nvSpPr>
        <p:spPr>
          <a:xfrm>
            <a:off x="621792" y="621792"/>
            <a:ext cx="10927080" cy="914400"/>
          </a:xfrm>
          <a:prstGeom prst="rect">
            <a:avLst/>
          </a:prstGeom>
          <a:noFill/>
          <a:ln/>
        </p:spPr>
        <p:txBody>
          <a:bodyPr wrap="square" rtlCol="0" anchor="ctr"/>
          <a:lstStyle/>
          <a:p>
            <a:pPr indent="0" marL="0">
              <a:lnSpc>
                <a:spcPct val="103000"/>
              </a:lnSpc>
              <a:buNone/>
            </a:pPr>
            <a:r>
              <a:rPr lang="en-US" sz="2300" b="1" dirty="0">
                <a:solidFill>
                  <a:srgbClr val="1B2340"/>
                </a:solidFill>
                <a:latin typeface="Cambria" pitchFamily="34" charset="0"/>
                <a:ea typeface="Cambria" pitchFamily="34" charset="-122"/>
                <a:cs typeface="Cambria" pitchFamily="34" charset="-120"/>
              </a:rPr>
              <a:t>Field names offered as they are typed — only the ones the call can use</a:t>
            </a:r>
            <a:endParaRPr lang="en-US" sz="2300" dirty="0"/>
          </a:p>
        </p:txBody>
      </p:sp>
      <p:sp>
        <p:nvSpPr>
          <p:cNvPr id="4" name="Text 2"/>
          <p:cNvSpPr/>
          <p:nvPr/>
        </p:nvSpPr>
        <p:spPr>
          <a:xfrm>
            <a:off x="640080" y="160020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WHAT IT SHOWS</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Typing de inside setQuery opens the popup unasked, offering description from the solr configset — and nothing else.</a:t>
            </a:r>
            <a:endParaRPr lang="en-US" sz="1050" dirty="0"/>
          </a:p>
        </p:txBody>
      </p:sp>
      <p:sp>
        <p:nvSpPr>
          <p:cNvPr id="5" name="Text 3"/>
          <p:cNvSpPr/>
          <p:nvPr/>
        </p:nvSpPr>
        <p:spPr>
          <a:xfrm>
            <a:off x="640080" y="256032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WITHOUT IT</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Inside a string the platform suppresses the popup, and Ctrl-Space offers words and file names beside the fields.</a:t>
            </a:r>
            <a:endParaRPr lang="en-US" sz="1050" dirty="0"/>
          </a:p>
        </p:txBody>
      </p:sp>
      <p:sp>
        <p:nvSpPr>
          <p:cNvPr id="6" name="Text 4"/>
          <p:cNvSpPr/>
          <p:nvPr/>
        </p:nvSpPr>
        <p:spPr>
          <a:xfrm>
            <a:off x="640080" y="352044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DATA SOURCE</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The project’s configsets, through the recognizer the check reads: declared fields only, and only those the call can use.</a:t>
            </a:r>
            <a:endParaRPr lang="en-US" sz="1050" dirty="0"/>
          </a:p>
        </p:txBody>
      </p:sp>
      <p:sp>
        <p:nvSpPr>
          <p:cNvPr id="7" name="Text 5"/>
          <p:cNvSpPr/>
          <p:nvPr/>
        </p:nvSpPr>
        <p:spPr>
          <a:xfrm>
            <a:off x="640080" y="4480560"/>
            <a:ext cx="4114800" cy="914400"/>
          </a:xfrm>
          <a:prstGeom prst="rect">
            <a:avLst/>
          </a:prstGeom>
          <a:noFill/>
          <a:ln/>
        </p:spPr>
        <p:txBody>
          <a:bodyPr wrap="square" rtlCol="0" anchor="t"/>
          <a:lstStyle/>
          <a:p>
            <a:pPr indent="0" marL="0">
              <a:lnSpc>
                <a:spcPct val="112000"/>
              </a:lnSpc>
              <a:buNone/>
            </a:pPr>
            <a:r>
              <a:rPr lang="en-US" sz="1050" b="1" spc="50" kern="0" dirty="0">
                <a:solidFill>
                  <a:srgbClr val="D9531E"/>
                </a:solidFill>
                <a:latin typeface="Calibri" pitchFamily="34" charset="0"/>
                <a:ea typeface="Calibri" pitchFamily="34" charset="-122"/>
                <a:cs typeface="Calibri" pitchFamily="34" charset="-120"/>
              </a:rPr>
              <a:t>MECHANISM</a:t>
            </a:r>
            <a:endParaRPr lang="en-US" sz="1050" dirty="0"/>
          </a:p>
          <a:p>
            <a:pPr indent="0" marL="0">
              <a:lnSpc>
                <a:spcPct val="112000"/>
              </a:lnSpc>
              <a:buNone/>
            </a:pPr>
            <a:r>
              <a:rPr lang="en-US" sz="1320" dirty="0">
                <a:solidFill>
                  <a:srgbClr val="1B2340"/>
                </a:solidFill>
                <a:latin typeface="Calibri" pitchFamily="34" charset="0"/>
                <a:ea typeface="Calibri" pitchFamily="34" charset="-122"/>
                <a:cs typeface="Calibri" pitchFamily="34" charset="-120"/>
              </a:rPr>
              <a:t>SolrCodeFieldCompletionContributor, registered first; SolrCodeFieldCompletionConfidence lets it open inside a SolrJ string.</a:t>
            </a:r>
            <a:endParaRPr lang="en-US" sz="1050" dirty="0"/>
          </a:p>
        </p:txBody>
      </p:sp>
      <p:sp>
        <p:nvSpPr>
          <p:cNvPr id="8" name="Shape 6"/>
          <p:cNvSpPr/>
          <p:nvPr/>
        </p:nvSpPr>
        <p:spPr>
          <a:xfrm>
            <a:off x="4892040" y="2856936"/>
            <a:ext cx="6885432" cy="1235568"/>
          </a:xfrm>
          <a:prstGeom prst="rect">
            <a:avLst/>
          </a:prstGeom>
          <a:solidFill>
            <a:srgbClr val="FFFFFF"/>
          </a:solidFill>
          <a:ln w="12700">
            <a:solidFill>
              <a:srgbClr val="E2E5F0"/>
            </a:solidFill>
            <a:prstDash val="solid"/>
          </a:ln>
          <a:effectLst>
            <a:outerShdw sx="100000" sy="100000" kx="0" ky="0" algn="bl" rotWithShape="0" blurRad="127000" dist="25400" dir="5400000">
              <a:srgbClr val="1B2340">
                <a:alpha val="18000"/>
              </a:srgbClr>
            </a:outerShdw>
          </a:effectLst>
        </p:spPr>
      </p:sp>
      <p:pic>
        <p:nvPicPr>
          <p:cNvPr id="9" name="Image 0" descr="32-code-completion-popup.png">    </p:cNvPr>
          <p:cNvPicPr>
            <a:picLocks noChangeAspect="1"/>
          </p:cNvPicPr>
          <p:nvPr/>
        </p:nvPicPr>
        <p:blipFill>
          <a:blip r:embed="rId1"/>
          <a:stretch>
            <a:fillRect/>
          </a:stretch>
        </p:blipFill>
        <p:spPr>
          <a:xfrm>
            <a:off x="5029200" y="2994096"/>
            <a:ext cx="6611112" cy="961248"/>
          </a:xfrm>
          <a:prstGeom prst="rect">
            <a:avLst/>
          </a:prstGeom>
        </p:spPr>
      </p:pic>
      <p:sp>
        <p:nvSpPr>
          <p:cNvPr id="10" name="Text 7"/>
          <p:cNvSpPr/>
          <p:nvPr/>
        </p:nvSpPr>
        <p:spPr>
          <a:xfrm>
            <a:off x="4892040" y="5486400"/>
            <a:ext cx="6888175" cy="365760"/>
          </a:xfrm>
          <a:prstGeom prst="rect">
            <a:avLst/>
          </a:prstGeom>
          <a:noFill/>
          <a:ln/>
        </p:spPr>
        <p:txBody>
          <a:bodyPr wrap="square" rtlCol="0" anchor="t"/>
          <a:lstStyle/>
          <a:p>
            <a:pPr algn="ctr" indent="0" marL="0">
              <a:buNone/>
            </a:pPr>
            <a:r>
              <a:rPr lang="en-US" sz="980" i="1" dirty="0">
                <a:solidFill>
                  <a:srgbClr val="5B6478"/>
                </a:solidFill>
                <a:latin typeface="Calibri" pitchFamily="34" charset="0"/>
                <a:ea typeface="Calibri" pitchFamily="34" charset="-122"/>
                <a:cs typeface="Calibri" pitchFamily="34" charset="-120"/>
              </a:rPr>
              <a:t>A dynamic pattern is never offered: *_t inserted into a query is a wildcard field Solr rejects.</a:t>
            </a:r>
            <a:endParaRPr lang="en-US" sz="980" dirty="0"/>
          </a:p>
        </p:txBody>
      </p:sp>
      <p:sp>
        <p:nvSpPr>
          <p:cNvPr id="11" name="Text 8"/>
          <p:cNvSpPr/>
          <p:nvPr/>
        </p:nvSpPr>
        <p:spPr>
          <a:xfrm>
            <a:off x="640080" y="5989320"/>
            <a:ext cx="10881360" cy="502920"/>
          </a:xfrm>
          <a:prstGeom prst="rect">
            <a:avLst/>
          </a:prstGeom>
          <a:noFill/>
          <a:ln/>
        </p:spPr>
        <p:txBody>
          <a:bodyPr wrap="square" rtlCol="0" anchor="t"/>
          <a:lstStyle/>
          <a:p>
            <a:pPr indent="0" marL="0">
              <a:buNone/>
            </a:pPr>
            <a:r>
              <a:rPr lang="en-US" sz="900" i="1" dirty="0">
                <a:solidFill>
                  <a:srgbClr val="5B6478"/>
                </a:solidFill>
                <a:latin typeface="Calibri" pitchFamily="34" charset="0"/>
                <a:ea typeface="Calibri" pitchFamily="34" charset="-122"/>
                <a:cs typeface="Calibri" pitchFamily="34" charset="-120"/>
              </a:rPr>
              <a:t>Source: code/completion/SolrCodeFieldCompletionContributor.kt, SolrCodeFieldAutoPopup.kt; docs/images/32-code-completion-popup.png</a:t>
            </a:r>
            <a:endParaRPr lang="en-US" sz="900" dirty="0"/>
          </a:p>
        </p:txBody>
      </p:sp>
      <p:sp>
        <p:nvSpPr>
          <p:cNvPr id="13" name="Text 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Solr Support for IntelliJ IDEA</dc:title>
  <dc:subject>PptxGenJS Presentation</dc:subject>
  <dc:creator>PptxGenJS</dc:creator>
  <cp:lastModifiedBy>PptxGenJS</cp:lastModifiedBy>
  <cp:revision>1</cp:revision>
  <dcterms:created xsi:type="dcterms:W3CDTF">2026-08-18T02:41:35Z</dcterms:created>
  <dcterms:modified xsi:type="dcterms:W3CDTF">2026-08-18T02:41:35Z</dcterms:modified>
</cp:coreProperties>
</file>