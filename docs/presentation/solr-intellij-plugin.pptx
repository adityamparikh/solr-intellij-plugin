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93" r:id="rId44"/>
    <p:sldId id="282" r:id="rId28"/>
    <p:sldId id="294" r:id="rId45"/>
    <p:sldId id="283" r:id="rId29"/>
    <p:sldId id="284" r:id="rId30"/>
    <p:sldId id="285" r:id="rId31"/>
    <p:sldId id="286" r:id="rId32"/>
    <p:sldId id="287" r:id="rId33"/>
    <p:sldId id="288" r:id="rId34"/>
    <p:sldId id="289" r:id="rId35"/>
    <p:sldId id="290" r:id="rId36"/>
    <p:sldId id="295" r:id="rId4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Three acts. Act one walks eighteen editor features, one slide each, one claim each — every slide answers the same four questions: what it shows, what a reader does today without it, where its data actually comes from, and the platform mechanism underneath. Act two is IntelliJ plugin development for a Java engineer who has never written one. Act three is the codebase's own layout and the rules that keep it that way. Repository: github.com/adityamparikh/solr-intellij-plugin, branch feat/solrconfig-structure-completion, level with 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frame once, briefly, then get out of the way — Act 1 is eighteen feature slides and each one needs to breathe. The three-surfaces framing is the spec's own: configuration files, a live server, Java/Kotlin code, unified by a single model of what fields exist and what they can do. Only the first surface is built. That is not a caveat to bury — it is honestly stated here and again at the very end, so nobody in the room mistakes eighteen real screenshots for a finished three-surface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 next eighteen slides is built the same way, on purpose, so the room can pattern-match after the second one: a single bold claim as the title, four short labeled pointers (what it shows, what a reader does today without it, where the data comes from, the mechanism), one real screenshot, and everything else — the interesting explanation — in these speaker notes. The through-line worth stating once and then letting the slides prove repeatedly: almost nothing here reads an index or contacts a server. A configset is text, and the reference data behind most of these features was generated once, at build time, from Solr's own artifacts.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plugin's signature output — the one most likely to be quoted back at a maintainer, which is exactly why it says nothing rather than guess when analysis is not confident. An inlay rather than a tooltip on purpose: a user who does not already suspect their field can't match a prefix will never hover to find out, so the plugin says it unprompted. The deciding factories — which tokenizer or filter class means 'prefix-capable', which means 'case-folds' — are hand-named in SolrMatchAnalysis rather than read from the generated class catalog, because that set of decisions defines what 'matching' even means in Solr and has stayed stable across major versions while the surrounding catalog has not. Storage-shape phrases (stored, multi-valued) ride beside the match claim and survive even when the match claim itself goes silent for an unrecognised factory — silence is per-claim, not per-hint.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popup is what the whole model exists to answer, and it is the deep-dive worth dwelling on if time allows. Every legal property resolves through three tiers, and where a default is genuinely type-dependent — docValues on some field types — the popup reports UNDETERMINED rather than a guess. The Meaning column states the consequence in the Reference Guide's own neutral vocabulary ('whether the original value can be returned in results' beside stored: false) rather than the plugin inventing its own phrasing. Links point at the Reference Guide page for the Solr line this configset declares; nothing on the editor path ever fetches a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catalog pipeline's first visible payoff, and the pipeline starts in buildSrc, not in the running plugin. A Gradle task reads Solr's own jars with ASM — reading bytecode rather than loading classes, so no static initializer ever runs during a build — recovering not just tokenizers and filters but request handlers, query parsers, search components, caches, listeners and more: SolrClassKind names 22 distinct kinds a configset may reference in a class attribute, verified by reading the enum directly rather than trusting an older doc's rounder number. The catalog totals 735 classes on Solr 9 and 724 on Solr 10, counted from the generated TSVs this session rather than copied from a stale figure elsewhere in the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schema version is a third, independent version number beside the Solr line and luceneMatchVersion, and this codebase's own KDoc explicitly warns against conflating the three. The demo pins version="1.6" on purpose so this capture shows a version-dependent default actually being resolved rather than assumed. Small reproducibility note: F1 opens platform Help on the default macOS keymap, not Quick Documentation — Ctrl+J is what raises this popup, and on this sandbox it rendered as a docked panel rather than a floating box, which is a platform-version cosmetic difference, not a regression.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rule worth stating out loud: only closed sets are completed. A partial list implies everything absent from it is wrong, so a position where any string is legal gets no contribution at all rather than a half-answer. order="first" matters mechanically: this contributor runs ahead of the platform's own XML completion and can drop the bare duplicate entries the platform would otherwise also offer, leaving one clean list with summaries instead of two overlapping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lookup this completion reads also backs the class quick-documentation popup two slides back and the per-attribute hover — one generated fact, several places it surfaces, because the completion contributor is a thin adapter over the same catalog rather than its own data source. Attributes already written on the tag (minGramSize, maxGramSize here) are omitted, the identical rule feature 5 demonstrates for schema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screenshot is the reshoot — the first capture of this popup briefly showed a real bug (cache, featureVectorCache and HashDocSet offered at the document root, where Solr does not actually read them), caught and fixed the same session, and this image is from a sandbox rebuilt after that fix. That episode is worth telling exactly as a caution about generated evidence: a running sandbox does not reload a regenerated catalog resource, so the first reshoot attempt reproduced the old, wrong popup and looked like the fix had failed. The vocabulary itself comes from three joined sources: SolrConfig's own public plugins list, a shipped JSON describing updateHandler/query/requestDispatcher's typed attributes, and a pass reading SolrConfig's own config-reading calls as literal arguments for the handful of elements — &lt;config&gt; itself, luceneMatchVersion, dataDir — that appear in neither prior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capture that closes a real gap the rest of the evidence left open. Every other artifact verifying the element-placement fix — the tests, the whole-catalog diff, the previous slide's &lt;config&gt; popup — observes only what left the document root. Had those elements left without arriving anywhere, all of that evidence would still read green. This screenshot is the only thing that shows they actually arrived at &lt;query&gt;, and dataDir is conspicuously not among the eighteen offered here, which is the other half of the claim: the vocabulary is genuinely partitioned by position, not merged.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beside the previous slide's eighteen, this one element is the point: nesting and correctness are two separate mechanisms working together rather than one broad guess. nrtMode and unlockOnStartup are demonstrably known to the catalog — they are keyed to exactly this parent path and the discontinued-element inspection fires on them when written here — and they are still withheld from completion, because Solr itself no longer accepts them. Worth flagging honestly rather than papering over: lockType, httpCaching and infoStream appear in Solr's own shipped configsets and in neither catalog at all, because SolrConfig's own reading code never touches them — a real, pre-existing completeness gap, not a regression from anything shown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genuine finding surfaced while capturing this, worth telling as evidence the completion is doing real work rather than dumping a flat list: a parameter already set elsewhere in the same defaults block is withheld from the offered list. Typing qf at this position in the demo offers only mlt.qf and hl.queryFieldPattern, because plain qf is already declared on an earlier line of the same list — an apparently sparse, generic-looking popup at this position is usually that rule firing correctly, not a broken capture. The counts themselves were verified directly against the generated TSV files this session rather than repeated from an older, rounder figure in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deliberately scoped to sixteen parameters rather than offered everywhere a string appears in this file — offering it inside rows or defType would be actively wrong, since those hold numbers and parser names respectively. It also respects boost and sort syntax rather than treating the whole attribute value as one opaque field-name slot: qf offers name, not name^3, because a caret after name^ is understood to be inside a boost expression. One easy-to-miss reproducibility detail: completion did not fire with the caret directly adjacent to existing text and no trailing space — the same rule feature 5 documents for schema attribute completion, confirmed true here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screenshot is close to this whole plugin's thesis statement in one frame — the exact cross-file silent-failure class the project exists to catch, made visible before it ever fails. Each name in name^3 description category navigates independently; boost syntax does not confuse it. Architecturally this reference lives in configset.solrconfig.reference and resolves into the schema aspect's own declarations, which is exactly the kind of cross-file capability that belongs at the shared layer rather than inside either aspect — see Act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smaller capability, included because the reference abstraction covering it is architecturally the same one covering the field-name navigation on the previous slide — it does not care what kind of target it resolves to, only that resolve() returns something Ctrl-click and Find Usages can both understand. Cmd-hover shows the same resolution as an absolute path, which is the right gesture for checking this by hand and the wrong one to publish, since the path is someone's home directory.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searcher existed, Ctrl-click already worked (references anchor at use sites and resolve to declarations) but Alt-F7 on the declaration itself refused outright — nothing turned a caret sitting on a declaration into something the platform's TargetElementUtilBase would search for. Two smaller hooks make the result readable rather than merely correct: without a description provider the header would read the target's own class name; without a usage-type provider every hit would land under an unlabelled 'Unclassified' group. A dynamic field's Find Usages also reports the concrete names its pattern actually supplies, not only literal spellings of the glob, because the platform's word index alone cannot match a name sharing no literal word with a pattern like *_t.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qf line updating with no separate action is the single clearest illustration in this deck of what 'one shared model across files' buys a reader in practice. A single Cmd+Z reverted both files as one refactoring, confirmed via the platform's own 'Undo Renaming field category to product_category?' dialog. One deliberate limit, tested rather than accidental: a dynamic field rewrites only the references that literally spell it — rewriting a pattern-supplied name like body_t would substitute into the glob itself and write an invalid pattern where a field name belongs. The name left behind is not silently orphaned: the unknown-field-reference inspection flags it from the same position. Rename needed the declaration-target work from the Find Usages slide as a genuine prerequisite, not a nice-to-have — renaming a bare declaration used to throw 'element not found in file', resolving the same null target Alt-F7 used to hit.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standing rule that inspections must not fire on a correct file forced this into a different mechanism entirely — an annotator at information severity, reaching neither an underline nor the Problems view, which is the platform's own idiom for 'true but removable' code. stored="false" on name_prefix stays full-strength in the same frame, which is the contrast that makes the claim visible: it changes something, so it is load-bearing. The dim and its removal intention share one predicate so they cannot disagree about which attributes qualify, and the intention is proven, not assumed, to leave the parsed model identical before and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time in the whole feature set that the plugin edits a configset rather than only explaining or completing one. The availability rules live in pure functions over the model rather than inside the IntentionAction class, specifically so the cases that decide NOT to offer can be tested without booting an IDE — an intention offered where it does not apply gets acted on, which is worse than one simply missing. Reuse of an existing declared type matches the implementing class, not the type's name — every unanalysed numeric or date type qualifies for exact-match reuse, and borrowing the wrong class would fail silently at index time rather than in the editor.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this codebase cares about most, stated in its own words: an inspection must not fire on a correct file, because Solr configuration is full of syntax that resembles a field name without being one — fl legitimately holds score, *, [docid], max(price,0). Every registration uses level="WARNING" rather than ERROR, because the plugin's model of a half-typed file is never treated as authoritative enough to claim a hard error. Proof rather than assertion: SolrShippedConfigsetTest runs the whole rule set against Solr's own _default and sample_techproducts_configs configsets, on both supported lines. Ten of the eleven report nothing. The eleventh, the unused-field-type rule, is held out of that gate by name, because Solr's own shipped configsets declare spare field types deliberately — a separate assertion pins that it does fire, so silencing it is not a way to pass. Quick-fix candidates are ranked by edit distance and capped at six, because the inspection already computed the valid set in order to decide it was wrong, and discarding that list would be the difference between an editor that helps and one that only complains.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Restate the honesty framing once more before leaving features behind: this is not a finished three-surface product, it is the Editor track, documented completely, with receipts. Transition into Act 2: everything just shown is built on a handful of IntelliJ Platform mechanisms — extension points, PSI, dumb mode, a declared-dependency cache — and Act 2 explains each of those from zero, in the vocabulary a Java engineer already has, using this exact codebase as the worked example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act is grounded in docs/glossary.md, a 54-term reference this team wrote specifically to give a Java engineer a Java analogue for every IntelliJ Platform and Solr term used in this deck — read it directly rather than the toy dev.example.solrconfig tutorial elsewhere in the repo. Every analogue in this act comes from that document's own 'In Java terms' callouts, chosen because they are accurate enough to reason from, with the point where each analogy breaks stated explicitly rather than glossed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glossary's own words: 'An extension point is the platform's term for a named slot a plugin can register an implementation into... plugin.xml plays the role META-INF/services/* plays for ServiceLoader — it names an interface and the class that implements it — and the platform, not this plugin, decides when to call in.' The reframe worth landing: think about what you do NOT write in a Spring controller — no socket, no accept loop, no thread pool — you write one method, tell the framework where it belongs, and it calls you when a request shows up. Plugin development is the identical deal with the IDE playing Tomcat's role. Where the analogy sharpens rather than just holds: plugin.xml registrations are strings, so a class renamed without updating its registration compiles cleanly and silently loads nothing — exactly the failure SolrPluginDescriptorTest exists to catch, by reflecting over every class name the file lists.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Glossary, verbatim on the limit of the analogy: 'A live, mutable AST — closer to a DOM tree you can safely hold a reference into than to javac's throwaway CompilationUnitTree. The limit of the analogy is exactly that liveness: PSI stays live and mutable while the user types, so a PsiElement reference can go stale mid-edit.' That liveness is why this plugin's own field model is a plain data structure holding NO PSI at all — SolrSchemaPsi's own comment says so directly. The model can say a field type named text_general exists, but not where it was written; navigation re-derives that from PSI on demand rather than the model caching a reference that could go stale. Why not just parse the XML with a favourite library instead, the way a batch job would? Three reasons worth stating in order: the file on disk is stale the instant the user types (PSI reflects the buffer, not the saved file); parsing per keystroke would make the plugin a space heater; and every other plugin would be doing the identical parse, redundantly. PSI is the platform solving this once, for everybody, and sharing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this as a real incident, not an abstract rule, because it is one. For months, completion, the original inspections, quick documentation and the inline match hints did nothing at all while a project indexed, then started working, with nothing logged and no visible cause — the worst possible failure shape for an editor plugin, because it is not a crash and not a wrong answer, it is absence, in the exact window when someone opening a Solr project for the first time is most likely to be opening configset files for the first time too. The fix, stated as CLAUDE.md now states it: every contribution that CAN declare dumb-awareness does, because nothing here reads an index. The one exception, and the one place both halves of the AND rule are actually exercised: resolving a class= attribute reaches JavaPsiFacade, the single index-touching contribution in the whole plugin.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Glossary, on the instinct this corrects: 'The instinct a Java engineer brings here — I'll just keep a ConcurrentHashMap&lt;Path, Model&gt; and invalidate it myself — is exactly the wrong move in this codebase.' CachedValuesManager is closer to a Caffeine cache configured with a custom Expiry you define once than to a bare map you populate and clear by hand — you supply a computation and a list of dependencies, and the platform owns storage, thread-safety, eviction and recomputation. SolrConfigsetReader.modelFor is the one place this plugin uses it, and both choices there were arrived at by being wrong first, which is worth telling as the real story: the cache hangs on the configset's PsiDirectory rather than in a map this class owns, because a map keyed by path outlives the thing it names — a configset deleted and recreated at the same path would find a stale entry pointing at files that no longer exist. And its dependency list is the two source files' PSI PLUS the VFS structure-modification count, not the reflex choice of PsiModificationTracker.MODIFICATION_COUNT, which advances on ANY PSI change in the whole project and would reparse both configset files on an unrelated keystroke in some other file entirely. CLAUDE.md states the resulting rule outright: never build a cache in front of SolrConfigsetReader.modelFor — it already caches through the platform, and a fact read from a file the reader does not already read must join its dependency list, or the model goes stale after the first 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as the payoff slide for the act. The @SpringBootTest analogy is precise and worth dwelling on: BasePlatformTestCase boots a real container — a light in-memory IDE project — rather than mocking collaborators, exactly the same trade a Spring integration test makes over a sliced unit test. The JUnit-version trap is real and specific to this platform: the class depends on JUnit 4 yet is JUnit-3-style underneath, so an @Test-annotated method with the wrong name compiles, appears in the test report as a class with fewer tests than expected, and nobody notices. The 25-of-74 figure was computed directly this session — not copied from an older doc — by partitioning every test file three independent ways (extends a platform base class, imports org.junit.Test, imports com.intellij directly) and confirming the first two partition without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into Act 3: everything just covered is the platform's half of the deal — the contract a contribution has to honour to get called at all. It says nothing about where the actual Solr knowledge should live, which is exactly the question Act 3 answers, with a package tree that mirrors these same four ideas almost exactly: model/ is the domain layer with zero platform imports, configset/ is where the platform-facing adapters live, one subpackage per extension point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3 walks src/main/kotlin/org/apache/solr/ide/ using docs/code-organization.md as the primary source, which is explicitly the human-facing account of a structure Dokka also renders from the same KDoc — and which itself says the plan, not this document, owns what is built. Two rules recur constantly through this act and are worth flagging now so the room recognises them each time: model imports no IntelliJ type (which is what makes roughly a third of the test suite plain JUnit, from Act 2), and schema and solrconfig may never import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rule exactly as the document states it, because the precision is the point: 'A capability falls under an aspect when the caret that triggers it is always in that aspect's file.' An inspection visits tags in one file and reports there; a completion provider answers at a caret in one file; a reference contributor decides which tags in which file carry references — all three single-file by nature, so they sit inside schema/ or solrconfig/. A capability that traverses the configset by NATURE does not pass this test: Find Usages starts on a schema declaration and must reach solrconfig.xml; rename must update the qf line there too. Those live at the configset ROOT, in configset.navigation, specifically because filing them under schema would make configset.schema import configset.solrconfig — the one prohibition the whole tree exists to protect, covered on its own slide next. In Java terms this is a dependency rule enforced by review, not the compiler — the same discipline as a hexagonal-architecture port boundary between two adapters that must not know about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worth pointing out live, both verified directly against the source tree rather than an older doc figure: schema/ has nine leaf packages (parsing, inspection, intention, completion, reference, documentation, hint, descriptor, annotator) while solrconfig/ has six (parsing, inspection, completion, reference, descriptor, documentation) and is still catching up — not an oversight, it is the most-edited file in a configset catching up on tooling, exactly the story Act 1's nesting and parameter-completion slides told. solrconfig/descriptor and solrconfig/documentation are the two packages behind the structure-completion and version-hover capabilities Act 1 spent three slides on — worth naming explicitly, since a tree that omitted them would show no home for capabilities just demonstrated. And notice what is absent by design: no service package, no util, no impl anywhere in this tree — every leaf is named for a platform extension-point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Java terms, straight from the glossary: this is the same discipline as a domain layer that imports no Spring or JPA type — model is SolrFieldModel and friends staying plain data, the same way a domain Order class stays a POJO instead of an @Entity. It buys the same thing a POJO domain model buys: those classes are testable with plain JUnit and no container, rather than needing BasePlatformTestCase just to construct one. The 25-of-74 count is the same one Act 2's testing slide gave, verified the same way — directly, this session, not copied. model earns its position outside the surface split twice over: it is what BOTH the repository reader and the future server reader need to produce, so filing it under either configset or server would be wrong either way; and it is the only tree with zero IntelliJ types anywhere in it, the concrete payoff of Act 2's 'contributions thin, services fat' principle — every fact Act 1's screenshots displayed ultimately traces back to a pure Kotlin function over parsed text or bytecode.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built directly from the completion section's own argument in code-organization.md, paired with two real screenshots already shown in Act 1 rather than a fresh capture — the point is that the SAME shape of capability appears on both sides of a boundary those two packages may never cross. Left is feature 5 (attribute completion inside a schema &lt;field&gt; tag); right is feature 7 (element completion inside solrconfig's &lt;config&gt;). Both answer the identical underlying question — what may legally be written at this caret — and both are implemented as completion contributors, yet SolrSchemaCompletionContributor and SolrConfigElementDescriptorProvider share no import between them. Neither may reach sideways into the other; both may be reached from the shared layer beneath them — model, configset.reading, configset.navigation — because composing them is what that shared layer exists to do. The test throughout is direction, not co-occurrence: sideways between the two aspects is forbidden, downward from the shared layer into both is the design. Concretely, in code: SolrNonIndexedRelevanceFieldInspection lives in configset.solrconfig.inspection and needs to know whether a field is indexed — it reads that fact from model, never by reaching sideways into configset.schema.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code-organization.md's own words: 'parsing and reading are two words for what looks like one job, and the difference is the most useful thing in this tree.' A parser turns ONE file's text into facts and knows nothing else — no directory, no caching, no IntelliJ types at all — which is what lets SolrSchemaParser and SolrConfigParser be tested as plain JUnit over a string. reading is the job above them: locate the configset's files, hand each to the right parser, merge the results into one model, and cache it through the platform — full of Project, VirtualFile and Service, and the only place that needs to be. SolrConfigsetReader.modelFor deliberately lives in configset.reading rather than beside any one feature, because otherwise four different features would each have to import a fifth. The cache itself is the CachedValuesManager story from Act 2, applied here concretely: hung on the configset's PsiDirectory, with a two-part dependency list — both source files' PSI catches an edit to THIS configset, and the VFS structure-modification count catches a solrconfig.xml appearing later in a configset that had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architecture tour by being honest about scope one more time — it rhymes deliberately with the opening status slide. server/ today is exactly one file: connection settings, persisted per-developer rather than per-project because reaching a server is a fact about a machine, not about the repository. Nothing else exists yet, and the document is explicit that packages get created when they have a file to hold, not in advance — there is no empty server.query or server.driftview sitting around as a placeholder. That is the same 'contributions thin, services fat, and do not build ahead of what you need' instinct from Act 2, applied to the package tree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framing: this deck's job was to prove the shipped claims true with receipts, not to sell a finished product. Every Act 1 claim traces to a plugin.xml registration and a screenshot in docs/images/. Every Act 2 analogy traces to docs/glossary.md. Every Act 3 claim traces to docs/code-organization.md and the actual source tree. Open the floor for questions — likely topics: why the Server/Code tracks have not started (sequencing, not blocking); the dumb-mode incident and what it actually cost before it was fixed; and the solrconfig.xml element-placement fix this session found and corrected, and what it took to reshoot the evidence honestly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9966960" y="-1463040"/>
            <a:ext cx="4206240" cy="4206240"/>
          </a:xfrm>
          <a:prstGeom prst="ellipse">
            <a:avLst/>
          </a:prstGeom>
          <a:solidFill>
            <a:srgbClr val="1F2A56"/>
          </a:solidFill>
          <a:ln/>
        </p:spPr>
      </p:sp>
      <p:sp>
        <p:nvSpPr>
          <p:cNvPr id="3" name="Shape 1"/>
          <p:cNvSpPr/>
          <p:nvPr/>
        </p:nvSpPr>
        <p:spPr>
          <a:xfrm>
            <a:off x="10881360" y="-685800"/>
            <a:ext cx="2103120" cy="2103120"/>
          </a:xfrm>
          <a:prstGeom prst="ellipse">
            <a:avLst/>
          </a:prstGeom>
          <a:solidFill>
            <a:srgbClr val="FF6B35"/>
          </a:solidFill>
          <a:ln/>
          <a:effectLst>
            <a:outerShdw sx="100000" sy="100000" kx="0" ky="0" algn="bl" rotWithShape="0" blurRad="152400" dist="38100" dir="5400000">
              <a:srgbClr val="000000">
                <a:alpha val="35000"/>
              </a:srgbClr>
            </a:outerShdw>
          </a:effectLst>
        </p:spPr>
      </p:sp>
      <p:sp>
        <p:nvSpPr>
          <p:cNvPr id="4" name="Text 2"/>
          <p:cNvSpPr/>
          <p:nvPr/>
        </p:nvSpPr>
        <p:spPr>
          <a:xfrm>
            <a:off x="822960" y="2148840"/>
            <a:ext cx="9144000" cy="457200"/>
          </a:xfrm>
          <a:prstGeom prst="rect">
            <a:avLst/>
          </a:prstGeom>
          <a:noFill/>
          <a:ln/>
        </p:spPr>
        <p:txBody>
          <a:bodyPr wrap="square" rtlCol="0" anchor="ctr"/>
          <a:lstStyle/>
          <a:p>
            <a:pPr indent="0" marL="0">
              <a:buNone/>
            </a:pPr>
            <a:r>
              <a:rPr lang="en-US" sz="1500" b="1" spc="200" kern="0" dirty="0">
                <a:solidFill>
                  <a:srgbClr val="FF6B35"/>
                </a:solidFill>
                <a:latin typeface="Calibri" pitchFamily="34" charset="0"/>
                <a:ea typeface="Calibri" pitchFamily="34" charset="-122"/>
                <a:cs typeface="Calibri" pitchFamily="34" charset="-120"/>
              </a:rPr>
              <a:t>AN INTELLIJ PLATFORM PLUGIN</a:t>
            </a:r>
            <a:endParaRPr lang="en-US" sz="1500" dirty="0"/>
          </a:p>
        </p:txBody>
      </p:sp>
      <p:sp>
        <p:nvSpPr>
          <p:cNvPr id="5" name="Text 3"/>
          <p:cNvSpPr/>
          <p:nvPr/>
        </p:nvSpPr>
        <p:spPr>
          <a:xfrm>
            <a:off x="777240" y="2514600"/>
            <a:ext cx="9875520" cy="1737360"/>
          </a:xfrm>
          <a:prstGeom prst="rect">
            <a:avLst/>
          </a:prstGeom>
          <a:noFill/>
          <a:ln/>
        </p:spPr>
        <p:txBody>
          <a:bodyPr wrap="square" rtlCol="0" anchor="ctr"/>
          <a:lstStyle/>
          <a:p>
            <a:pPr indent="0" marL="0">
              <a:lnSpc>
                <a:spcPct val="102000"/>
              </a:lnSpc>
              <a:buNone/>
            </a:pPr>
            <a:r>
              <a:rPr lang="en-US" sz="4400" b="1" dirty="0">
                <a:solidFill>
                  <a:srgbClr val="FFFFFF"/>
                </a:solidFill>
                <a:latin typeface="Cambria" pitchFamily="34" charset="0"/>
                <a:ea typeface="Cambria" pitchFamily="34" charset="-122"/>
                <a:cs typeface="Cambria" pitchFamily="34" charset="-120"/>
              </a:rPr>
              <a:t>Apache Solr for</a:t>
            </a:r>
            <a:endParaRPr lang="en-US" sz="4400" dirty="0"/>
          </a:p>
          <a:p>
            <a:pPr indent="0" marL="0">
              <a:lnSpc>
                <a:spcPct val="102000"/>
              </a:lnSpc>
              <a:buNone/>
            </a:pPr>
            <a:r>
              <a:rPr lang="en-US" sz="4400" b="1" dirty="0">
                <a:solidFill>
                  <a:srgbClr val="FFFFFF"/>
                </a:solidFill>
                <a:latin typeface="Cambria" pitchFamily="34" charset="0"/>
                <a:ea typeface="Cambria" pitchFamily="34" charset="-122"/>
                <a:cs typeface="Cambria" pitchFamily="34" charset="-120"/>
              </a:rPr>
              <a:t>IntelliJ IDEA</a:t>
            </a:r>
            <a:endParaRPr lang="en-US" sz="4400" dirty="0"/>
          </a:p>
        </p:txBody>
      </p:sp>
      <p:sp>
        <p:nvSpPr>
          <p:cNvPr id="6" name="Text 4"/>
          <p:cNvSpPr/>
          <p:nvPr/>
        </p:nvSpPr>
        <p:spPr>
          <a:xfrm>
            <a:off x="822960" y="4160520"/>
            <a:ext cx="9326880" cy="1005840"/>
          </a:xfrm>
          <a:prstGeom prst="rect">
            <a:avLst/>
          </a:prstGeom>
          <a:noFill/>
          <a:ln/>
        </p:spPr>
        <p:txBody>
          <a:bodyPr wrap="square" rtlCol="0" anchor="ctr"/>
          <a:lstStyle/>
          <a:p>
            <a:pPr indent="0" marL="0">
              <a:lnSpc>
                <a:spcPct val="125000"/>
              </a:lnSpc>
              <a:buNone/>
            </a:pPr>
            <a:r>
              <a:rPr lang="en-US" sz="1800" dirty="0">
                <a:solidFill>
                  <a:srgbClr val="CFE0FF"/>
                </a:solidFill>
                <a:latin typeface="Calibri" pitchFamily="34" charset="0"/>
                <a:ea typeface="Calibri" pitchFamily="34" charset="-122"/>
                <a:cs typeface="Calibri" pitchFamily="34" charset="-120"/>
              </a:rPr>
              <a:t>Editor intelligence for Solr configsets — completion, navigation, inspections and</a:t>
            </a:r>
            <a:endParaRPr lang="en-US" sz="1800" dirty="0"/>
          </a:p>
          <a:p>
            <a:pPr indent="0" marL="0">
              <a:lnSpc>
                <a:spcPct val="125000"/>
              </a:lnSpc>
              <a:buNone/>
            </a:pPr>
            <a:r>
              <a:rPr lang="en-US" sz="1800" dirty="0">
                <a:solidFill>
                  <a:srgbClr val="CFE0FF"/>
                </a:solidFill>
                <a:latin typeface="Calibri" pitchFamily="34" charset="0"/>
                <a:ea typeface="Calibri" pitchFamily="34" charset="-122"/>
                <a:cs typeface="Calibri" pitchFamily="34" charset="-120"/>
              </a:rPr>
              <a:t>quick documentation, over one shared model of what a field is and what it can do.</a:t>
            </a:r>
            <a:endParaRPr lang="en-US" sz="1800" dirty="0"/>
          </a:p>
        </p:txBody>
      </p:sp>
      <p:sp>
        <p:nvSpPr>
          <p:cNvPr id="7" name="Text 5"/>
          <p:cNvSpPr/>
          <p:nvPr/>
        </p:nvSpPr>
        <p:spPr>
          <a:xfrm>
            <a:off x="822960" y="6217920"/>
            <a:ext cx="7315200" cy="365760"/>
          </a:xfrm>
          <a:prstGeom prst="rect">
            <a:avLst/>
          </a:prstGeom>
          <a:noFill/>
          <a:ln/>
        </p:spPr>
        <p:txBody>
          <a:bodyPr wrap="square" rtlCol="0" anchor="ctr"/>
          <a:lstStyle/>
          <a:p>
            <a:pPr indent="0" marL="0">
              <a:buNone/>
            </a:pPr>
            <a:r>
              <a:rPr lang="en-US" sz="1100" dirty="0">
                <a:solidFill>
                  <a:srgbClr val="8C97C4"/>
                </a:solidFill>
                <a:latin typeface="Calibri" pitchFamily="34" charset="0"/>
                <a:ea typeface="Calibri" pitchFamily="34" charset="-122"/>
                <a:cs typeface="Calibri" pitchFamily="34" charset="-120"/>
              </a:rPr>
              <a:t>Apache Solr · IntelliJ Platform Plugin</a:t>
            </a:r>
            <a:endParaRPr lang="en-US" sz="1100" dirty="0"/>
          </a:p>
        </p:txBody>
      </p:sp>
      <p:sp>
        <p:nvSpPr>
          <p:cNvPr id="9" name="Text 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1 · FEATURES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500" b="1" dirty="0">
                <a:solidFill>
                  <a:srgbClr val="1B2340"/>
                </a:solidFill>
                <a:latin typeface="Cambria" pitchFamily="34" charset="0"/>
                <a:ea typeface="Cambria" pitchFamily="34" charset="-122"/>
                <a:cs typeface="Cambria" pitchFamily="34" charset="-120"/>
              </a:rPr>
              <a:t>One shared model, read from a repository nothing else can see into</a:t>
            </a:r>
            <a:endParaRPr lang="en-US" sz="25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Solr development spans three surfaces that share only a vocabulary — field names.</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Configuration files (managed-schema.xml / schema.xml, solrconfig.xml) — hand-edited XML with no language support today.</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A running Solr server — reached only through the Admin UI or curl.</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Java/Kotlin client code — field names passed as unchecked string literals.</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This plugin reads the first surface into one model of what a field is and what it can do, then puts that model to work as editor intelligence — completion, navigation, inspections, documentation. The other two surfaces are the spec's other two-thirds, and they have not started.</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specs/0002-solr-intellij-plugin.md “Overview”; README.md:1-13</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01</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FEATURES</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Eighteen slides,</a:t>
            </a:r>
            <a:endParaRPr lang="en-US" sz="2600" dirty="0"/>
          </a:p>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eighteen claims</a:t>
            </a:r>
            <a:endParaRPr lang="en-US" sz="2600" dirty="0"/>
          </a:p>
        </p:txBody>
      </p:sp>
      <p:sp>
        <p:nvSpPr>
          <p:cNvPr id="6" name="Shape 4"/>
          <p:cNvSpPr/>
          <p:nvPr/>
        </p:nvSpPr>
        <p:spPr>
          <a:xfrm>
            <a:off x="3977640" y="2359152"/>
            <a:ext cx="91440" cy="91440"/>
          </a:xfrm>
          <a:prstGeom prst="ellipse">
            <a:avLst/>
          </a:prstGeom>
          <a:solidFill>
            <a:srgbClr val="FF6B35"/>
          </a:solidFill>
          <a:ln/>
        </p:spPr>
      </p:sp>
      <p:sp>
        <p:nvSpPr>
          <p:cNvPr id="7" name="Text 5"/>
          <p:cNvSpPr/>
          <p:nvPr/>
        </p:nvSpPr>
        <p:spPr>
          <a:xfrm>
            <a:off x="4233672" y="22037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Every slide: one screenshot, one claim</a:t>
            </a:r>
            <a:endParaRPr lang="en-US" sz="1300" dirty="0"/>
          </a:p>
        </p:txBody>
      </p:sp>
      <p:sp>
        <p:nvSpPr>
          <p:cNvPr id="8" name="Shape 6"/>
          <p:cNvSpPr/>
          <p:nvPr/>
        </p:nvSpPr>
        <p:spPr>
          <a:xfrm>
            <a:off x="3977640" y="2724912"/>
            <a:ext cx="91440" cy="91440"/>
          </a:xfrm>
          <a:prstGeom prst="ellipse">
            <a:avLst/>
          </a:prstGeom>
          <a:solidFill>
            <a:srgbClr val="FF6B35"/>
          </a:solidFill>
          <a:ln/>
        </p:spPr>
      </p:sp>
      <p:sp>
        <p:nvSpPr>
          <p:cNvPr id="9" name="Text 7"/>
          <p:cNvSpPr/>
          <p:nvPr/>
        </p:nvSpPr>
        <p:spPr>
          <a:xfrm>
            <a:off x="4233672" y="256946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What it shows · what it costs without it</a:t>
            </a:r>
            <a:endParaRPr lang="en-US" sz="1300" dirty="0"/>
          </a:p>
        </p:txBody>
      </p:sp>
      <p:sp>
        <p:nvSpPr>
          <p:cNvPr id="10" name="Shape 8"/>
          <p:cNvSpPr/>
          <p:nvPr/>
        </p:nvSpPr>
        <p:spPr>
          <a:xfrm>
            <a:off x="3977640" y="3090672"/>
            <a:ext cx="91440" cy="91440"/>
          </a:xfrm>
          <a:prstGeom prst="ellipse">
            <a:avLst/>
          </a:prstGeom>
          <a:solidFill>
            <a:srgbClr val="FF6B35"/>
          </a:solidFill>
          <a:ln/>
        </p:spPr>
      </p:sp>
      <p:sp>
        <p:nvSpPr>
          <p:cNvPr id="11" name="Text 9"/>
          <p:cNvSpPr/>
          <p:nvPr/>
        </p:nvSpPr>
        <p:spPr>
          <a:xfrm>
            <a:off x="4233672" y="293522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Where the data actually comes from</a:t>
            </a:r>
            <a:endParaRPr lang="en-US" sz="1300" dirty="0"/>
          </a:p>
        </p:txBody>
      </p:sp>
      <p:sp>
        <p:nvSpPr>
          <p:cNvPr id="12" name="Shape 10"/>
          <p:cNvSpPr/>
          <p:nvPr/>
        </p:nvSpPr>
        <p:spPr>
          <a:xfrm>
            <a:off x="3977640" y="3456432"/>
            <a:ext cx="91440" cy="91440"/>
          </a:xfrm>
          <a:prstGeom prst="ellipse">
            <a:avLst/>
          </a:prstGeom>
          <a:solidFill>
            <a:srgbClr val="FF6B35"/>
          </a:solidFill>
          <a:ln/>
        </p:spPr>
      </p:sp>
      <p:sp>
        <p:nvSpPr>
          <p:cNvPr id="13" name="Text 11"/>
          <p:cNvSpPr/>
          <p:nvPr/>
        </p:nvSpPr>
        <p:spPr>
          <a:xfrm>
            <a:off x="4233672" y="330098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platform mechanism underneath</a:t>
            </a:r>
            <a:endParaRPr lang="en-US" sz="1300" dirty="0"/>
          </a:p>
        </p:txBody>
      </p:sp>
      <p:sp>
        <p:nvSpPr>
          <p:cNvPr id="15"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 OF 18 · INLAY HINTS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Every field says what it can actually match — before you run a query</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Grey inline text beside each field declaration: whole-value or tokenised, case-sensitive or not, plus storage shape.</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reads the analyzer chain by hand to guess what a field can match, or ships a query against it and finds out from empty results.</a:t>
            </a:r>
            <a:endParaRPr lang="en-US" sz="1050" dirty="0"/>
          </a:p>
        </p:txBody>
      </p:sp>
      <p:sp>
        <p:nvSpPr>
          <p:cNvPr id="6" name="Text 4"/>
          <p:cNvSpPr/>
          <p:nvPr/>
        </p:nvSpPr>
        <p:spPr>
          <a:xfrm>
            <a:off x="640080" y="3648456"/>
            <a:ext cx="4114800" cy="141274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field's own index-time analyzer chain. No index, no server, no network. The deciding factories are named directly in code, not read from the generated catalog — that set defines Solr's matching semantics.</a:t>
            </a:r>
            <a:endParaRPr lang="en-US" sz="1050" dirty="0"/>
          </a:p>
        </p:txBody>
      </p:sp>
      <p:sp>
        <p:nvSpPr>
          <p:cNvPr id="7" name="Text 5"/>
          <p:cNvSpPr/>
          <p:nvPr/>
        </p:nvSpPr>
        <p:spPr>
          <a:xfrm>
            <a:off x="640080" y="506120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codeInsight.declarativeInlayProvider — SolrMatchInlayHintsProvider, reading SolrMatchAnalysis.</a:t>
            </a:r>
            <a:endParaRPr lang="en-US" sz="1050" dirty="0"/>
          </a:p>
        </p:txBody>
      </p:sp>
      <p:sp>
        <p:nvSpPr>
          <p:cNvPr id="8" name="Shape 6"/>
          <p:cNvSpPr/>
          <p:nvPr/>
        </p:nvSpPr>
        <p:spPr>
          <a:xfrm>
            <a:off x="4892040" y="2588501"/>
            <a:ext cx="6888175" cy="1680998"/>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1-hints-match-capability.png">    </p:cNvPr>
          <p:cNvPicPr>
            <a:picLocks noChangeAspect="1"/>
          </p:cNvPicPr>
          <p:nvPr/>
        </p:nvPicPr>
        <p:blipFill>
          <a:blip r:embed="rId1"/>
          <a:stretch>
            <a:fillRect/>
          </a:stretch>
        </p:blipFill>
        <p:spPr>
          <a:xfrm>
            <a:off x="5029200" y="2725661"/>
            <a:ext cx="6613855" cy="1406678"/>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managed-schema.xml:66-77, no interaction — the hints render themselves.</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model/schema/SolrMatchAnalysis.kt; plugin.xml:38-45; docs/glossary.md “factory”, “analyzer chain”; docs/screenshots.md entry 1</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2 OF 18 · QUICK DOCUMENTATION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Every property's value — and whether it came from the field, its type, or Solr's default</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Hover or F1 on a field resolves a full property table: value, origin, what it means in plain language.</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checks the Reference Guide, which cannot know this file's state, or reads the field type declaration by hand to work out whether omitNorms is really on here.</a:t>
            </a:r>
            <a:endParaRPr lang="en-US" sz="1050" dirty="0"/>
          </a:p>
        </p:txBody>
      </p:sp>
      <p:sp>
        <p:nvSpPr>
          <p:cNvPr id="6" name="Text 4"/>
          <p:cNvSpPr/>
          <p:nvPr/>
        </p:nvSpPr>
        <p:spPr>
          <a:xfrm>
            <a:off x="640080" y="385419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Three-tier resolution — field, then field type, then Solr's own default — resolved at the schema's declared version, since some defaults depend on it.</a:t>
            </a:r>
            <a:endParaRPr lang="en-US" sz="1050" dirty="0"/>
          </a:p>
        </p:txBody>
      </p:sp>
      <p:sp>
        <p:nvSpPr>
          <p:cNvPr id="7" name="Text 5"/>
          <p:cNvSpPr/>
          <p:nvPr/>
        </p:nvSpPr>
        <p:spPr>
          <a:xfrm>
            <a:off x="640080" y="506120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lang.documentationProvider — SolrSchemaDocumentationProvider, reading a hand-maintained property table (SolrFieldProperties).</a:t>
            </a:r>
            <a:endParaRPr lang="en-US" sz="1050" dirty="0"/>
          </a:p>
        </p:txBody>
      </p:sp>
      <p:sp>
        <p:nvSpPr>
          <p:cNvPr id="8" name="Shape 6"/>
          <p:cNvSpPr/>
          <p:nvPr/>
        </p:nvSpPr>
        <p:spPr>
          <a:xfrm>
            <a:off x="5970118" y="1463040"/>
            <a:ext cx="4732020"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2-quick-doc-field.png">    </p:cNvPr>
          <p:cNvPicPr>
            <a:picLocks noChangeAspect="1"/>
          </p:cNvPicPr>
          <p:nvPr/>
        </p:nvPicPr>
        <p:blipFill>
          <a:blip r:embed="rId1"/>
          <a:stretch>
            <a:fillRect/>
          </a:stretch>
        </p:blipFill>
        <p:spPr>
          <a:xfrm>
            <a:off x="6107278" y="1600200"/>
            <a:ext cx="4457700"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Caret in name="category" at managed-schema.xml:70, Quick Documentation.</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model/schema/SolrFieldProperties.kt; docs/glossary.md “schema version”, “documentation provider”; docs/screenshots.md entry 2</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3 OF 18 · QUICK DOCUMENTATION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One popup answers what a class is and what it accepts — without opening a jar</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Hover a class="solr...." value: short name and kind, the FQCN, a one-sentence Javadoc summary, and its accepted attributes.</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opens Solr or Lucene's source, or searches the Javadoc site, to learn what StandardTokenizerFactory takes.</a:t>
            </a:r>
            <a:endParaRPr lang="en-US" sz="1050" dirty="0"/>
          </a:p>
        </p:txBody>
      </p:sp>
      <p:sp>
        <p:nvSpPr>
          <p:cNvPr id="6" name="Text 4"/>
          <p:cNvSpPr/>
          <p:nvPr/>
        </p:nvSpPr>
        <p:spPr>
          <a:xfrm>
            <a:off x="640080" y="364845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Generated at build time from Solr's own jars — identity by reading the class files, the summary from the sources jar's Javadoc. Nothing fetched at edit time.</a:t>
            </a:r>
            <a:endParaRPr lang="en-US" sz="1050" dirty="0"/>
          </a:p>
        </p:txBody>
      </p:sp>
      <p:sp>
        <p:nvSpPr>
          <p:cNvPr id="7" name="Text 5"/>
          <p:cNvSpPr/>
          <p:nvPr/>
        </p:nvSpPr>
        <p:spPr>
          <a:xfrm>
            <a:off x="640080" y="4855464"/>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Same documentation provider, reading the generated SolrClassCatalog — 735 entries on Solr 9, 724 on Solr 10, across 22 kinds of class a configset may name.</a:t>
            </a:r>
            <a:endParaRPr lang="en-US" sz="1050" dirty="0"/>
          </a:p>
        </p:txBody>
      </p:sp>
      <p:sp>
        <p:nvSpPr>
          <p:cNvPr id="8" name="Shape 6"/>
          <p:cNvSpPr/>
          <p:nvPr/>
        </p:nvSpPr>
        <p:spPr>
          <a:xfrm>
            <a:off x="5383405" y="1463040"/>
            <a:ext cx="5905445"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3-quick-doc-class.png">    </p:cNvPr>
          <p:cNvPicPr>
            <a:picLocks noChangeAspect="1"/>
          </p:cNvPicPr>
          <p:nvPr/>
        </p:nvPicPr>
        <p:blipFill>
          <a:blip r:embed="rId1"/>
          <a:stretch>
            <a:fillRect/>
          </a:stretch>
        </p:blipFill>
        <p:spPr>
          <a:xfrm>
            <a:off x="5520565" y="1600200"/>
            <a:ext cx="5631125"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Caret in class="solr.StandardTokenizerFactory" at managed-schema.xml:33.</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model/vocabulary/SolrClassCatalog.kt (SolrClassKind, 22 entries, verified against source this session); build/generated/solr-catalog-resources/solr-catalog/solr-{9,10}.tsv; docs/screenshots.md entry 3</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4 OF 18 · QUICK DOCUMENTATION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schema's own version number, and exactly what it changes in this file</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Hover version on &lt;schema version="1.6"&gt;: the general rule (1.0 to 1.7, what it selects), then this file's own resolved values.</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does not know Solr 9.7 flipped docValues and uninvertible defaults at schema version 1.7, and silently assumes modern behaviour on an old, still-running schema.</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SolrSchemaVersion — a hand-maintained rule table keyed to the declared version, since upgrading the Solr server does not rewrite this attribute.</a:t>
            </a:r>
            <a:endParaRPr lang="en-US" sz="1050" dirty="0"/>
          </a:p>
        </p:txBody>
      </p:sp>
      <p:sp>
        <p:nvSpPr>
          <p:cNvPr id="7" name="Text 5"/>
          <p:cNvSpPr/>
          <p:nvPr/>
        </p:nvSpPr>
        <p:spPr>
          <a:xfrm>
            <a:off x="640080" y="485546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Same documentation provider, answering at a structural attribute's own name rather than its value.</a:t>
            </a:r>
            <a:endParaRPr lang="en-US" sz="1050" dirty="0"/>
          </a:p>
        </p:txBody>
      </p:sp>
      <p:sp>
        <p:nvSpPr>
          <p:cNvPr id="8" name="Shape 6"/>
          <p:cNvSpPr/>
          <p:nvPr/>
        </p:nvSpPr>
        <p:spPr>
          <a:xfrm>
            <a:off x="4892040" y="2864664"/>
            <a:ext cx="6888175" cy="1128671"/>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6-hover-schema-version.png">    </p:cNvPr>
          <p:cNvPicPr>
            <a:picLocks noChangeAspect="1"/>
          </p:cNvPicPr>
          <p:nvPr/>
        </p:nvPicPr>
        <p:blipFill>
          <a:blip r:embed="rId1"/>
          <a:stretch>
            <a:fillRect/>
          </a:stretch>
        </p:blipFill>
        <p:spPr>
          <a:xfrm>
            <a:off x="5029200" y="3001824"/>
            <a:ext cx="6613855" cy="854351"/>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managed-schema.xml:27, &lt;schema version="1.6"&gt;, Quick Documentation (Ctrl+J).</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model/schema/SolrSchemaVersion.kt; docs/glossary.md “schema version”; docs/screenshots.md entry 16</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5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Attribute completion that already knows what's on the tag</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Ctrl+Space inside an opening &lt;field&gt; tag offers every legal attribute with a one-line summary — attributes already written are omitted.</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learns the property vocabulary by trial and error, or keeps the Reference Guide's field-properties page open beside the editor.</a:t>
            </a:r>
            <a:endParaRPr lang="en-US" sz="1050" dirty="0"/>
          </a:p>
        </p:txBody>
      </p:sp>
      <p:sp>
        <p:nvSpPr>
          <p:cNvPr id="6" name="Text 4"/>
          <p:cNvSpPr/>
          <p:nvPr/>
        </p:nvSpPr>
        <p:spPr>
          <a:xfrm>
            <a:off x="640080" y="364845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hand-maintained property table (SolrFieldProperties). Only closed sets are completed — where any value is legal, the plugin contributes nothing.</a:t>
            </a:r>
            <a:endParaRPr lang="en-US" sz="1050" dirty="0"/>
          </a:p>
        </p:txBody>
      </p:sp>
      <p:sp>
        <p:nvSpPr>
          <p:cNvPr id="7" name="Text 5"/>
          <p:cNvSpPr/>
          <p:nvPr/>
        </p:nvSpPr>
        <p:spPr>
          <a:xfrm>
            <a:off x="640080" y="485546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completion.contributor, order="first" — SolrSchemaCompletionContributor, ahead of the platform's own XML completion.</a:t>
            </a:r>
            <a:endParaRPr lang="en-US" sz="1050" dirty="0"/>
          </a:p>
        </p:txBody>
      </p:sp>
      <p:sp>
        <p:nvSpPr>
          <p:cNvPr id="8" name="Shape 6"/>
          <p:cNvSpPr/>
          <p:nvPr/>
        </p:nvSpPr>
        <p:spPr>
          <a:xfrm>
            <a:off x="4892040" y="2461814"/>
            <a:ext cx="6888175" cy="1934371"/>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5-completion-field-properties.png">    </p:cNvPr>
          <p:cNvPicPr>
            <a:picLocks noChangeAspect="1"/>
          </p:cNvPicPr>
          <p:nvPr/>
        </p:nvPicPr>
        <p:blipFill>
          <a:blip r:embed="rId1"/>
          <a:stretch>
            <a:fillRect/>
          </a:stretch>
        </p:blipFill>
        <p:spPr>
          <a:xfrm>
            <a:off x="5029200" y="2598974"/>
            <a:ext cx="6613855" cy="1660051"/>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Caret after stored="true" at managed-schema.xml:70, before the /, space typed.</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configset/schema/completion/SolrSchemaCompletionContributor.kt; docs/glossary.md “completion contributor”; docs/screenshots.md entry 5</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6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factory's own attributes, offered by name — not guessed from its neighbours</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Completion inside a &lt;filter class="..."&gt; tag offers that exact factory's real attributes, each labelled with the factory it came from.</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reads the factory's constructor source, or trial-and-errors what Solr will silently ignore, to learn EdgeNGramFilterFactory accepts preserveOriginal.</a:t>
            </a:r>
            <a:endParaRPr lang="en-US" sz="1050" dirty="0"/>
          </a:p>
        </p:txBody>
      </p:sp>
      <p:sp>
        <p:nvSpPr>
          <p:cNvPr id="6" name="Text 4"/>
          <p:cNvSpPr/>
          <p:nvPr/>
        </p:nvSpPr>
        <p:spPr>
          <a:xfrm>
            <a:off x="640080" y="385419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Recovered from each factory's own constructor bytecode with ASM — a factory reads its arguments there and nowhere else, so reflection alone cannot see them.</a:t>
            </a:r>
            <a:endParaRPr lang="en-US" sz="1050" dirty="0"/>
          </a:p>
        </p:txBody>
      </p:sp>
      <p:sp>
        <p:nvSpPr>
          <p:cNvPr id="7" name="Text 5"/>
          <p:cNvSpPr/>
          <p:nvPr/>
        </p:nvSpPr>
        <p:spPr>
          <a:xfrm>
            <a:off x="640080" y="506120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Same completion contributor, reading the generated class catalog's attribute column.</a:t>
            </a:r>
            <a:endParaRPr lang="en-US" sz="1050" dirty="0"/>
          </a:p>
        </p:txBody>
      </p:sp>
      <p:sp>
        <p:nvSpPr>
          <p:cNvPr id="8" name="Shape 6"/>
          <p:cNvSpPr/>
          <p:nvPr/>
        </p:nvSpPr>
        <p:spPr>
          <a:xfrm>
            <a:off x="4892040" y="2961147"/>
            <a:ext cx="6888175" cy="935706"/>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6-completion-factory-attributes.png">    </p:cNvPr>
          <p:cNvPicPr>
            <a:picLocks noChangeAspect="1"/>
          </p:cNvPicPr>
          <p:nvPr/>
        </p:nvPicPr>
        <p:blipFill>
          <a:blip r:embed="rId1"/>
          <a:stretch>
            <a:fillRect/>
          </a:stretch>
        </p:blipFill>
        <p:spPr>
          <a:xfrm>
            <a:off x="5029200" y="3098307"/>
            <a:ext cx="6613855" cy="661386"/>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managed-schema.xml:48, caret before the closing /, space typed.</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buildSrc GenerateSolrCatalogTask (ASM); docs/glossary.md “ASM”, “factory”; docs/screenshots.md entry 6</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7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solrconfig.xml finally has its own structure, not an echo of the schema</a:t>
            </a:r>
            <a:endParaRPr lang="en-US" sz="2300" dirty="0"/>
          </a:p>
        </p:txBody>
      </p:sp>
      <p:sp>
        <p:nvSpPr>
          <p:cNvPr id="4" name="Text 2"/>
          <p:cNvSpPr/>
          <p:nvPr/>
        </p:nvSpPr>
        <p:spPr>
          <a:xfrm>
            <a:off x="640080" y="1645920"/>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Typing &lt; inside &lt;config&gt; offers Solr's real top-level vocabulary — directoryFactory, dataDir, luceneMatchVersion, requestHandler, query, updateHandler, codecFactory and more.</a:t>
            </a:r>
            <a:endParaRPr lang="en-US" sz="1050" dirty="0"/>
          </a:p>
        </p:txBody>
      </p:sp>
      <p:sp>
        <p:nvSpPr>
          <p:cNvPr id="5" name="Text 3"/>
          <p:cNvSpPr/>
          <p:nvPr/>
        </p:nvSpPr>
        <p:spPr>
          <a:xfrm>
            <a:off x="640080" y="285292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platform's schema-less guess offers whatever sibling tags happen to already be written — actively misleading in a file made mostly of same-named tags.</a:t>
            </a:r>
            <a:endParaRPr lang="en-US" sz="1050" dirty="0"/>
          </a:p>
        </p:txBody>
      </p:sp>
      <p:sp>
        <p:nvSpPr>
          <p:cNvPr id="6" name="Text 4"/>
          <p:cNvSpPr/>
          <p:nvPr/>
        </p:nvSpPr>
        <p:spPr>
          <a:xfrm>
            <a:off x="640080" y="405993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An element vocabulary read out of SolrConfig's own reading code, keyed to each element's parent path.</a:t>
            </a:r>
            <a:endParaRPr lang="en-US" sz="1050" dirty="0"/>
          </a:p>
        </p:txBody>
      </p:sp>
      <p:sp>
        <p:nvSpPr>
          <p:cNvPr id="7" name="Text 5"/>
          <p:cNvSpPr/>
          <p:nvPr/>
        </p:nvSpPr>
        <p:spPr>
          <a:xfrm>
            <a:off x="640080" y="506120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xml.elementDescriptorProvider — SolrConfigElementDescriptorProvider, a second, file-specific descriptor.</a:t>
            </a:r>
            <a:endParaRPr lang="en-US" sz="1050" dirty="0"/>
          </a:p>
        </p:txBody>
      </p:sp>
      <p:sp>
        <p:nvSpPr>
          <p:cNvPr id="8" name="Shape 6"/>
          <p:cNvSpPr/>
          <p:nvPr/>
        </p:nvSpPr>
        <p:spPr>
          <a:xfrm>
            <a:off x="6237074" y="1463040"/>
            <a:ext cx="4198107"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0-completion-solrconfig-structure.png">    </p:cNvPr>
          <p:cNvPicPr>
            <a:picLocks noChangeAspect="1"/>
          </p:cNvPicPr>
          <p:nvPr/>
        </p:nvPicPr>
        <p:blipFill>
          <a:blip r:embed="rId1"/>
          <a:stretch>
            <a:fillRect/>
          </a:stretch>
        </p:blipFill>
        <p:spPr>
          <a:xfrm>
            <a:off x="6374234" y="1600200"/>
            <a:ext cx="3923787"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Typing &lt; inside &lt;config&gt; in the sandbox's solrconfig.xml, line 16 (reshot capture, post element-placement fix).</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configset/solrconfig/descriptor/SolrConfigElementDescriptorProvider.kt; model/vocabulary/SolrElementCatalog.kt; docs/screenshots.md entry 10</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8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vocabulary changes with position — cache lives under &lt;query&gt;, not at the root</a:t>
            </a:r>
            <a:endParaRPr lang="en-US" sz="2300" dirty="0"/>
          </a:p>
        </p:txBody>
      </p:sp>
      <p:sp>
        <p:nvSpPr>
          <p:cNvPr id="4" name="Text 2"/>
          <p:cNvSpPr/>
          <p:nvPr/>
        </p:nvSpPr>
        <p:spPr>
          <a:xfrm>
            <a:off x="640080" y="1645920"/>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Typing &lt; inside &lt;query&gt; offers eighteen elements — cache, filterCache, listener, maxBooleanClauses and more — none of which the document root offers.</a:t>
            </a:r>
            <a:endParaRPr lang="en-US" sz="1050" dirty="0"/>
          </a:p>
        </p:txBody>
      </p:sp>
      <p:sp>
        <p:nvSpPr>
          <p:cNvPr id="5" name="Text 3"/>
          <p:cNvSpPr/>
          <p:nvPr/>
        </p:nvSpPr>
        <p:spPr>
          <a:xfrm>
            <a:off x="640080" y="285292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failure mode a schema-less guess can never fix by construction: advice that is not just wrong but wrong about *where* something belongs.</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generated element vocabulary as the previous slide, keyed by parent path — this time the parent is query, not the document root.</a:t>
            </a:r>
            <a:endParaRPr lang="en-US" sz="1050" dirty="0"/>
          </a:p>
        </p:txBody>
      </p:sp>
      <p:sp>
        <p:nvSpPr>
          <p:cNvPr id="7" name="Text 5"/>
          <p:cNvSpPr/>
          <p:nvPr/>
        </p:nvSpPr>
        <p:spPr>
          <a:xfrm>
            <a:off x="640080" y="485546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Same descriptor, same SolrElementCatalog.offerableChildrenOf, a different parent path.</a:t>
            </a:r>
            <a:endParaRPr lang="en-US" sz="1050" dirty="0"/>
          </a:p>
        </p:txBody>
      </p:sp>
      <p:sp>
        <p:nvSpPr>
          <p:cNvPr id="8" name="Shape 6"/>
          <p:cNvSpPr/>
          <p:nvPr/>
        </p:nvSpPr>
        <p:spPr>
          <a:xfrm>
            <a:off x="6024400" y="1463040"/>
            <a:ext cx="4623455"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7-completion-query-nesting.png">    </p:cNvPr>
          <p:cNvPicPr>
            <a:picLocks noChangeAspect="1"/>
          </p:cNvPicPr>
          <p:nvPr/>
        </p:nvPicPr>
        <p:blipFill>
          <a:blip r:embed="rId1"/>
          <a:stretch>
            <a:fillRect/>
          </a:stretch>
        </p:blipFill>
        <p:spPr>
          <a:xfrm>
            <a:off x="6161560" y="1600200"/>
            <a:ext cx="4349135"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&lt;query&gt;&lt;/query&gt; added inside &lt;config&gt;, caret between the tags, typing &lt;.</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model/vocabulary/SolrElementCatalog.kt (parent-path keying); docs/screenshots.md entry 17</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9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Knowing where an element belongs and recommending it are different questions</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&lt;indexConfig&gt; offers exactly one child, deletionPolicy — nrtMode and unlockOnStartup are known to belong there and are still never offered.</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Without this distinction, a reader could be offered an element name Solr will refuse to start with.</a:t>
            </a:r>
            <a:endParaRPr lang="en-US" sz="1050" dirty="0"/>
          </a:p>
        </p:txBody>
      </p:sp>
      <p:sp>
        <p:nvSpPr>
          <p:cNvPr id="6" name="Text 4"/>
          <p:cNvSpPr/>
          <p:nvPr/>
        </p:nvSpPr>
        <p:spPr>
          <a:xfrm>
            <a:off x="640080" y="364845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generated catalog, cross-referenced against a discontinued-elements list read from the same SolrConfig source.</a:t>
            </a:r>
            <a:endParaRPr lang="en-US" sz="1050" dirty="0"/>
          </a:p>
        </p:txBody>
      </p:sp>
      <p:sp>
        <p:nvSpPr>
          <p:cNvPr id="7" name="Text 5"/>
          <p:cNvSpPr/>
          <p:nvPr/>
        </p:nvSpPr>
        <p:spPr>
          <a:xfrm>
            <a:off x="640080" y="464972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SolrElementCatalog.offerableChildrenOf filters to what Solr still accepts, even for a parent path it otherwise fully recognises.</a:t>
            </a:r>
            <a:endParaRPr lang="en-US" sz="1050" dirty="0"/>
          </a:p>
        </p:txBody>
      </p:sp>
      <p:sp>
        <p:nvSpPr>
          <p:cNvPr id="8" name="Shape 6"/>
          <p:cNvSpPr/>
          <p:nvPr/>
        </p:nvSpPr>
        <p:spPr>
          <a:xfrm>
            <a:off x="4892040" y="1756748"/>
            <a:ext cx="6888175" cy="3344504"/>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8-completion-indexconfig-nesting.png">    </p:cNvPr>
          <p:cNvPicPr>
            <a:picLocks noChangeAspect="1"/>
          </p:cNvPicPr>
          <p:nvPr/>
        </p:nvPicPr>
        <p:blipFill>
          <a:blip r:embed="rId1"/>
          <a:stretch>
            <a:fillRect/>
          </a:stretch>
        </p:blipFill>
        <p:spPr>
          <a:xfrm>
            <a:off x="5029200" y="1893908"/>
            <a:ext cx="6613855" cy="3070184"/>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&lt;indexConfig&gt;&lt;/indexConfig&gt; added inside &lt;config&gt;, same gesture as the previous slide.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model/vocabulary/SolrElementCatalog.kt; configset/solrconfig/inspection (discontinued-element check); docs/screenshots.md entry 18</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10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Hundreds of request-parameter names, each with Solr's own one-line explanation</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new &lt;str name="..."&gt; inside &lt;lst name="defaults"&gt; offers Solr's own parameter names, each labelled with its declaring Params class.</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greps the Reference Guide's parameter reference by hand, or copies a name from another handler and hopes it still applies here.</a:t>
            </a:r>
            <a:endParaRPr lang="en-US" sz="1050" dirty="0"/>
          </a:p>
        </p:txBody>
      </p:sp>
      <p:sp>
        <p:nvSpPr>
          <p:cNvPr id="6" name="Text 4"/>
          <p:cNvSpPr/>
          <p:nvPr/>
        </p:nvSpPr>
        <p:spPr>
          <a:xfrm>
            <a:off x="640080" y="364845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Read from Solr's own Params classes' public constants — 349 names on Solr 9, 344 on Solr 10, plus 44 query-parser names on both, counted from the generated catalog this session.</a:t>
            </a:r>
            <a:endParaRPr lang="en-US" sz="1050" dirty="0"/>
          </a:p>
        </p:txBody>
      </p:sp>
      <p:sp>
        <p:nvSpPr>
          <p:cNvPr id="7" name="Text 5"/>
          <p:cNvSpPr/>
          <p:nvPr/>
        </p:nvSpPr>
        <p:spPr>
          <a:xfrm>
            <a:off x="640080" y="485546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completion.contributor — SolrParameterNameCompletionProvider and SolrParserNameCompletionProvider.</a:t>
            </a:r>
            <a:endParaRPr lang="en-US" sz="1050" dirty="0"/>
          </a:p>
        </p:txBody>
      </p:sp>
      <p:sp>
        <p:nvSpPr>
          <p:cNvPr id="8" name="Shape 6"/>
          <p:cNvSpPr/>
          <p:nvPr/>
        </p:nvSpPr>
        <p:spPr>
          <a:xfrm>
            <a:off x="4892040" y="2328423"/>
            <a:ext cx="6888175" cy="2201153"/>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5-completion-parameter-names.png">    </p:cNvPr>
          <p:cNvPicPr>
            <a:picLocks noChangeAspect="1"/>
          </p:cNvPicPr>
          <p:nvPr/>
        </p:nvPicPr>
        <p:blipFill>
          <a:blip r:embed="rId1"/>
          <a:stretch>
            <a:fillRect/>
          </a:stretch>
        </p:blipFill>
        <p:spPr>
          <a:xfrm>
            <a:off x="5029200" y="2465583"/>
            <a:ext cx="6613855" cy="1926833"/>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A new &lt;str name="..."&gt; inside /select's &lt;lst name="defaults"&gt;, typed sort, Ctrl+Space.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model/vocabulary/SolrParameterCatalog.kt; build/generated/solr-catalog-resources/solr-catalog/parameters-{9,10}.tsv (counted this session); docs/screenshots.md entry 15</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11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schema's own fields, offered exactly where a parameter needs one</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Completion inside qf (and fifteen other parameters known to hold field names) offers the schema's declared fields, dynamic patterns included.</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misspells a field name inside qf and finds out only when relevance quietly degrades — the precise inverse of the unknown-field inspection.</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parsed field model schema completion reads (feature 5), scoped to exactly the parameters proven to hold field names.</a:t>
            </a:r>
            <a:endParaRPr lang="en-US" sz="1050" dirty="0"/>
          </a:p>
        </p:txBody>
      </p:sp>
      <p:sp>
        <p:nvSpPr>
          <p:cNvPr id="7" name="Text 5"/>
          <p:cNvSpPr/>
          <p:nvPr/>
        </p:nvSpPr>
        <p:spPr>
          <a:xfrm>
            <a:off x="640080" y="485546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SolrParameterFieldCompletionProvider, reading SolrConfigParameters' known-parameter list.</a:t>
            </a:r>
            <a:endParaRPr lang="en-US" sz="1050" dirty="0"/>
          </a:p>
        </p:txBody>
      </p:sp>
      <p:sp>
        <p:nvSpPr>
          <p:cNvPr id="8" name="Shape 6"/>
          <p:cNvSpPr/>
          <p:nvPr/>
        </p:nvSpPr>
        <p:spPr>
          <a:xfrm>
            <a:off x="4892040" y="2009901"/>
            <a:ext cx="6888175" cy="2838198"/>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3-completion-parameter-fields.png">    </p:cNvPr>
          <p:cNvPicPr>
            <a:picLocks noChangeAspect="1"/>
          </p:cNvPicPr>
          <p:nvPr/>
        </p:nvPicPr>
        <p:blipFill>
          <a:blip r:embed="rId1"/>
          <a:stretch>
            <a:fillRect/>
          </a:stretch>
        </p:blipFill>
        <p:spPr>
          <a:xfrm>
            <a:off x="5029200" y="2147061"/>
            <a:ext cx="6613855" cy="2563878"/>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solrconfig.xml:28, caret after category inside &lt;str name="qf"&gt;, space, Ctrl+Space.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configset/solrconfig/completion/SolrParameterFieldCompletionProvider.kt; configset/solrconfig/SolrConfigParameters.kt; docs/screenshots.md entry 13</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12 OF 18 · REFERENCES &amp;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qf parameter's field names are clickable, straight into their schema declaration</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Ctrl-click or hover on any name inside qf jumps to that field's &lt;field&gt; declaration in the schema.</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greps the schema by hand for a field name typed in a completely different file, with no compiler and no IDE to catch a typo before it costs a relevance regression.</a:t>
            </a:r>
            <a:endParaRPr lang="en-US" sz="1050" dirty="0"/>
          </a:p>
        </p:txBody>
      </p:sp>
      <p:sp>
        <p:nvSpPr>
          <p:cNvPr id="6" name="Text 4"/>
          <p:cNvSpPr/>
          <p:nvPr/>
        </p:nvSpPr>
        <p:spPr>
          <a:xfrm>
            <a:off x="640080" y="3854196"/>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No new data — a reference resolved over the model both files already share.</a:t>
            </a:r>
            <a:endParaRPr lang="en-US" sz="1050" dirty="0"/>
          </a:p>
        </p:txBody>
      </p:sp>
      <p:sp>
        <p:nvSpPr>
          <p:cNvPr id="7" name="Text 5"/>
          <p:cNvSpPr/>
          <p:nvPr/>
        </p:nvSpPr>
        <p:spPr>
          <a:xfrm>
            <a:off x="640080" y="464972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psi.referenceContributor — SolrConfigReferenceContributor. One implementation buys Ctrl-click, Find Usages and rename together.</a:t>
            </a:r>
            <a:endParaRPr lang="en-US" sz="1050" dirty="0"/>
          </a:p>
        </p:txBody>
      </p:sp>
      <p:sp>
        <p:nvSpPr>
          <p:cNvPr id="8" name="Shape 6"/>
          <p:cNvSpPr/>
          <p:nvPr/>
        </p:nvSpPr>
        <p:spPr>
          <a:xfrm>
            <a:off x="4892040" y="2789896"/>
            <a:ext cx="6888175" cy="1278209"/>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8-nav-solrconfig-field-reference.png">    </p:cNvPr>
          <p:cNvPicPr>
            <a:picLocks noChangeAspect="1"/>
          </p:cNvPicPr>
          <p:nvPr/>
        </p:nvPicPr>
        <p:blipFill>
          <a:blip r:embed="rId1"/>
          <a:stretch>
            <a:fillRect/>
          </a:stretch>
        </p:blipFill>
        <p:spPr>
          <a:xfrm>
            <a:off x="5029200" y="2927056"/>
            <a:ext cx="6613855" cy="1003889"/>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solrconfig.xml:28, &lt;str name="qf"&gt;name^3 description category&lt;/str&gt;, hover on name.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configset/solrconfig/reference/SolrConfigReferenceContributor.kt; docs/glossary.md “reference”; docs/screenshots.md entry 8</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13 OF 18 · REFERENCES &amp;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filter's resource path opens the actual file it names</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Quick Definition on words="stopwords.txt" opens that file's real contents, resolved through lang/ where needed.</a:t>
            </a:r>
            <a:endParaRPr lang="en-US" sz="1050" dirty="0"/>
          </a:p>
        </p:txBody>
      </p:sp>
      <p:sp>
        <p:nvSpPr>
          <p:cNvPr id="5" name="Text 3"/>
          <p:cNvSpPr/>
          <p:nvPr/>
        </p:nvSpPr>
        <p:spPr>
          <a:xfrm>
            <a:off x="640080" y="2647188"/>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hunts for the file by eye in the project tree, guessing at subdirectories.</a:t>
            </a:r>
            <a:endParaRPr lang="en-US" sz="1050" dirty="0"/>
          </a:p>
        </p:txBody>
      </p:sp>
      <p:sp>
        <p:nvSpPr>
          <p:cNvPr id="6" name="Text 4"/>
          <p:cNvSpPr/>
          <p:nvPr/>
        </p:nvSpPr>
        <p:spPr>
          <a:xfrm>
            <a:off x="640080" y="344271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No new data — the same reference mechanism resolving to a filesystem resource instead of a PSI declaration.</a:t>
            </a:r>
            <a:endParaRPr lang="en-US" sz="1050" dirty="0"/>
          </a:p>
        </p:txBody>
      </p:sp>
      <p:sp>
        <p:nvSpPr>
          <p:cNvPr id="7" name="Text 5"/>
          <p:cNvSpPr/>
          <p:nvPr/>
        </p:nvSpPr>
        <p:spPr>
          <a:xfrm>
            <a:off x="640080" y="444398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SolrSchemaReferenceContributor's resource-attribute handling.</a:t>
            </a:r>
            <a:endParaRPr lang="en-US" sz="1050" dirty="0"/>
          </a:p>
        </p:txBody>
      </p:sp>
      <p:sp>
        <p:nvSpPr>
          <p:cNvPr id="8" name="Shape 6"/>
          <p:cNvSpPr/>
          <p:nvPr/>
        </p:nvSpPr>
        <p:spPr>
          <a:xfrm>
            <a:off x="4892040" y="2451096"/>
            <a:ext cx="6888175" cy="1955809"/>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9-nav-resource-file.png">    </p:cNvPr>
          <p:cNvPicPr>
            <a:picLocks noChangeAspect="1"/>
          </p:cNvPicPr>
          <p:nvPr/>
        </p:nvPicPr>
        <p:blipFill>
          <a:blip r:embed="rId1"/>
          <a:stretch>
            <a:fillRect/>
          </a:stretch>
        </p:blipFill>
        <p:spPr>
          <a:xfrm>
            <a:off x="5029200" y="2588256"/>
            <a:ext cx="6613855" cy="1681489"/>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managed-schema.xml:34, caret on the resource path, Quick Definition.</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configset/schema/reference/SolrSchemaReferenceContributor.kt; docs/screenshots.md entry 9</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14 OF 18 · REFERENCES &amp;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Every reference to a type, found starting from the declaration itself</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Alt-F7 on a &lt;fieldType&gt; declaration lists every field that uses it, across every file in the configset.</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greps the whole configset by hand to know what depends on a type before changing it, and misses whatever a dynamic field pattern quietly supplies.</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No new data — the reference graph already built for navigation, traversed backward from a declaration rather than forward from a use site.</a:t>
            </a:r>
            <a:endParaRPr lang="en-US" sz="1050" dirty="0"/>
          </a:p>
        </p:txBody>
      </p:sp>
      <p:sp>
        <p:nvSpPr>
          <p:cNvPr id="7" name="Text 5"/>
          <p:cNvSpPr/>
          <p:nvPr/>
        </p:nvSpPr>
        <p:spPr>
          <a:xfrm>
            <a:off x="640080" y="4855464"/>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pom.declarationSearcher — SolrDeclarationSearcher, needed because a caret on a bare declaration is not naturally something the platform can search for.</a:t>
            </a:r>
            <a:endParaRPr lang="en-US" sz="1050" dirty="0"/>
          </a:p>
        </p:txBody>
      </p:sp>
      <p:sp>
        <p:nvSpPr>
          <p:cNvPr id="8" name="Shape 6"/>
          <p:cNvSpPr/>
          <p:nvPr/>
        </p:nvSpPr>
        <p:spPr>
          <a:xfrm>
            <a:off x="4892040" y="2596107"/>
            <a:ext cx="6888175" cy="1665787"/>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7-find-usages-field-type.png">    </p:cNvPr>
          <p:cNvPicPr>
            <a:picLocks noChangeAspect="1"/>
          </p:cNvPicPr>
          <p:nvPr/>
        </p:nvPicPr>
        <p:blipFill>
          <a:blip r:embed="rId1"/>
          <a:stretch>
            <a:fillRect/>
          </a:stretch>
        </p:blipFill>
        <p:spPr>
          <a:xfrm>
            <a:off x="5029200" y="2733267"/>
            <a:ext cx="6613855" cy="1391467"/>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Caret in the &lt;fieldType name="text_general"&gt; declaration at managed-schema.xml:31, ⌥F7.</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configset/navigation/SolrDeclarationSearcher.kt; docs/glossary.md “Find Usages”; docs/screenshots.md entry 7</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15 OF 18 · REFERENCES &amp;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Renaming a field updates every file that mentions it — one operation, one Undo</a:t>
            </a:r>
            <a:endParaRPr lang="en-US" sz="2200" dirty="0"/>
          </a:p>
        </p:txBody>
      </p:sp>
      <p:sp>
        <p:nvSpPr>
          <p:cNvPr id="4" name="Text 2"/>
          <p:cNvSpPr/>
          <p:nvPr/>
        </p:nvSpPr>
        <p:spPr>
          <a:xfrm>
            <a:off x="640080" y="1645920"/>
            <a:ext cx="4114800" cy="960120"/>
          </a:xfrm>
          <a:prstGeom prst="rect">
            <a:avLst/>
          </a:prstGeom>
          <a:noFill/>
          <a:ln/>
        </p:spPr>
        <p:txBody>
          <a:bodyPr wrap="square" rtlCol="0" anchor="t"/>
          <a:lstStyle/>
          <a:p>
            <a:pPr indent="0" marL="0">
              <a:lnSpc>
                <a:spcPct val="108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08000"/>
              </a:lnSpc>
              <a:buNone/>
            </a:pPr>
            <a:r>
              <a:rPr lang="en-US" sz="1250" dirty="0">
                <a:solidFill>
                  <a:srgbClr val="1B2340"/>
                </a:solidFill>
                <a:latin typeface="Calibri" pitchFamily="34" charset="0"/>
                <a:ea typeface="Calibri" pitchFamily="34" charset="-122"/>
                <a:cs typeface="Calibri" pitchFamily="34" charset="-120"/>
              </a:rPr>
              <a:t>Shift+F6 on a field updates its schema declaration and the qf line in solrconfig.xml together, no separate edit.</a:t>
            </a:r>
            <a:endParaRPr lang="en-US" sz="1050" dirty="0"/>
          </a:p>
        </p:txBody>
      </p:sp>
      <p:sp>
        <p:nvSpPr>
          <p:cNvPr id="5" name="Text 3"/>
          <p:cNvSpPr/>
          <p:nvPr/>
        </p:nvSpPr>
        <p:spPr>
          <a:xfrm>
            <a:off x="640080" y="2606040"/>
            <a:ext cx="4114800" cy="1152144"/>
          </a:xfrm>
          <a:prstGeom prst="rect">
            <a:avLst/>
          </a:prstGeom>
          <a:noFill/>
          <a:ln/>
        </p:spPr>
        <p:txBody>
          <a:bodyPr wrap="square" rtlCol="0" anchor="t"/>
          <a:lstStyle/>
          <a:p>
            <a:pPr indent="0" marL="0">
              <a:lnSpc>
                <a:spcPct val="108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08000"/>
              </a:lnSpc>
              <a:buNone/>
            </a:pPr>
            <a:r>
              <a:rPr lang="en-US" sz="1250" dirty="0">
                <a:solidFill>
                  <a:srgbClr val="1B2340"/>
                </a:solidFill>
                <a:latin typeface="Calibri" pitchFamily="34" charset="0"/>
                <a:ea typeface="Calibri" pitchFamily="34" charset="-122"/>
                <a:cs typeface="Calibri" pitchFamily="34" charset="-120"/>
              </a:rPr>
              <a:t>A reader renames by hand, greps for the old spelling, and hopes every mention was found — the exact silent-breakage shape this plugin exists to prevent.</a:t>
            </a:r>
            <a:endParaRPr lang="en-US" sz="1050" dirty="0"/>
          </a:p>
        </p:txBody>
      </p:sp>
      <p:sp>
        <p:nvSpPr>
          <p:cNvPr id="6" name="Text 4"/>
          <p:cNvSpPr/>
          <p:nvPr/>
        </p:nvSpPr>
        <p:spPr>
          <a:xfrm>
            <a:off x="640080" y="3758184"/>
            <a:ext cx="4114800" cy="768096"/>
          </a:xfrm>
          <a:prstGeom prst="rect">
            <a:avLst/>
          </a:prstGeom>
          <a:noFill/>
          <a:ln/>
        </p:spPr>
        <p:txBody>
          <a:bodyPr wrap="square" rtlCol="0" anchor="t"/>
          <a:lstStyle/>
          <a:p>
            <a:pPr indent="0" marL="0">
              <a:lnSpc>
                <a:spcPct val="108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08000"/>
              </a:lnSpc>
              <a:buNone/>
            </a:pPr>
            <a:r>
              <a:rPr lang="en-US" sz="1250" dirty="0">
                <a:solidFill>
                  <a:srgbClr val="1B2340"/>
                </a:solidFill>
                <a:latin typeface="Calibri" pitchFamily="34" charset="0"/>
                <a:ea typeface="Calibri" pitchFamily="34" charset="-122"/>
                <a:cs typeface="Calibri" pitchFamily="34" charset="-120"/>
              </a:rPr>
              <a:t>No new data — built on the same reference graph as Find Usages.</a:t>
            </a:r>
            <a:endParaRPr lang="en-US" sz="1050" dirty="0"/>
          </a:p>
        </p:txBody>
      </p:sp>
      <p:sp>
        <p:nvSpPr>
          <p:cNvPr id="7" name="Text 5"/>
          <p:cNvSpPr/>
          <p:nvPr/>
        </p:nvSpPr>
        <p:spPr>
          <a:xfrm>
            <a:off x="640080" y="4526280"/>
            <a:ext cx="4114800" cy="1152144"/>
          </a:xfrm>
          <a:prstGeom prst="rect">
            <a:avLst/>
          </a:prstGeom>
          <a:noFill/>
          <a:ln/>
        </p:spPr>
        <p:txBody>
          <a:bodyPr wrap="square" rtlCol="0" anchor="t"/>
          <a:lstStyle/>
          <a:p>
            <a:pPr indent="0" marL="0">
              <a:lnSpc>
                <a:spcPct val="108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08000"/>
              </a:lnSpc>
              <a:buNone/>
            </a:pPr>
            <a:r>
              <a:rPr lang="en-US" sz="1250" dirty="0">
                <a:solidFill>
                  <a:srgbClr val="1B2340"/>
                </a:solidFill>
                <a:latin typeface="Calibri" pitchFamily="34" charset="0"/>
                <a:ea typeface="Calibri" pitchFamily="34" charset="-122"/>
                <a:cs typeface="Calibri" pitchFamily="34" charset="-120"/>
              </a:rPr>
              <a:t>The platform's rename refactoring, built on SolrDeclarationSearcher's target. Lives in configset.navigation, not configset.schema, because it must reach across the file boundary.</a:t>
            </a:r>
            <a:endParaRPr lang="en-US" sz="1050" dirty="0"/>
          </a:p>
        </p:txBody>
      </p:sp>
      <p:sp>
        <p:nvSpPr>
          <p:cNvPr id="8" name="Text 6"/>
          <p:cNvSpPr/>
          <p:nvPr/>
        </p:nvSpPr>
        <p:spPr>
          <a:xfrm>
            <a:off x="5029200" y="1691640"/>
            <a:ext cx="6613855" cy="274320"/>
          </a:xfrm>
          <a:prstGeom prst="rect">
            <a:avLst/>
          </a:prstGeom>
          <a:noFill/>
          <a:ln/>
        </p:spPr>
        <p:txBody>
          <a:bodyPr wrap="square" rtlCol="0" anchor="ctr"/>
          <a:lstStyle/>
          <a:p>
            <a:pPr indent="0" marL="0">
              <a:buNone/>
            </a:pPr>
            <a:r>
              <a:rPr lang="en-US" sz="1050" b="1" dirty="0">
                <a:solidFill>
                  <a:srgbClr val="D9531E"/>
                </a:solidFill>
                <a:latin typeface="Calibri" pitchFamily="34" charset="0"/>
                <a:ea typeface="Calibri" pitchFamily="34" charset="-122"/>
                <a:cs typeface="Calibri" pitchFamily="34" charset="-120"/>
              </a:rPr>
              <a:t>BEFORE — solrconfig.xml:28, category still spelled out</a:t>
            </a:r>
            <a:endParaRPr lang="en-US" sz="1050" dirty="0"/>
          </a:p>
        </p:txBody>
      </p:sp>
      <p:sp>
        <p:nvSpPr>
          <p:cNvPr id="9" name="Shape 7"/>
          <p:cNvSpPr/>
          <p:nvPr/>
        </p:nvSpPr>
        <p:spPr>
          <a:xfrm>
            <a:off x="4919472" y="2227596"/>
            <a:ext cx="6833311" cy="930623"/>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10" name="Image 0" descr="/Users/adityaparikh/IdeaProjects/solr-intellij-plugin/docs/images/14-rename-cross-file-before.png">    </p:cNvPr>
          <p:cNvPicPr>
            <a:picLocks noChangeAspect="1"/>
          </p:cNvPicPr>
          <p:nvPr/>
        </p:nvPicPr>
        <p:blipFill>
          <a:blip r:embed="rId1"/>
          <a:stretch>
            <a:fillRect/>
          </a:stretch>
        </p:blipFill>
        <p:spPr>
          <a:xfrm>
            <a:off x="5029200" y="2337324"/>
            <a:ext cx="6613855" cy="711167"/>
          </a:xfrm>
          <a:prstGeom prst="rect">
            <a:avLst/>
          </a:prstGeom>
        </p:spPr>
      </p:pic>
      <p:sp>
        <p:nvSpPr>
          <p:cNvPr id="11" name="Text 8"/>
          <p:cNvSpPr/>
          <p:nvPr/>
        </p:nvSpPr>
        <p:spPr>
          <a:xfrm>
            <a:off x="5029200" y="3703320"/>
            <a:ext cx="6613855" cy="274320"/>
          </a:xfrm>
          <a:prstGeom prst="rect">
            <a:avLst/>
          </a:prstGeom>
          <a:noFill/>
          <a:ln/>
        </p:spPr>
        <p:txBody>
          <a:bodyPr wrap="square" rtlCol="0" anchor="ctr"/>
          <a:lstStyle/>
          <a:p>
            <a:pPr indent="0" marL="0">
              <a:buNone/>
            </a:pPr>
            <a:r>
              <a:rPr lang="en-US" sz="1050" b="1" dirty="0">
                <a:solidFill>
                  <a:srgbClr val="D9531E"/>
                </a:solidFill>
                <a:latin typeface="Calibri" pitchFamily="34" charset="0"/>
                <a:ea typeface="Calibri" pitchFamily="34" charset="-122"/>
                <a:cs typeface="Calibri" pitchFamily="34" charset="-120"/>
              </a:rPr>
              <a:t>AFTER — Shift+F6 on the declaration renamed it here too</a:t>
            </a:r>
            <a:endParaRPr lang="en-US" sz="1050" dirty="0"/>
          </a:p>
        </p:txBody>
      </p:sp>
      <p:sp>
        <p:nvSpPr>
          <p:cNvPr id="12" name="Shape 9"/>
          <p:cNvSpPr/>
          <p:nvPr/>
        </p:nvSpPr>
        <p:spPr>
          <a:xfrm>
            <a:off x="4919472" y="4399982"/>
            <a:ext cx="6833311" cy="609212"/>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13" name="Image 1" descr="/Users/adityaparikh/IdeaProjects/solr-intellij-plugin/docs/images/14-rename-cross-file-after.png">    </p:cNvPr>
          <p:cNvPicPr>
            <a:picLocks noChangeAspect="1"/>
          </p:cNvPicPr>
          <p:nvPr/>
        </p:nvPicPr>
        <p:blipFill>
          <a:blip r:embed="rId2"/>
          <a:stretch>
            <a:fillRect/>
          </a:stretch>
        </p:blipFill>
        <p:spPr>
          <a:xfrm>
            <a:off x="5029200" y="4509710"/>
            <a:ext cx="6613855" cy="389756"/>
          </a:xfrm>
          <a:prstGeom prst="rect">
            <a:avLst/>
          </a:prstGeom>
        </p:spPr>
      </p:pic>
      <p:sp>
        <p:nvSpPr>
          <p:cNvPr id="14" name="Text 10"/>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managed-schema.xml:70, category renamed to product_category via Shift+F6; solrconfig.xml:28 updates with no separate action. A single Cmd+Z reverted both files as one refactoring.</a:t>
            </a:r>
            <a:endParaRPr lang="en-US" sz="900" dirty="0"/>
          </a:p>
        </p:txBody>
      </p:sp>
      <p:sp>
        <p:nvSpPr>
          <p:cNvPr id="16" name="Text 1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16 OF 18 · ANNOTATOR + INTENTION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written value that changes nothing gets dimmed, not underlined</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indexed="true" and stored="true" render fully grey — name and value both — when they only restate what Solr would supply anyway.</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cannot tell load-bearing attributes from decorative ones without hovering each one in turn.</a:t>
            </a:r>
            <a:endParaRPr lang="en-US" sz="1050" dirty="0"/>
          </a:p>
        </p:txBody>
      </p:sp>
      <p:sp>
        <p:nvSpPr>
          <p:cNvPr id="6" name="Text 4"/>
          <p:cNvSpPr/>
          <p:nvPr/>
        </p:nvSpPr>
        <p:spPr>
          <a:xfrm>
            <a:off x="640080" y="364845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property table quick documentation reads, comparing the written value to the resolved default.</a:t>
            </a:r>
            <a:endParaRPr lang="en-US" sz="1050" dirty="0"/>
          </a:p>
        </p:txBody>
      </p:sp>
      <p:sp>
        <p:nvSpPr>
          <p:cNvPr id="7" name="Text 5"/>
          <p:cNvSpPr/>
          <p:nvPr/>
        </p:nvSpPr>
        <p:spPr>
          <a:xfrm>
            <a:off x="640080" y="464972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annotator, not inspection — a restated default is correct Solr. SolrRestatedDefaultAnnotator, paired with a removal intention.</a:t>
            </a:r>
            <a:endParaRPr lang="en-US" sz="1050" dirty="0"/>
          </a:p>
        </p:txBody>
      </p:sp>
      <p:sp>
        <p:nvSpPr>
          <p:cNvPr id="8" name="Shape 6"/>
          <p:cNvSpPr/>
          <p:nvPr/>
        </p:nvSpPr>
        <p:spPr>
          <a:xfrm>
            <a:off x="4892040" y="2506080"/>
            <a:ext cx="6888175" cy="184584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1-dimmed-restated-default.png">    </p:cNvPr>
          <p:cNvPicPr>
            <a:picLocks noChangeAspect="1"/>
          </p:cNvPicPr>
          <p:nvPr/>
        </p:nvPicPr>
        <p:blipFill>
          <a:blip r:embed="rId1"/>
          <a:stretch>
            <a:fillRect/>
          </a:stretch>
        </p:blipFill>
        <p:spPr>
          <a:xfrm>
            <a:off x="5029200" y="2643240"/>
            <a:ext cx="6613855" cy="157152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managed-schema.xml:66-73, untouched — the dim renders itself, no interaction.</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configset/schema/annotator/SolrRestatedDefaultAnnotator.kt; configset/schema/intention/SolrRemoveRestatedAttributeIntention.kt; docs/glossary.md “annotator”; docs/screenshots.md entry 11</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17 OF 18 · INTENTIONS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Alt-Enter offers to add the exact-match or prefix field a tokenised field lacks</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Alt-Enter on a tokenised field offers to generate a StrField-backed *_exact or EdgeNGram-backed *_prefix companion field, plus its copyField.</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hand-writes the companion field, its field type, and the copyField rule — three coordinated edits done from memory instead of one gesture.</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model's own match-capability analysis — the same one behind the inlay hint on slide 1 — decides what capability is missing.</a:t>
            </a:r>
            <a:endParaRPr lang="en-US" sz="1050" dirty="0"/>
          </a:p>
        </p:txBody>
      </p:sp>
      <p:sp>
        <p:nvSpPr>
          <p:cNvPr id="7" name="Text 5"/>
          <p:cNvSpPr/>
          <p:nvPr/>
        </p:nvSpPr>
        <p:spPr>
          <a:xfrm>
            <a:off x="640080" y="4855464"/>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intentionAction — SolrAddExactCompanionIntention / SolrAddPrefixCompanionIntention. An intention, not a quick-fix: the field being incomplete is not wrong.</a:t>
            </a:r>
            <a:endParaRPr lang="en-US" sz="1050" dirty="0"/>
          </a:p>
        </p:txBody>
      </p:sp>
      <p:sp>
        <p:nvSpPr>
          <p:cNvPr id="8" name="Shape 6"/>
          <p:cNvSpPr/>
          <p:nvPr/>
        </p:nvSpPr>
        <p:spPr>
          <a:xfrm>
            <a:off x="4892040" y="2647413"/>
            <a:ext cx="6888175" cy="1563174"/>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2-intention-companion-fields.png">    </p:cNvPr>
          <p:cNvPicPr>
            <a:picLocks noChangeAspect="1"/>
          </p:cNvPicPr>
          <p:nvPr/>
        </p:nvPicPr>
        <p:blipFill>
          <a:blip r:embed="rId1"/>
          <a:stretch>
            <a:fillRect/>
          </a:stretch>
        </p:blipFill>
        <p:spPr>
          <a:xfrm>
            <a:off x="5029200" y="2784573"/>
            <a:ext cx="6613855" cy="1288854"/>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Alt-Enter on description (a tokenised text_general field) at managed-schema.xml:71.</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configset/schema/intention/SolrAddExactCompanionIntention.kt, SolrAddPrefixCompanionIntention.kt; docs/screenshots.md entry 12</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18 OF 18 · INSPECTIONS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Eleven inspections, and the one rule that keeps every one of them honest</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dangling copyField draws a warning underline with Alt-Enter quick-fixes ranked by edit distance to the typo.</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finds a dangling copyField only when the core fails to reload — in Solr's error language, in production, not in the editor a moment after typing it.</a:t>
            </a:r>
            <a:endParaRPr lang="en-US" sz="1050" dirty="0"/>
          </a:p>
        </p:txBody>
      </p:sp>
      <p:sp>
        <p:nvSpPr>
          <p:cNvPr id="6" name="Text 4"/>
          <p:cNvSpPr/>
          <p:nvPr/>
        </p:nvSpPr>
        <p:spPr>
          <a:xfrm>
            <a:off x="640080" y="3854196"/>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parsed configset model. Never a running server, never an index.</a:t>
            </a:r>
            <a:endParaRPr lang="en-US" sz="1050" dirty="0"/>
          </a:p>
        </p:txBody>
      </p:sp>
      <p:sp>
        <p:nvSpPr>
          <p:cNvPr id="7" name="Text 5"/>
          <p:cNvSpPr/>
          <p:nvPr/>
        </p:nvSpPr>
        <p:spPr>
          <a:xfrm>
            <a:off x="640080" y="464972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localInspection, level="WARNING" always. Eleven registered; ten held to a zero-findings gate against Solr's own shipped configsets.</a:t>
            </a:r>
            <a:endParaRPr lang="en-US" sz="1050" dirty="0"/>
          </a:p>
        </p:txBody>
      </p:sp>
      <p:sp>
        <p:nvSpPr>
          <p:cNvPr id="8" name="Shape 6"/>
          <p:cNvSpPr/>
          <p:nvPr/>
        </p:nvSpPr>
        <p:spPr>
          <a:xfrm>
            <a:off x="5567855" y="1463040"/>
            <a:ext cx="5536545"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4-inspection-copyfield-quickfix.png">    </p:cNvPr>
          <p:cNvPicPr>
            <a:picLocks noChangeAspect="1"/>
          </p:cNvPicPr>
          <p:nvPr/>
        </p:nvPicPr>
        <p:blipFill>
          <a:blip r:embed="rId1"/>
          <a:stretch>
            <a:fillRect/>
          </a:stretch>
        </p:blipFill>
        <p:spPr>
          <a:xfrm>
            <a:off x="5705015" y="1600200"/>
            <a:ext cx="5262225"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managed-schema.xml:92, caret on manufacturer, Alt-Enter.</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plugin.xml (11 localInspection registrations, counted directly); SolrShippedConfigsetTest.kt; docs/glossary.md “inspection”; docs/screenshots.md entry 4</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1 · RECAP</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500" b="1" dirty="0">
                <a:solidFill>
                  <a:srgbClr val="1B2340"/>
                </a:solidFill>
                <a:latin typeface="Cambria" pitchFamily="34" charset="0"/>
                <a:ea typeface="Cambria" pitchFamily="34" charset="-122"/>
                <a:cs typeface="Cambria" pitchFamily="34" charset="-120"/>
              </a:rPr>
              <a:t>Eighteen slides, eighteen real screenshots</a:t>
            </a:r>
            <a:endParaRPr lang="en-US" sz="25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Every feature slide traces to a real capture in docs/images/ and a real plugin.xml registration.</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Match hints · quick doc (field, class, version) · schema completion · factory-attribute completion · solrconfig structure at the root and nested in &lt;query&gt;/&lt;indexConfig&gt; · parameter-name completion · field names inside parameters · solrconfig→schema navigation · resource navigation · Find Usages · rename across files · dimmed restated defaults · companion-field intentions · inspections</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Not started: the Server track (no HTTP client, no query console, no drift view) and the Code track (no Java/Kotlin recognizer).</a:t>
            </a:r>
            <a:endParaRPr lang="en-US" sz="1550" dirty="0"/>
          </a:p>
          <a:p>
            <a:pPr marL="228600" indent="-228600">
              <a:lnSpc>
                <a:spcPct val="112000"/>
              </a:lnSpc>
              <a:spcAft>
                <a:spcPts val="1100"/>
              </a:spcAft>
              <a:buSzPct val="100000"/>
              <a:buChar char="•"/>
            </a:pPr>
            <a:r>
              <a:rPr lang="en-US" sz="1500" i="1" dirty="0">
                <a:solidFill>
                  <a:srgbClr val="1B2340"/>
                </a:solidFill>
                <a:latin typeface="Calibri" pitchFamily="34" charset="0"/>
                <a:ea typeface="Calibri" pitchFamily="34" charset="-122"/>
                <a:cs typeface="Calibri" pitchFamily="34" charset="-120"/>
              </a:rPr>
              <a:t>Almost nothing shown here reads an index or contacts a server. A configset is text, and the reference data behind most of these features was generated once, at build time, from Solr's own artifacts.</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docs/screenshots.md; docs/images/ (18 catalog entries, 20 files); specs/plans/0002-solr-intellij-plugin-plan.md</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02</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PLUGIN DEV</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IntelliJ plugin development,</a:t>
            </a:r>
            <a:endParaRPr lang="en-US" sz="2600" dirty="0"/>
          </a:p>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in a Java engineer's own vocabulary</a:t>
            </a:r>
            <a:endParaRPr lang="en-US" sz="2600" dirty="0"/>
          </a:p>
        </p:txBody>
      </p:sp>
      <p:sp>
        <p:nvSpPr>
          <p:cNvPr id="6" name="Shape 4"/>
          <p:cNvSpPr/>
          <p:nvPr/>
        </p:nvSpPr>
        <p:spPr>
          <a:xfrm>
            <a:off x="3977640" y="2359152"/>
            <a:ext cx="91440" cy="91440"/>
          </a:xfrm>
          <a:prstGeom prst="ellipse">
            <a:avLst/>
          </a:prstGeom>
          <a:solidFill>
            <a:srgbClr val="FF6B35"/>
          </a:solidFill>
          <a:ln/>
        </p:spPr>
      </p:sp>
      <p:sp>
        <p:nvSpPr>
          <p:cNvPr id="7" name="Text 5"/>
          <p:cNvSpPr/>
          <p:nvPr/>
        </p:nvSpPr>
        <p:spPr>
          <a:xfrm>
            <a:off x="4233672" y="22037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Extension point — an SPI the platform calls into</a:t>
            </a:r>
            <a:endParaRPr lang="en-US" sz="1300" dirty="0"/>
          </a:p>
        </p:txBody>
      </p:sp>
      <p:sp>
        <p:nvSpPr>
          <p:cNvPr id="8" name="Shape 6"/>
          <p:cNvSpPr/>
          <p:nvPr/>
        </p:nvSpPr>
        <p:spPr>
          <a:xfrm>
            <a:off x="3977640" y="2724912"/>
            <a:ext cx="91440" cy="91440"/>
          </a:xfrm>
          <a:prstGeom prst="ellipse">
            <a:avLst/>
          </a:prstGeom>
          <a:solidFill>
            <a:srgbClr val="FF6B35"/>
          </a:solidFill>
          <a:ln/>
        </p:spPr>
      </p:sp>
      <p:sp>
        <p:nvSpPr>
          <p:cNvPr id="9" name="Text 7"/>
          <p:cNvSpPr/>
          <p:nvPr/>
        </p:nvSpPr>
        <p:spPr>
          <a:xfrm>
            <a:off x="4233672" y="256946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plugin.xml — the only wiring there is</a:t>
            </a:r>
            <a:endParaRPr lang="en-US" sz="1300" dirty="0"/>
          </a:p>
        </p:txBody>
      </p:sp>
      <p:sp>
        <p:nvSpPr>
          <p:cNvPr id="10" name="Shape 8"/>
          <p:cNvSpPr/>
          <p:nvPr/>
        </p:nvSpPr>
        <p:spPr>
          <a:xfrm>
            <a:off x="3977640" y="3090672"/>
            <a:ext cx="91440" cy="91440"/>
          </a:xfrm>
          <a:prstGeom prst="ellipse">
            <a:avLst/>
          </a:prstGeom>
          <a:solidFill>
            <a:srgbClr val="FF6B35"/>
          </a:solidFill>
          <a:ln/>
        </p:spPr>
      </p:sp>
      <p:sp>
        <p:nvSpPr>
          <p:cNvPr id="11" name="Text 9"/>
          <p:cNvSpPr/>
          <p:nvPr/>
        </p:nvSpPr>
        <p:spPr>
          <a:xfrm>
            <a:off x="4233672" y="293522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PSI — a live, mutable AST</a:t>
            </a:r>
            <a:endParaRPr lang="en-US" sz="1300" dirty="0"/>
          </a:p>
        </p:txBody>
      </p:sp>
      <p:sp>
        <p:nvSpPr>
          <p:cNvPr id="12" name="Shape 10"/>
          <p:cNvSpPr/>
          <p:nvPr/>
        </p:nvSpPr>
        <p:spPr>
          <a:xfrm>
            <a:off x="3977640" y="3456432"/>
            <a:ext cx="91440" cy="91440"/>
          </a:xfrm>
          <a:prstGeom prst="ellipse">
            <a:avLst/>
          </a:prstGeom>
          <a:solidFill>
            <a:srgbClr val="FF6B35"/>
          </a:solidFill>
          <a:ln/>
        </p:spPr>
      </p:sp>
      <p:sp>
        <p:nvSpPr>
          <p:cNvPr id="13" name="Text 11"/>
          <p:cNvSpPr/>
          <p:nvPr/>
        </p:nvSpPr>
        <p:spPr>
          <a:xfrm>
            <a:off x="4233672" y="330098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Dumb mode — an index still importing</a:t>
            </a:r>
            <a:endParaRPr lang="en-US" sz="1300" dirty="0"/>
          </a:p>
        </p:txBody>
      </p:sp>
      <p:sp>
        <p:nvSpPr>
          <p:cNvPr id="14" name="Shape 12"/>
          <p:cNvSpPr/>
          <p:nvPr/>
        </p:nvSpPr>
        <p:spPr>
          <a:xfrm>
            <a:off x="3977640" y="3822192"/>
            <a:ext cx="91440" cy="91440"/>
          </a:xfrm>
          <a:prstGeom prst="ellipse">
            <a:avLst/>
          </a:prstGeom>
          <a:solidFill>
            <a:srgbClr val="FF6B35"/>
          </a:solidFill>
          <a:ln/>
        </p:spPr>
      </p:sp>
      <p:sp>
        <p:nvSpPr>
          <p:cNvPr id="15" name="Text 13"/>
          <p:cNvSpPr/>
          <p:nvPr/>
        </p:nvSpPr>
        <p:spPr>
          <a:xfrm>
            <a:off x="4233672" y="366674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CachedValuesManager — declared invalidation</a:t>
            </a:r>
            <a:endParaRPr lang="en-US" sz="1300" dirty="0"/>
          </a:p>
        </p:txBody>
      </p:sp>
      <p:sp>
        <p:nvSpPr>
          <p:cNvPr id="16" name="Shape 14"/>
          <p:cNvSpPr/>
          <p:nvPr/>
        </p:nvSpPr>
        <p:spPr>
          <a:xfrm>
            <a:off x="3977640" y="4187952"/>
            <a:ext cx="91440" cy="91440"/>
          </a:xfrm>
          <a:prstGeom prst="ellipse">
            <a:avLst/>
          </a:prstGeom>
          <a:solidFill>
            <a:srgbClr val="FF6B35"/>
          </a:solidFill>
          <a:ln/>
        </p:spPr>
      </p:sp>
      <p:sp>
        <p:nvSpPr>
          <p:cNvPr id="17" name="Text 15"/>
          <p:cNvSpPr/>
          <p:nvPr/>
        </p:nvSpPr>
        <p:spPr>
          <a:xfrm>
            <a:off x="4233672" y="40325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Testing — @SpringBootTest, with a trap</a:t>
            </a:r>
            <a:endParaRPr lang="en-US" sz="1300" dirty="0"/>
          </a:p>
        </p:txBody>
      </p:sp>
      <p:sp>
        <p:nvSpPr>
          <p:cNvPr id="19"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An extension point is an SPI — plugin.xml is your META-INF/services</a:t>
            </a:r>
            <a:endParaRPr lang="en-US" sz="2300" dirty="0"/>
          </a:p>
        </p:txBody>
      </p:sp>
      <p:sp>
        <p:nvSpPr>
          <p:cNvPr id="4" name="Shape 2"/>
          <p:cNvSpPr/>
          <p:nvPr/>
        </p:nvSpPr>
        <p:spPr>
          <a:xfrm>
            <a:off x="731520" y="1691640"/>
            <a:ext cx="3200400" cy="1143000"/>
          </a:xfrm>
          <a:prstGeom prst="roundRect">
            <a:avLst>
              <a:gd name="adj" fmla="val 5600"/>
            </a:avLst>
          </a:prstGeom>
          <a:solidFill>
            <a:srgbClr val="F6F7FB"/>
          </a:solidFill>
          <a:ln w="12700">
            <a:solidFill>
              <a:srgbClr val="E2E5F0"/>
            </a:solidFill>
            <a:prstDash val="solid"/>
          </a:ln>
        </p:spPr>
      </p:sp>
      <p:sp>
        <p:nvSpPr>
          <p:cNvPr id="5" name="Text 3"/>
          <p:cNvSpPr/>
          <p:nvPr/>
        </p:nvSpPr>
        <p:spPr>
          <a:xfrm>
            <a:off x="822960" y="1764792"/>
            <a:ext cx="3017520" cy="628650"/>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Java SPI</a:t>
            </a:r>
            <a:endParaRPr lang="en-US" sz="1450" dirty="0"/>
          </a:p>
        </p:txBody>
      </p:sp>
      <p:sp>
        <p:nvSpPr>
          <p:cNvPr id="6" name="Text 4"/>
          <p:cNvSpPr/>
          <p:nvPr/>
        </p:nvSpPr>
        <p:spPr>
          <a:xfrm>
            <a:off x="822960" y="2286000"/>
            <a:ext cx="3017520" cy="50292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META-INF/services/*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ServiceLoader finds it</a:t>
            </a:r>
            <a:endParaRPr lang="en-US" sz="950" dirty="0"/>
          </a:p>
        </p:txBody>
      </p:sp>
      <p:sp>
        <p:nvSpPr>
          <p:cNvPr id="7" name="Shape 5"/>
          <p:cNvSpPr/>
          <p:nvPr/>
        </p:nvSpPr>
        <p:spPr>
          <a:xfrm>
            <a:off x="731520" y="3063240"/>
            <a:ext cx="3200400" cy="1143000"/>
          </a:xfrm>
          <a:prstGeom prst="roundRect">
            <a:avLst>
              <a:gd name="adj" fmla="val 5600"/>
            </a:avLst>
          </a:prstGeom>
          <a:solidFill>
            <a:srgbClr val="F6F7FB"/>
          </a:solidFill>
          <a:ln w="12700">
            <a:solidFill>
              <a:srgbClr val="E2E5F0"/>
            </a:solidFill>
            <a:prstDash val="solid"/>
          </a:ln>
        </p:spPr>
      </p:sp>
      <p:sp>
        <p:nvSpPr>
          <p:cNvPr id="8" name="Text 6"/>
          <p:cNvSpPr/>
          <p:nvPr/>
        </p:nvSpPr>
        <p:spPr>
          <a:xfrm>
            <a:off x="822960" y="3136392"/>
            <a:ext cx="3017520" cy="628650"/>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@RestController</a:t>
            </a:r>
            <a:endParaRPr lang="en-US" sz="1450" dirty="0"/>
          </a:p>
        </p:txBody>
      </p:sp>
      <p:sp>
        <p:nvSpPr>
          <p:cNvPr id="9" name="Text 7"/>
          <p:cNvSpPr/>
          <p:nvPr/>
        </p:nvSpPr>
        <p:spPr>
          <a:xfrm>
            <a:off x="822960" y="3657600"/>
            <a:ext cx="3017520" cy="50292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Spring calls it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no socket, no accept loop</a:t>
            </a:r>
            <a:endParaRPr lang="en-US" sz="950" dirty="0"/>
          </a:p>
        </p:txBody>
      </p:sp>
      <p:sp>
        <p:nvSpPr>
          <p:cNvPr id="10" name="Text 8"/>
          <p:cNvSpPr/>
          <p:nvPr/>
        </p:nvSpPr>
        <p:spPr>
          <a:xfrm>
            <a:off x="4069080" y="1965960"/>
            <a:ext cx="548640" cy="457200"/>
          </a:xfrm>
          <a:prstGeom prst="rect">
            <a:avLst/>
          </a:prstGeom>
          <a:noFill/>
          <a:ln/>
        </p:spPr>
        <p:txBody>
          <a:bodyPr wrap="square" rtlCol="0" anchor="ctr"/>
          <a:lstStyle/>
          <a:p>
            <a:pPr algn="ctr" indent="0" marL="0">
              <a:buNone/>
            </a:pPr>
            <a:r>
              <a:rPr lang="en-US" sz="2600" b="1" dirty="0">
                <a:solidFill>
                  <a:srgbClr val="5B6478"/>
                </a:solidFill>
              </a:rPr>
              <a:t>=</a:t>
            </a:r>
            <a:endParaRPr lang="en-US" sz="2600" dirty="0"/>
          </a:p>
        </p:txBody>
      </p:sp>
      <p:sp>
        <p:nvSpPr>
          <p:cNvPr id="11" name="Text 9"/>
          <p:cNvSpPr/>
          <p:nvPr/>
        </p:nvSpPr>
        <p:spPr>
          <a:xfrm>
            <a:off x="4069080" y="3337560"/>
            <a:ext cx="548640" cy="457200"/>
          </a:xfrm>
          <a:prstGeom prst="rect">
            <a:avLst/>
          </a:prstGeom>
          <a:noFill/>
          <a:ln/>
        </p:spPr>
        <p:txBody>
          <a:bodyPr wrap="square" rtlCol="0" anchor="ctr"/>
          <a:lstStyle/>
          <a:p>
            <a:pPr algn="ctr" indent="0" marL="0">
              <a:buNone/>
            </a:pPr>
            <a:r>
              <a:rPr lang="en-US" sz="2600" b="1" dirty="0">
                <a:solidFill>
                  <a:srgbClr val="5B6478"/>
                </a:solidFill>
              </a:rPr>
              <a:t>=</a:t>
            </a:r>
            <a:endParaRPr lang="en-US" sz="2600" dirty="0"/>
          </a:p>
        </p:txBody>
      </p:sp>
      <p:sp>
        <p:nvSpPr>
          <p:cNvPr id="12" name="Shape 10"/>
          <p:cNvSpPr/>
          <p:nvPr/>
        </p:nvSpPr>
        <p:spPr>
          <a:xfrm>
            <a:off x="4754880" y="1691640"/>
            <a:ext cx="3291840" cy="1143000"/>
          </a:xfrm>
          <a:prstGeom prst="roundRect">
            <a:avLst>
              <a:gd name="adj" fmla="val 5600"/>
            </a:avLst>
          </a:prstGeom>
          <a:solidFill>
            <a:srgbClr val="FFFFFF"/>
          </a:solidFill>
          <a:ln w="12700">
            <a:solidFill>
              <a:srgbClr val="E2E5F0"/>
            </a:solidFill>
            <a:prstDash val="solid"/>
          </a:ln>
        </p:spPr>
      </p:sp>
      <p:sp>
        <p:nvSpPr>
          <p:cNvPr id="13" name="Text 11"/>
          <p:cNvSpPr/>
          <p:nvPr/>
        </p:nvSpPr>
        <p:spPr>
          <a:xfrm>
            <a:off x="4846320" y="1764792"/>
            <a:ext cx="3108960" cy="628650"/>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plugin.xml</a:t>
            </a:r>
            <a:endParaRPr lang="en-US" sz="1450" dirty="0"/>
          </a:p>
        </p:txBody>
      </p:sp>
      <p:sp>
        <p:nvSpPr>
          <p:cNvPr id="14" name="Text 12"/>
          <p:cNvSpPr/>
          <p:nvPr/>
        </p:nvSpPr>
        <p:spPr>
          <a:xfrm>
            <a:off x="4846320" y="2286000"/>
            <a:ext cx="3108960" cy="50292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names interface + class,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as a STRING</a:t>
            </a:r>
            <a:endParaRPr lang="en-US" sz="950" dirty="0"/>
          </a:p>
        </p:txBody>
      </p:sp>
      <p:sp>
        <p:nvSpPr>
          <p:cNvPr id="15" name="Shape 13"/>
          <p:cNvSpPr/>
          <p:nvPr/>
        </p:nvSpPr>
        <p:spPr>
          <a:xfrm>
            <a:off x="4754880" y="3063240"/>
            <a:ext cx="3291840" cy="1143000"/>
          </a:xfrm>
          <a:prstGeom prst="roundRect">
            <a:avLst>
              <a:gd name="adj" fmla="val 5600"/>
            </a:avLst>
          </a:prstGeom>
          <a:solidFill>
            <a:srgbClr val="FFFFFF"/>
          </a:solidFill>
          <a:ln w="12700">
            <a:solidFill>
              <a:srgbClr val="E2E5F0"/>
            </a:solidFill>
            <a:prstDash val="solid"/>
          </a:ln>
        </p:spPr>
      </p:sp>
      <p:sp>
        <p:nvSpPr>
          <p:cNvPr id="16" name="Text 14"/>
          <p:cNvSpPr/>
          <p:nvPr/>
        </p:nvSpPr>
        <p:spPr>
          <a:xfrm>
            <a:off x="4846320" y="3136392"/>
            <a:ext cx="3108960" cy="628650"/>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Your extension</a:t>
            </a:r>
            <a:endParaRPr lang="en-US" sz="1450" dirty="0"/>
          </a:p>
        </p:txBody>
      </p:sp>
      <p:sp>
        <p:nvSpPr>
          <p:cNvPr id="17" name="Text 15"/>
          <p:cNvSpPr/>
          <p:nvPr/>
        </p:nvSpPr>
        <p:spPr>
          <a:xfrm>
            <a:off x="4846320" y="3657600"/>
            <a:ext cx="3108960" cy="50292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CompletionContributor,</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Inspection, Reference...</a:t>
            </a:r>
            <a:endParaRPr lang="en-US" sz="950" dirty="0"/>
          </a:p>
        </p:txBody>
      </p:sp>
      <p:sp>
        <p:nvSpPr>
          <p:cNvPr id="18" name="Shape 16"/>
          <p:cNvSpPr/>
          <p:nvPr/>
        </p:nvSpPr>
        <p:spPr>
          <a:xfrm>
            <a:off x="8366760" y="2377440"/>
            <a:ext cx="3108960" cy="1600200"/>
          </a:xfrm>
          <a:prstGeom prst="roundRect">
            <a:avLst>
              <a:gd name="adj" fmla="val 4000"/>
            </a:avLst>
          </a:prstGeom>
          <a:solidFill>
            <a:srgbClr val="141B3C"/>
          </a:solidFill>
          <a:ln w="12700">
            <a:solidFill>
              <a:srgbClr val="E2E5F0"/>
            </a:solidFill>
            <a:prstDash val="solid"/>
          </a:ln>
        </p:spPr>
      </p:sp>
      <p:sp>
        <p:nvSpPr>
          <p:cNvPr id="19" name="Text 17"/>
          <p:cNvSpPr/>
          <p:nvPr/>
        </p:nvSpPr>
        <p:spPr>
          <a:xfrm>
            <a:off x="8458200" y="2450592"/>
            <a:ext cx="2926080" cy="880110"/>
          </a:xfrm>
          <a:prstGeom prst="rect">
            <a:avLst/>
          </a:prstGeom>
          <a:noFill/>
          <a:ln/>
        </p:spPr>
        <p:txBody>
          <a:bodyPr wrap="square" rtlCol="0" anchor="b"/>
          <a:lstStyle/>
          <a:p>
            <a:pPr algn="ctr" indent="0" marL="0">
              <a:buNone/>
            </a:pPr>
            <a:r>
              <a:rPr lang="en-US" sz="1400" b="1" dirty="0">
                <a:solidFill>
                  <a:srgbClr val="FFFFFF"/>
                </a:solidFill>
                <a:latin typeface="Calibri" pitchFamily="34" charset="0"/>
                <a:ea typeface="Calibri" pitchFamily="34" charset="-122"/>
                <a:cs typeface="Calibri" pitchFamily="34" charset="-120"/>
              </a:rPr>
              <a:t>IntelliJ Platform</a:t>
            </a:r>
            <a:endParaRPr lang="en-US" sz="1400" dirty="0"/>
          </a:p>
        </p:txBody>
      </p:sp>
      <p:sp>
        <p:nvSpPr>
          <p:cNvPr id="20" name="Text 18"/>
          <p:cNvSpPr/>
          <p:nvPr/>
        </p:nvSpPr>
        <p:spPr>
          <a:xfrm>
            <a:off x="8458200" y="3209544"/>
            <a:ext cx="2926080" cy="704088"/>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reads plugin.xml,</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owns the editor loop,</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calls you when it fires</a:t>
            </a:r>
            <a:endParaRPr lang="en-US" sz="950" dirty="0"/>
          </a:p>
        </p:txBody>
      </p:sp>
      <p:sp>
        <p:nvSpPr>
          <p:cNvPr id="21" name="Text 19"/>
          <p:cNvSpPr/>
          <p:nvPr/>
        </p:nvSpPr>
        <p:spPr>
          <a:xfrm>
            <a:off x="731520" y="4663440"/>
            <a:ext cx="10698480" cy="548640"/>
          </a:xfrm>
          <a:prstGeom prst="rect">
            <a:avLst/>
          </a:prstGeom>
          <a:noFill/>
          <a:ln/>
        </p:spPr>
        <p:txBody>
          <a:bodyPr wrap="square" rtlCol="0" anchor="ctr"/>
          <a:lstStyle/>
          <a:p>
            <a:pPr algn="ctr" indent="0" marL="0">
              <a:buNone/>
            </a:pPr>
            <a:r>
              <a:rPr lang="en-US" sz="1300" i="1" dirty="0">
                <a:solidFill>
                  <a:srgbClr val="D9531E"/>
                </a:solidFill>
                <a:latin typeface="Calibri" pitchFamily="34" charset="0"/>
                <a:ea typeface="Calibri" pitchFamily="34" charset="-122"/>
                <a:cs typeface="Calibri" pitchFamily="34" charset="-120"/>
              </a:rPr>
              <a:t>A class renamed without updating its plugin.xml string compiles clean and loads nothing. Nothing warns you.</a:t>
            </a:r>
            <a:endParaRPr lang="en-US" sz="1300" dirty="0"/>
          </a:p>
        </p:txBody>
      </p:sp>
      <p:sp>
        <p:nvSpPr>
          <p:cNvPr id="22" name="Text 20"/>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“extension point”, “plugin.xml”; src/main/resources/META-INF/plugin.xml</a:t>
            </a:r>
            <a:endParaRPr lang="en-US" sz="950" dirty="0"/>
          </a:p>
        </p:txBody>
      </p:sp>
      <p:sp>
        <p:nvSpPr>
          <p:cNvPr id="24" name="Text 2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PSI is a live, mutable AST — not a DOM tree you parsed yourself</a:t>
            </a:r>
            <a:endParaRPr lang="en-US" sz="2300" dirty="0"/>
          </a:p>
        </p:txBody>
      </p:sp>
      <p:sp>
        <p:nvSpPr>
          <p:cNvPr id="4" name="Shape 2"/>
          <p:cNvSpPr/>
          <p:nvPr/>
        </p:nvSpPr>
        <p:spPr>
          <a:xfrm>
            <a:off x="640080" y="1691640"/>
            <a:ext cx="3291840" cy="1005840"/>
          </a:xfrm>
          <a:prstGeom prst="roundRect">
            <a:avLst>
              <a:gd name="adj" fmla="val 6364"/>
            </a:avLst>
          </a:prstGeom>
          <a:solidFill>
            <a:srgbClr val="F6F7FB"/>
          </a:solidFill>
          <a:ln w="12700">
            <a:solidFill>
              <a:srgbClr val="E2E5F0"/>
            </a:solidFill>
            <a:prstDash val="solid"/>
          </a:ln>
        </p:spPr>
      </p:sp>
      <p:sp>
        <p:nvSpPr>
          <p:cNvPr id="5" name="Text 3"/>
          <p:cNvSpPr/>
          <p:nvPr/>
        </p:nvSpPr>
        <p:spPr>
          <a:xfrm>
            <a:off x="731520" y="1764792"/>
            <a:ext cx="3108960" cy="553212"/>
          </a:xfrm>
          <a:prstGeom prst="rect">
            <a:avLst/>
          </a:prstGeom>
          <a:noFill/>
          <a:ln/>
        </p:spPr>
        <p:txBody>
          <a:bodyPr wrap="square" rtlCol="0" anchor="b"/>
          <a:lstStyle/>
          <a:p>
            <a:pPr algn="ctr" indent="0" marL="0">
              <a:buNone/>
            </a:pPr>
            <a:r>
              <a:rPr lang="en-US" sz="1350" b="1" dirty="0">
                <a:solidFill>
                  <a:srgbClr val="1B2340"/>
                </a:solidFill>
                <a:latin typeface="Calibri" pitchFamily="34" charset="0"/>
                <a:ea typeface="Calibri" pitchFamily="34" charset="-122"/>
                <a:cs typeface="Calibri" pitchFamily="34" charset="-120"/>
              </a:rPr>
              <a:t>javac AST</a:t>
            </a:r>
            <a:endParaRPr lang="en-US" sz="1350" dirty="0"/>
          </a:p>
        </p:txBody>
      </p:sp>
      <p:sp>
        <p:nvSpPr>
          <p:cNvPr id="6" name="Text 4"/>
          <p:cNvSpPr/>
          <p:nvPr/>
        </p:nvSpPr>
        <p:spPr>
          <a:xfrm>
            <a:off x="731520" y="2214677"/>
            <a:ext cx="3108960" cy="44257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CompilationUnitTree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throwaway, per compile</a:t>
            </a:r>
            <a:endParaRPr lang="en-US" sz="950" dirty="0"/>
          </a:p>
        </p:txBody>
      </p:sp>
      <p:sp>
        <p:nvSpPr>
          <p:cNvPr id="7" name="Shape 5"/>
          <p:cNvSpPr/>
          <p:nvPr/>
        </p:nvSpPr>
        <p:spPr>
          <a:xfrm>
            <a:off x="4480560" y="1691640"/>
            <a:ext cx="3291840" cy="1005840"/>
          </a:xfrm>
          <a:prstGeom prst="roundRect">
            <a:avLst>
              <a:gd name="adj" fmla="val 6364"/>
            </a:avLst>
          </a:prstGeom>
          <a:solidFill>
            <a:srgbClr val="F6F7FB"/>
          </a:solidFill>
          <a:ln w="12700">
            <a:solidFill>
              <a:srgbClr val="E2E5F0"/>
            </a:solidFill>
            <a:prstDash val="solid"/>
          </a:ln>
        </p:spPr>
      </p:sp>
      <p:sp>
        <p:nvSpPr>
          <p:cNvPr id="8" name="Text 6"/>
          <p:cNvSpPr/>
          <p:nvPr/>
        </p:nvSpPr>
        <p:spPr>
          <a:xfrm>
            <a:off x="4572000" y="1764792"/>
            <a:ext cx="3108960" cy="553212"/>
          </a:xfrm>
          <a:prstGeom prst="rect">
            <a:avLst/>
          </a:prstGeom>
          <a:noFill/>
          <a:ln/>
        </p:spPr>
        <p:txBody>
          <a:bodyPr wrap="square" rtlCol="0" anchor="b"/>
          <a:lstStyle/>
          <a:p>
            <a:pPr algn="ctr" indent="0" marL="0">
              <a:buNone/>
            </a:pPr>
            <a:r>
              <a:rPr lang="en-US" sz="1350" b="1" dirty="0">
                <a:solidFill>
                  <a:srgbClr val="1B2340"/>
                </a:solidFill>
                <a:latin typeface="Calibri" pitchFamily="34" charset="0"/>
                <a:ea typeface="Calibri" pitchFamily="34" charset="-122"/>
                <a:cs typeface="Calibri" pitchFamily="34" charset="-120"/>
              </a:rPr>
              <a:t>A DOM tree</a:t>
            </a:r>
            <a:endParaRPr lang="en-US" sz="1350" dirty="0"/>
          </a:p>
        </p:txBody>
      </p:sp>
      <p:sp>
        <p:nvSpPr>
          <p:cNvPr id="9" name="Text 7"/>
          <p:cNvSpPr/>
          <p:nvPr/>
        </p:nvSpPr>
        <p:spPr>
          <a:xfrm>
            <a:off x="4572000" y="2214677"/>
            <a:ext cx="3108960" cy="44257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mutable, held onto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closer, but still not live</a:t>
            </a:r>
            <a:endParaRPr lang="en-US" sz="950" dirty="0"/>
          </a:p>
        </p:txBody>
      </p:sp>
      <p:sp>
        <p:nvSpPr>
          <p:cNvPr id="10" name="Shape 8"/>
          <p:cNvSpPr/>
          <p:nvPr/>
        </p:nvSpPr>
        <p:spPr>
          <a:xfrm>
            <a:off x="8321040" y="1691640"/>
            <a:ext cx="3200400" cy="1005840"/>
          </a:xfrm>
          <a:prstGeom prst="roundRect">
            <a:avLst>
              <a:gd name="adj" fmla="val 6364"/>
            </a:avLst>
          </a:prstGeom>
          <a:solidFill>
            <a:srgbClr val="141B3C"/>
          </a:solidFill>
          <a:ln w="12700">
            <a:solidFill>
              <a:srgbClr val="E2E5F0"/>
            </a:solidFill>
            <a:prstDash val="solid"/>
          </a:ln>
        </p:spPr>
      </p:sp>
      <p:sp>
        <p:nvSpPr>
          <p:cNvPr id="11" name="Text 9"/>
          <p:cNvSpPr/>
          <p:nvPr/>
        </p:nvSpPr>
        <p:spPr>
          <a:xfrm>
            <a:off x="8412480" y="1764792"/>
            <a:ext cx="3017520" cy="553212"/>
          </a:xfrm>
          <a:prstGeom prst="rect">
            <a:avLst/>
          </a:prstGeom>
          <a:noFill/>
          <a:ln/>
        </p:spPr>
        <p:txBody>
          <a:bodyPr wrap="square" rtlCol="0" anchor="b"/>
          <a:lstStyle/>
          <a:p>
            <a:pPr algn="ctr" indent="0" marL="0">
              <a:buNone/>
            </a:pPr>
            <a:r>
              <a:rPr lang="en-US" sz="1350" b="1" dirty="0">
                <a:solidFill>
                  <a:srgbClr val="FFFFFF"/>
                </a:solidFill>
                <a:latin typeface="Calibri" pitchFamily="34" charset="0"/>
                <a:ea typeface="Calibri" pitchFamily="34" charset="-122"/>
                <a:cs typeface="Calibri" pitchFamily="34" charset="-120"/>
              </a:rPr>
              <a:t>PSI</a:t>
            </a:r>
            <a:endParaRPr lang="en-US" sz="1350" dirty="0"/>
          </a:p>
        </p:txBody>
      </p:sp>
      <p:sp>
        <p:nvSpPr>
          <p:cNvPr id="12" name="Text 10"/>
          <p:cNvSpPr/>
          <p:nvPr/>
        </p:nvSpPr>
        <p:spPr>
          <a:xfrm>
            <a:off x="8412480" y="2214677"/>
            <a:ext cx="3017520" cy="442570"/>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live AND mutable —</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stays current as you type</a:t>
            </a:r>
            <a:endParaRPr lang="en-US" sz="950" dirty="0"/>
          </a:p>
        </p:txBody>
      </p:sp>
      <p:sp>
        <p:nvSpPr>
          <p:cNvPr id="13" name="Shape 11"/>
          <p:cNvSpPr/>
          <p:nvPr/>
        </p:nvSpPr>
        <p:spPr>
          <a:xfrm>
            <a:off x="3977640" y="2112264"/>
            <a:ext cx="457200" cy="164592"/>
          </a:xfrm>
          <a:prstGeom prst="rightArrow">
            <a:avLst/>
          </a:prstGeom>
          <a:solidFill>
            <a:srgbClr val="FF6B35"/>
          </a:solidFill>
          <a:ln/>
        </p:spPr>
      </p:sp>
      <p:sp>
        <p:nvSpPr>
          <p:cNvPr id="14" name="Shape 12"/>
          <p:cNvSpPr/>
          <p:nvPr/>
        </p:nvSpPr>
        <p:spPr>
          <a:xfrm>
            <a:off x="7818120" y="2112264"/>
            <a:ext cx="457200" cy="164592"/>
          </a:xfrm>
          <a:prstGeom prst="rightArrow">
            <a:avLst/>
          </a:prstGeom>
          <a:solidFill>
            <a:srgbClr val="FF6B35"/>
          </a:solidFill>
          <a:ln/>
        </p:spPr>
      </p:sp>
      <p:sp>
        <p:nvSpPr>
          <p:cNvPr id="15" name="Text 13"/>
          <p:cNvSpPr/>
          <p:nvPr/>
        </p:nvSpPr>
        <p:spPr>
          <a:xfrm>
            <a:off x="640080" y="3063240"/>
            <a:ext cx="10881360" cy="365760"/>
          </a:xfrm>
          <a:prstGeom prst="rect">
            <a:avLst/>
          </a:prstGeom>
          <a:noFill/>
          <a:ln/>
        </p:spPr>
        <p:txBody>
          <a:bodyPr wrap="square" rtlCol="0" anchor="ctr"/>
          <a:lstStyle/>
          <a:p>
            <a:pPr indent="0" marL="0">
              <a:buNone/>
            </a:pPr>
            <a:r>
              <a:rPr lang="en-US" sz="1350" b="1" dirty="0">
                <a:solidFill>
                  <a:srgbClr val="1B2340"/>
                </a:solidFill>
                <a:latin typeface="Calibri" pitchFamily="34" charset="0"/>
                <a:ea typeface="Calibri" pitchFamily="34" charset="-122"/>
                <a:cs typeface="Calibri" pitchFamily="34" charset="-120"/>
              </a:rPr>
              <a:t>Because PSI can go stale mid-edit, this plugin's OWN model holds none of it:</a:t>
            </a:r>
            <a:endParaRPr lang="en-US" sz="1350" dirty="0"/>
          </a:p>
        </p:txBody>
      </p:sp>
      <p:sp>
        <p:nvSpPr>
          <p:cNvPr id="16" name="Shape 14"/>
          <p:cNvSpPr/>
          <p:nvPr/>
        </p:nvSpPr>
        <p:spPr>
          <a:xfrm>
            <a:off x="640080" y="3520440"/>
            <a:ext cx="5120640" cy="1371600"/>
          </a:xfrm>
          <a:prstGeom prst="roundRect">
            <a:avLst>
              <a:gd name="adj" fmla="val 4667"/>
            </a:avLst>
          </a:prstGeom>
          <a:solidFill>
            <a:srgbClr val="FFFFFF"/>
          </a:solidFill>
          <a:ln w="12700">
            <a:solidFill>
              <a:srgbClr val="E2E5F0"/>
            </a:solidFill>
            <a:prstDash val="solid"/>
          </a:ln>
        </p:spPr>
      </p:sp>
      <p:sp>
        <p:nvSpPr>
          <p:cNvPr id="17" name="Text 15"/>
          <p:cNvSpPr/>
          <p:nvPr/>
        </p:nvSpPr>
        <p:spPr>
          <a:xfrm>
            <a:off x="731520" y="3593592"/>
            <a:ext cx="4937760" cy="754380"/>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SolrFieldModel</a:t>
            </a:r>
            <a:endParaRPr lang="en-US" sz="1400" dirty="0"/>
          </a:p>
        </p:txBody>
      </p:sp>
      <p:sp>
        <p:nvSpPr>
          <p:cNvPr id="18" name="Text 16"/>
          <p:cNvSpPr/>
          <p:nvPr/>
        </p:nvSpPr>
        <p:spPr>
          <a:xfrm>
            <a:off x="731520" y="4233672"/>
            <a:ext cx="4937760" cy="60350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plain data — field names,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types, properties.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NO PsiElement anywhere in it.</a:t>
            </a:r>
            <a:endParaRPr lang="en-US" sz="950" dirty="0"/>
          </a:p>
        </p:txBody>
      </p:sp>
      <p:sp>
        <p:nvSpPr>
          <p:cNvPr id="19" name="Shape 17"/>
          <p:cNvSpPr/>
          <p:nvPr/>
        </p:nvSpPr>
        <p:spPr>
          <a:xfrm>
            <a:off x="6035040" y="3520440"/>
            <a:ext cx="5486400" cy="1371600"/>
          </a:xfrm>
          <a:prstGeom prst="roundRect">
            <a:avLst>
              <a:gd name="adj" fmla="val 4667"/>
            </a:avLst>
          </a:prstGeom>
          <a:solidFill>
            <a:srgbClr val="FFFFFF"/>
          </a:solidFill>
          <a:ln w="12700">
            <a:solidFill>
              <a:srgbClr val="E2E5F0"/>
            </a:solidFill>
            <a:prstDash val="solid"/>
          </a:ln>
        </p:spPr>
      </p:sp>
      <p:sp>
        <p:nvSpPr>
          <p:cNvPr id="20" name="Text 18"/>
          <p:cNvSpPr/>
          <p:nvPr/>
        </p:nvSpPr>
        <p:spPr>
          <a:xfrm>
            <a:off x="6126480" y="3593592"/>
            <a:ext cx="5303520" cy="754380"/>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SolrSchemaPsi</a:t>
            </a:r>
            <a:endParaRPr lang="en-US" sz="1400" dirty="0"/>
          </a:p>
        </p:txBody>
      </p:sp>
      <p:sp>
        <p:nvSpPr>
          <p:cNvPr id="21" name="Text 19"/>
          <p:cNvSpPr/>
          <p:nvPr/>
        </p:nvSpPr>
        <p:spPr>
          <a:xfrm>
            <a:off x="6126480" y="4233672"/>
            <a:ext cx="5303520" cy="60350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re-derives “where was this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written” from live PSI,</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on demand, when navigation asks.</a:t>
            </a:r>
            <a:endParaRPr lang="en-US" sz="950" dirty="0"/>
          </a:p>
        </p:txBody>
      </p:sp>
      <p:sp>
        <p:nvSpPr>
          <p:cNvPr id="22" name="Text 20"/>
          <p:cNvSpPr/>
          <p:nvPr/>
        </p:nvSpPr>
        <p:spPr>
          <a:xfrm>
            <a:off x="640080" y="5166360"/>
            <a:ext cx="10881360" cy="640080"/>
          </a:xfrm>
          <a:prstGeom prst="rect">
            <a:avLst/>
          </a:prstGeom>
          <a:solidFill>
            <a:srgbClr val="141B3C"/>
          </a:solidFill>
          <a:ln/>
        </p:spPr>
        <p:txBody>
          <a:bodyPr wrap="square" rtlCol="0" anchor="ctr"/>
          <a:lstStyle/>
          <a:p>
            <a:pPr indent="0" marL="0">
              <a:buNone/>
            </a:pPr>
            <a:r>
              <a:rPr lang="en-US" sz="1300" dirty="0">
                <a:solidFill>
                  <a:srgbClr val="FFFFFF"/>
                </a:solidFill>
                <a:latin typeface="Courier New" pitchFamily="34" charset="0"/>
                <a:ea typeface="Courier New" pitchFamily="34" charset="-122"/>
                <a:cs typeface="Courier New" pitchFamily="34" charset="-120"/>
              </a:rPr>
              <a:t>val schema: XmlTag? = xmlFile.rootTag  //  a live node, not a copy</a:t>
            </a:r>
            <a:endParaRPr lang="en-US" sz="1300" dirty="0"/>
          </a:p>
        </p:txBody>
      </p:sp>
      <p:sp>
        <p:nvSpPr>
          <p:cNvPr id="23" name="Text 21"/>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“PSI”; configset/navigation/SolrSchemaPsi.kt:16 (KDoc)</a:t>
            </a:r>
            <a:endParaRPr lang="en-US" sz="950" dirty="0"/>
          </a:p>
        </p:txBody>
      </p:sp>
      <p:sp>
        <p:nvSpPr>
          <p:cNvPr id="25" name="Text 2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Dumb mode is an index still importing — queries against it are skipped, not queued</a:t>
            </a:r>
            <a:endParaRPr lang="en-US" sz="22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While a project's indexes build, IntelliJ is “dumb” — it runs, but nothing backed by an index can answer.</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A contribution that has not declared itself DumbAware is SKIPPED ENTIRELY while indexing runs. Silent — no log, no error.</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This plugin reads no index at all, so every contribution declares dumb-awareness — and the opt-in is NOT uniform:</a:t>
            </a:r>
            <a:endParaRPr lang="en-US" sz="1550" dirty="0"/>
          </a:p>
          <a:p>
            <a:pPr lvl="1" marL="457200" indent="-228600">
              <a:lnSpc>
                <a:spcPct val="112000"/>
              </a:lnSpc>
              <a:spcAft>
                <a:spcPts val="1100"/>
              </a:spcAft>
              <a:buSzPct val="100000"/>
              <a:buChar char="•"/>
            </a:pPr>
            <a:r>
              <a:rPr lang="en-US" sz="1300" dirty="0">
                <a:solidFill>
                  <a:srgbClr val="1B2340"/>
                </a:solidFill>
                <a:latin typeface="Calibri" pitchFamily="34" charset="0"/>
                <a:ea typeface="Calibri" pitchFamily="34" charset="-122"/>
                <a:cs typeface="Calibri" pitchFamily="34" charset="-120"/>
              </a:rPr>
              <a:t>LocalInspectionTool / CompletionContributor → override isDumbAware()</a:t>
            </a:r>
            <a:endParaRPr lang="en-US" sz="1550" dirty="0"/>
          </a:p>
          <a:p>
            <a:pPr lvl="1" marL="457200" indent="-228600">
              <a:lnSpc>
                <a:spcPct val="112000"/>
              </a:lnSpc>
              <a:spcAft>
                <a:spcPts val="1100"/>
              </a:spcAft>
              <a:buSzPct val="100000"/>
              <a:buChar char="•"/>
            </a:pPr>
            <a:r>
              <a:rPr lang="en-US" sz="1300" dirty="0">
                <a:solidFill>
                  <a:srgbClr val="1B2340"/>
                </a:solidFill>
                <a:latin typeface="Calibri" pitchFamily="34" charset="0"/>
                <a:ea typeface="Calibri" pitchFamily="34" charset="-122"/>
                <a:cs typeface="Calibri" pitchFamily="34" charset="-120"/>
              </a:rPr>
              <a:t>DocumentationProvider / inlay providers → the DumbAware marker interface</a:t>
            </a:r>
            <a:endParaRPr lang="en-US" sz="1550" dirty="0"/>
          </a:p>
          <a:p>
            <a:pPr lvl="1" marL="457200" indent="-228600">
              <a:lnSpc>
                <a:spcPct val="112000"/>
              </a:lnSpc>
              <a:spcAft>
                <a:spcPts val="1100"/>
              </a:spcAft>
              <a:buSzPct val="100000"/>
              <a:buChar char="•"/>
            </a:pPr>
            <a:r>
              <a:rPr lang="en-US" sz="1300" i="1" dirty="0">
                <a:solidFill>
                  <a:srgbClr val="1B2340"/>
                </a:solidFill>
                <a:latin typeface="Calibri" pitchFamily="34" charset="0"/>
                <a:ea typeface="Calibri" pitchFamily="34" charset="-122"/>
                <a:cs typeface="Calibri" pitchFamily="34" charset="-120"/>
              </a:rPr>
              <a:t>A wrong guess on the marker-interface cases compiles clean and silently does nothing — forever.</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The hard-won rule, from a defect this project actually shipped: a contribution must BOTH decline the declaration AND guard index access with DumbService.</a:t>
            </a:r>
            <a:endParaRPr lang="en-US" sz="1550" dirty="0"/>
          </a:p>
          <a:p>
            <a:pPr marL="228600" indent="-228600">
              <a:lnSpc>
                <a:spcPct val="112000"/>
              </a:lnSpc>
              <a:spcAft>
                <a:spcPts val="1100"/>
              </a:spcAft>
              <a:buSzPct val="100000"/>
              <a:buChar char="•"/>
            </a:pPr>
            <a:r>
              <a:rPr lang="en-US" sz="1500" dirty="0">
                <a:solidFill>
                  <a:srgbClr val="5B6478"/>
                </a:solidFill>
                <a:latin typeface="Calibri" pitchFamily="34" charset="0"/>
                <a:ea typeface="Calibri" pitchFamily="34" charset="-122"/>
                <a:cs typeface="Calibri" pitchFamily="34" charset="-120"/>
              </a:rPr>
              <a:t>An earlier version of this rule said OR. Declining alone keeps a feature out of the paths the flag gates — but its resolve() can still be called directly by something walking references at a caret, and unguarded, that throws during indexing and can take an unrelated popup down with it.</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“dumb mode”; docs/platform-mechanisms.md; CLAUDE.md “Rules no build gate enforces”</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Invalidation is declared up front, not triggered by hand</a:t>
            </a:r>
            <a:endParaRPr lang="en-US" sz="2300" dirty="0"/>
          </a:p>
        </p:txBody>
      </p:sp>
      <p:sp>
        <p:nvSpPr>
          <p:cNvPr id="4" name="Shape 2"/>
          <p:cNvSpPr/>
          <p:nvPr/>
        </p:nvSpPr>
        <p:spPr>
          <a:xfrm>
            <a:off x="640080" y="1737360"/>
            <a:ext cx="5120640" cy="1417320"/>
          </a:xfrm>
          <a:prstGeom prst="roundRect">
            <a:avLst>
              <a:gd name="adj" fmla="val 4516"/>
            </a:avLst>
          </a:prstGeom>
          <a:solidFill>
            <a:srgbClr val="F6F7FB"/>
          </a:solidFill>
          <a:ln w="12700">
            <a:solidFill>
              <a:srgbClr val="E2E5F0"/>
            </a:solidFill>
            <a:prstDash val="solid"/>
          </a:ln>
        </p:spPr>
      </p:sp>
      <p:sp>
        <p:nvSpPr>
          <p:cNvPr id="5" name="Text 3"/>
          <p:cNvSpPr/>
          <p:nvPr/>
        </p:nvSpPr>
        <p:spPr>
          <a:xfrm>
            <a:off x="731520" y="1810512"/>
            <a:ext cx="4937760" cy="779526"/>
          </a:xfrm>
          <a:prstGeom prst="rect">
            <a:avLst/>
          </a:prstGeom>
          <a:noFill/>
          <a:ln/>
        </p:spPr>
        <p:txBody>
          <a:bodyPr wrap="square" rtlCol="0" anchor="b"/>
          <a:lstStyle/>
          <a:p>
            <a:pPr algn="ctr" indent="0" marL="0">
              <a:buNone/>
            </a:pPr>
            <a:r>
              <a:rPr lang="en-US" sz="1500" b="1" dirty="0">
                <a:solidFill>
                  <a:srgbClr val="1B2340"/>
                </a:solidFill>
                <a:latin typeface="Calibri" pitchFamily="34" charset="0"/>
                <a:ea typeface="Calibri" pitchFamily="34" charset="-122"/>
                <a:cs typeface="Calibri" pitchFamily="34" charset="-120"/>
              </a:rPr>
              <a:t>The Java instinct</a:t>
            </a:r>
            <a:endParaRPr lang="en-US" sz="1500" dirty="0"/>
          </a:p>
        </p:txBody>
      </p:sp>
      <p:sp>
        <p:nvSpPr>
          <p:cNvPr id="6" name="Text 4"/>
          <p:cNvSpPr/>
          <p:nvPr/>
        </p:nvSpPr>
        <p:spPr>
          <a:xfrm>
            <a:off x="731520" y="2474366"/>
            <a:ext cx="493776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ConcurrentHashMap&lt;Path, Model&gt;</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you populate and evict by hand</a:t>
            </a:r>
            <a:endParaRPr lang="en-US" sz="950" dirty="0"/>
          </a:p>
        </p:txBody>
      </p:sp>
      <p:sp>
        <p:nvSpPr>
          <p:cNvPr id="7" name="Shape 5"/>
          <p:cNvSpPr/>
          <p:nvPr/>
        </p:nvSpPr>
        <p:spPr>
          <a:xfrm>
            <a:off x="6035040" y="1737360"/>
            <a:ext cx="5486400" cy="1417320"/>
          </a:xfrm>
          <a:prstGeom prst="roundRect">
            <a:avLst>
              <a:gd name="adj" fmla="val 4516"/>
            </a:avLst>
          </a:prstGeom>
          <a:solidFill>
            <a:srgbClr val="141B3C"/>
          </a:solidFill>
          <a:ln w="12700">
            <a:solidFill>
              <a:srgbClr val="E2E5F0"/>
            </a:solidFill>
            <a:prstDash val="solid"/>
          </a:ln>
        </p:spPr>
      </p:sp>
      <p:sp>
        <p:nvSpPr>
          <p:cNvPr id="8" name="Text 6"/>
          <p:cNvSpPr/>
          <p:nvPr/>
        </p:nvSpPr>
        <p:spPr>
          <a:xfrm>
            <a:off x="6126480" y="1810512"/>
            <a:ext cx="5303520" cy="779526"/>
          </a:xfrm>
          <a:prstGeom prst="rect">
            <a:avLst/>
          </a:prstGeom>
          <a:noFill/>
          <a:ln/>
        </p:spPr>
        <p:txBody>
          <a:bodyPr wrap="square" rtlCol="0" anchor="b"/>
          <a:lstStyle/>
          <a:p>
            <a:pPr algn="ctr" indent="0" marL="0">
              <a:buNone/>
            </a:pPr>
            <a:r>
              <a:rPr lang="en-US" sz="1500" b="1" dirty="0">
                <a:solidFill>
                  <a:srgbClr val="FFFFFF"/>
                </a:solidFill>
                <a:latin typeface="Calibri" pitchFamily="34" charset="0"/>
                <a:ea typeface="Calibri" pitchFamily="34" charset="-122"/>
                <a:cs typeface="Calibri" pitchFamily="34" charset="-120"/>
              </a:rPr>
              <a:t>CachedValuesManager</a:t>
            </a:r>
            <a:endParaRPr lang="en-US" sz="1500" dirty="0"/>
          </a:p>
        </p:txBody>
      </p:sp>
      <p:sp>
        <p:nvSpPr>
          <p:cNvPr id="9" name="Text 7"/>
          <p:cNvSpPr/>
          <p:nvPr/>
        </p:nvSpPr>
        <p:spPr>
          <a:xfrm>
            <a:off x="6126480" y="2474366"/>
            <a:ext cx="5303520" cy="623621"/>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a Caffeine cache with a declared</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Expiry — invalidation is configuration</a:t>
            </a:r>
            <a:endParaRPr lang="en-US" sz="950" dirty="0"/>
          </a:p>
        </p:txBody>
      </p:sp>
      <p:sp>
        <p:nvSpPr>
          <p:cNvPr id="10" name="Text 8"/>
          <p:cNvSpPr/>
          <p:nvPr/>
        </p:nvSpPr>
        <p:spPr>
          <a:xfrm>
            <a:off x="640080" y="3383280"/>
            <a:ext cx="10881360" cy="365760"/>
          </a:xfrm>
          <a:prstGeom prst="rect">
            <a:avLst/>
          </a:prstGeom>
          <a:noFill/>
          <a:ln/>
        </p:spPr>
        <p:txBody>
          <a:bodyPr wrap="square" rtlCol="0" anchor="ctr"/>
          <a:lstStyle/>
          <a:p>
            <a:pPr indent="0" marL="0">
              <a:buNone/>
            </a:pPr>
            <a:r>
              <a:rPr lang="en-US" sz="1350" b="1" dirty="0">
                <a:solidFill>
                  <a:srgbClr val="1B2340"/>
                </a:solidFill>
                <a:latin typeface="Calibri" pitchFamily="34" charset="0"/>
                <a:ea typeface="Calibri" pitchFamily="34" charset="-122"/>
                <a:cs typeface="Calibri" pitchFamily="34" charset="-120"/>
              </a:rPr>
              <a:t>SolrConfigsetReader.modelFor — the one place this plugin uses it:</a:t>
            </a:r>
            <a:endParaRPr lang="en-US" sz="1350" dirty="0"/>
          </a:p>
        </p:txBody>
      </p:sp>
      <p:sp>
        <p:nvSpPr>
          <p:cNvPr id="11" name="Shape 9"/>
          <p:cNvSpPr/>
          <p:nvPr/>
        </p:nvSpPr>
        <p:spPr>
          <a:xfrm>
            <a:off x="640080" y="3794760"/>
            <a:ext cx="5120640" cy="1371600"/>
          </a:xfrm>
          <a:prstGeom prst="roundRect">
            <a:avLst>
              <a:gd name="adj" fmla="val 4667"/>
            </a:avLst>
          </a:prstGeom>
          <a:solidFill>
            <a:srgbClr val="FFFFFF"/>
          </a:solidFill>
          <a:ln w="12700">
            <a:solidFill>
              <a:srgbClr val="E2E5F0"/>
            </a:solidFill>
            <a:prstDash val="solid"/>
          </a:ln>
        </p:spPr>
      </p:sp>
      <p:sp>
        <p:nvSpPr>
          <p:cNvPr id="12" name="Text 10"/>
          <p:cNvSpPr/>
          <p:nvPr/>
        </p:nvSpPr>
        <p:spPr>
          <a:xfrm>
            <a:off x="731520" y="3867912"/>
            <a:ext cx="4937760" cy="754380"/>
          </a:xfrm>
          <a:prstGeom prst="rect">
            <a:avLst/>
          </a:prstGeom>
          <a:noFill/>
          <a:ln/>
        </p:spPr>
        <p:txBody>
          <a:bodyPr wrap="square" rtlCol="0" anchor="b"/>
          <a:lstStyle/>
          <a:p>
            <a:pPr algn="ctr" indent="0" marL="0">
              <a:buNone/>
            </a:pPr>
            <a:r>
              <a:rPr lang="en-US" sz="1350" b="1" dirty="0">
                <a:solidFill>
                  <a:srgbClr val="1B2340"/>
                </a:solidFill>
                <a:latin typeface="Calibri" pitchFamily="34" charset="0"/>
                <a:ea typeface="Calibri" pitchFamily="34" charset="-122"/>
                <a:cs typeface="Calibri" pitchFamily="34" charset="-120"/>
              </a:rPr>
              <a:t>Hangs on the PsiDirectory</a:t>
            </a:r>
            <a:endParaRPr lang="en-US" sz="1350" dirty="0"/>
          </a:p>
        </p:txBody>
      </p:sp>
      <p:sp>
        <p:nvSpPr>
          <p:cNvPr id="13" name="Text 11"/>
          <p:cNvSpPr/>
          <p:nvPr/>
        </p:nvSpPr>
        <p:spPr>
          <a:xfrm>
            <a:off x="731520" y="4507992"/>
            <a:ext cx="4937760" cy="60350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not a map this class owns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a path-keyed map outlives the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configset it once named</a:t>
            </a:r>
            <a:endParaRPr lang="en-US" sz="950" dirty="0"/>
          </a:p>
        </p:txBody>
      </p:sp>
      <p:sp>
        <p:nvSpPr>
          <p:cNvPr id="14" name="Shape 12"/>
          <p:cNvSpPr/>
          <p:nvPr/>
        </p:nvSpPr>
        <p:spPr>
          <a:xfrm>
            <a:off x="6035040" y="3794760"/>
            <a:ext cx="5486400" cy="1371600"/>
          </a:xfrm>
          <a:prstGeom prst="roundRect">
            <a:avLst>
              <a:gd name="adj" fmla="val 4667"/>
            </a:avLst>
          </a:prstGeom>
          <a:solidFill>
            <a:srgbClr val="FFFFFF"/>
          </a:solidFill>
          <a:ln w="12700">
            <a:solidFill>
              <a:srgbClr val="E2E5F0"/>
            </a:solidFill>
            <a:prstDash val="solid"/>
          </a:ln>
        </p:spPr>
      </p:sp>
      <p:sp>
        <p:nvSpPr>
          <p:cNvPr id="15" name="Text 13"/>
          <p:cNvSpPr/>
          <p:nvPr/>
        </p:nvSpPr>
        <p:spPr>
          <a:xfrm>
            <a:off x="6126480" y="3867912"/>
            <a:ext cx="5303520" cy="754380"/>
          </a:xfrm>
          <a:prstGeom prst="rect">
            <a:avLst/>
          </a:prstGeom>
          <a:noFill/>
          <a:ln/>
        </p:spPr>
        <p:txBody>
          <a:bodyPr wrap="square" rtlCol="0" anchor="b"/>
          <a:lstStyle/>
          <a:p>
            <a:pPr algn="ctr" indent="0" marL="0">
              <a:buNone/>
            </a:pPr>
            <a:r>
              <a:rPr lang="en-US" sz="1350" b="1" dirty="0">
                <a:solidFill>
                  <a:srgbClr val="1B2340"/>
                </a:solidFill>
                <a:latin typeface="Calibri" pitchFamily="34" charset="0"/>
                <a:ea typeface="Calibri" pitchFamily="34" charset="-122"/>
                <a:cs typeface="Calibri" pitchFamily="34" charset="-120"/>
              </a:rPr>
              <a:t>Deps: both files’ PSI + VFS count</a:t>
            </a:r>
            <a:endParaRPr lang="en-US" sz="1350" dirty="0"/>
          </a:p>
        </p:txBody>
      </p:sp>
      <p:sp>
        <p:nvSpPr>
          <p:cNvPr id="16" name="Text 14"/>
          <p:cNvSpPr/>
          <p:nvPr/>
        </p:nvSpPr>
        <p:spPr>
          <a:xfrm>
            <a:off x="6126480" y="4507992"/>
            <a:ext cx="5303520" cy="60350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NOT PsiModificationTracker—</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that fires on ANY PSI change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anywhere in the project</a:t>
            </a:r>
            <a:endParaRPr lang="en-US" sz="950" dirty="0"/>
          </a:p>
        </p:txBody>
      </p:sp>
      <p:sp>
        <p:nvSpPr>
          <p:cNvPr id="17" name="Text 15"/>
          <p:cNvSpPr/>
          <p:nvPr/>
        </p:nvSpPr>
        <p:spPr>
          <a:xfrm>
            <a:off x="640080" y="5394960"/>
            <a:ext cx="10881360" cy="594360"/>
          </a:xfrm>
          <a:prstGeom prst="rect">
            <a:avLst/>
          </a:prstGeom>
          <a:noFill/>
          <a:ln/>
        </p:spPr>
        <p:txBody>
          <a:bodyPr wrap="square" rtlCol="0" anchor="t"/>
          <a:lstStyle/>
          <a:p>
            <a:pPr algn="ctr" indent="0" marL="0">
              <a:buNone/>
            </a:pPr>
            <a:r>
              <a:rPr lang="en-US" sz="1250" i="1" dirty="0">
                <a:solidFill>
                  <a:srgbClr val="D9531E"/>
                </a:solidFill>
                <a:latin typeface="Calibri" pitchFamily="34" charset="0"/>
                <a:ea typeface="Calibri" pitchFamily="34" charset="-122"/>
                <a:cs typeface="Calibri" pitchFamily="34" charset="-120"/>
              </a:rPr>
              <a:t>“Never build a cache in front of SolrConfigsetReader.modelFor — a fact it doesn’t already read must join its dependency list.” — CLAUDE.md</a:t>
            </a:r>
            <a:endParaRPr lang="en-US" sz="1250" dirty="0"/>
          </a:p>
        </p:txBody>
      </p:sp>
      <p:sp>
        <p:nvSpPr>
          <p:cNvPr id="18" name="Text 16"/>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“CachedValuesManager”; configset/reading/SolrConfigsetReader.kt; docs/platform-mechanisms.md</a:t>
            </a:r>
            <a:endParaRPr lang="en-US" sz="950" dirty="0"/>
          </a:p>
        </p:txBody>
      </p:sp>
      <p:sp>
        <p:nvSpPr>
          <p:cNvPr id="20" name="Text 17"/>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000" b="1" dirty="0">
                <a:solidFill>
                  <a:srgbClr val="1B2340"/>
                </a:solidFill>
                <a:latin typeface="Cambria" pitchFamily="34" charset="0"/>
                <a:ea typeface="Cambria" pitchFamily="34" charset="-122"/>
                <a:cs typeface="Cambria" pitchFamily="34" charset="-120"/>
              </a:rPr>
              <a:t>BasePlatformTestCase is @SpringBootTest, not a plain unit test — and its JUnit version is a trap</a:t>
            </a:r>
            <a:endParaRPr lang="en-US" sz="20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Anything with PSI in it boots a real, headless IDE — closer to @SpringBootTest than to a mock.</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Despite the JUnit 4 dependency, it is JUnit-3-STYLE: methods must be named testSomething() and are found by that prefix, not by @Test. An @Test method with a different name silently does not run.</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Anything importing nothing from the platform is plain JUnit 4 — roughly a third of this suite, 25 of 74 test classes.</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No container to boot, milliseconds instead of a second per test — this is what model importing zero IntelliJ types buys, concretely (see Act 3).</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i="1" dirty="0">
                <a:solidFill>
                  <a:srgbClr val="D9531E"/>
                </a:solidFill>
                <a:latin typeface="Calibri" pitchFamily="34" charset="0"/>
                <a:ea typeface="Calibri" pitchFamily="34" charset="-122"/>
                <a:cs typeface="Calibri" pitchFamily="34" charset="-120"/>
              </a:rPr>
              <a:t>A green ./gradlew build is not the same as a working feature.</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Every fixture test builds its subject directly and never touches plugin.xml. A package rename once left three inspection registrations pointing at a deleted package: the build was green, all three were dead in the real IDE. SolrPluginDescriptorTest — plain JUnit, reflection over every plugin.xml class name — closes exactly that gap in milliseconds.</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“BasePlatformTestCase”, “plugin.xml”; docs/how-to/testing-and-the-build-gates.md</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RECAP</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500" b="1" dirty="0">
                <a:solidFill>
                  <a:srgbClr val="1B2340"/>
                </a:solidFill>
                <a:latin typeface="Cambria" pitchFamily="34" charset="0"/>
                <a:ea typeface="Cambria" pitchFamily="34" charset="-122"/>
                <a:cs typeface="Cambria" pitchFamily="34" charset="-120"/>
              </a:rPr>
              <a:t>Four ideas that explain almost everything in Act 1</a:t>
            </a:r>
            <a:endParaRPr lang="en-US" sz="25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1. Extension point = SPI — you implement an interface, plugin.xml names it, the platform calls you.</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2. PSI is a live, mutable AST — which is exactly why this plugin's own model holds none of it.</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3. Dumb mode is an index still importing — decline AND guard, not decline OR guard.</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4. CachedValuesManager wants declared dependencies, not a hand-rolled map you evict yourself.</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marL="228600" indent="-228600">
              <a:lnSpc>
                <a:spcPct val="112000"/>
              </a:lnSpc>
              <a:spcAft>
                <a:spcPts val="1100"/>
              </a:spcAft>
              <a:buSzPct val="100000"/>
              <a:buChar char="•"/>
            </a:pPr>
            <a:r>
              <a:rPr lang="en-US" sz="1500" i="1" dirty="0">
                <a:solidFill>
                  <a:srgbClr val="1B2340"/>
                </a:solidFill>
                <a:latin typeface="Calibri" pitchFamily="34" charset="0"/>
                <a:ea typeface="Calibri" pitchFamily="34" charset="-122"/>
                <a:cs typeface="Calibri" pitchFamily="34" charset="-120"/>
              </a:rPr>
              <a:t>Contributions thin, services fat — every fact Act 1 displayed traces back to a plain function over parsed text or bytecode, tested without booting anything. Act 3 is that services layer.</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03</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CODE LAYOUT</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What lives where,</a:t>
            </a:r>
            <a:endParaRPr lang="en-US" sz="2600" dirty="0"/>
          </a:p>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and the rules that keep it there</a:t>
            </a:r>
            <a:endParaRPr lang="en-US" sz="2600" dirty="0"/>
          </a:p>
        </p:txBody>
      </p:sp>
      <p:sp>
        <p:nvSpPr>
          <p:cNvPr id="6" name="Shape 4"/>
          <p:cNvSpPr/>
          <p:nvPr/>
        </p:nvSpPr>
        <p:spPr>
          <a:xfrm>
            <a:off x="3977640" y="2359152"/>
            <a:ext cx="91440" cy="91440"/>
          </a:xfrm>
          <a:prstGeom prst="ellipse">
            <a:avLst/>
          </a:prstGeom>
          <a:solidFill>
            <a:srgbClr val="FF6B35"/>
          </a:solidFill>
          <a:ln/>
        </p:spPr>
      </p:sp>
      <p:sp>
        <p:nvSpPr>
          <p:cNvPr id="7" name="Text 5"/>
          <p:cNvSpPr/>
          <p:nvPr/>
        </p:nvSpPr>
        <p:spPr>
          <a:xfrm>
            <a:off x="4233672" y="22037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organizing principle — the caret test</a:t>
            </a:r>
            <a:endParaRPr lang="en-US" sz="1300" dirty="0"/>
          </a:p>
        </p:txBody>
      </p:sp>
      <p:sp>
        <p:nvSpPr>
          <p:cNvPr id="8" name="Shape 6"/>
          <p:cNvSpPr/>
          <p:nvPr/>
        </p:nvSpPr>
        <p:spPr>
          <a:xfrm>
            <a:off x="3977640" y="2724912"/>
            <a:ext cx="91440" cy="91440"/>
          </a:xfrm>
          <a:prstGeom prst="ellipse">
            <a:avLst/>
          </a:prstGeom>
          <a:solidFill>
            <a:srgbClr val="FF6B35"/>
          </a:solidFill>
          <a:ln/>
        </p:spPr>
      </p:sp>
      <p:sp>
        <p:nvSpPr>
          <p:cNvPr id="9" name="Text 7"/>
          <p:cNvSpPr/>
          <p:nvPr/>
        </p:nvSpPr>
        <p:spPr>
          <a:xfrm>
            <a:off x="4233672" y="256946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tree, by weight</a:t>
            </a:r>
            <a:endParaRPr lang="en-US" sz="1300" dirty="0"/>
          </a:p>
        </p:txBody>
      </p:sp>
      <p:sp>
        <p:nvSpPr>
          <p:cNvPr id="10" name="Shape 8"/>
          <p:cNvSpPr/>
          <p:nvPr/>
        </p:nvSpPr>
        <p:spPr>
          <a:xfrm>
            <a:off x="3977640" y="3090672"/>
            <a:ext cx="91440" cy="91440"/>
          </a:xfrm>
          <a:prstGeom prst="ellipse">
            <a:avLst/>
          </a:prstGeom>
          <a:solidFill>
            <a:srgbClr val="FF6B35"/>
          </a:solidFill>
          <a:ln/>
        </p:spPr>
      </p:sp>
      <p:sp>
        <p:nvSpPr>
          <p:cNvPr id="11" name="Text 9"/>
          <p:cNvSpPr/>
          <p:nvPr/>
        </p:nvSpPr>
        <p:spPr>
          <a:xfrm>
            <a:off x="4233672" y="293522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model/ — a domain layer with zero platform imports</a:t>
            </a:r>
            <a:endParaRPr lang="en-US" sz="1300" dirty="0"/>
          </a:p>
        </p:txBody>
      </p:sp>
      <p:sp>
        <p:nvSpPr>
          <p:cNvPr id="12" name="Shape 10"/>
          <p:cNvSpPr/>
          <p:nvPr/>
        </p:nvSpPr>
        <p:spPr>
          <a:xfrm>
            <a:off x="3977640" y="3456432"/>
            <a:ext cx="91440" cy="91440"/>
          </a:xfrm>
          <a:prstGeom prst="ellipse">
            <a:avLst/>
          </a:prstGeom>
          <a:solidFill>
            <a:srgbClr val="FF6B35"/>
          </a:solidFill>
          <a:ln/>
        </p:spPr>
      </p:sp>
      <p:sp>
        <p:nvSpPr>
          <p:cNvPr id="13" name="Text 11"/>
          <p:cNvSpPr/>
          <p:nvPr/>
        </p:nvSpPr>
        <p:spPr>
          <a:xfrm>
            <a:off x="4233672" y="330098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one prohibition the whole tree protects</a:t>
            </a:r>
            <a:endParaRPr lang="en-US" sz="1300" dirty="0"/>
          </a:p>
        </p:txBody>
      </p:sp>
      <p:sp>
        <p:nvSpPr>
          <p:cNvPr id="14" name="Shape 12"/>
          <p:cNvSpPr/>
          <p:nvPr/>
        </p:nvSpPr>
        <p:spPr>
          <a:xfrm>
            <a:off x="3977640" y="3822192"/>
            <a:ext cx="91440" cy="91440"/>
          </a:xfrm>
          <a:prstGeom prst="ellipse">
            <a:avLst/>
          </a:prstGeom>
          <a:solidFill>
            <a:srgbClr val="FF6B35"/>
          </a:solidFill>
          <a:ln/>
        </p:spPr>
      </p:sp>
      <p:sp>
        <p:nvSpPr>
          <p:cNvPr id="15" name="Text 13"/>
          <p:cNvSpPr/>
          <p:nvPr/>
        </p:nvSpPr>
        <p:spPr>
          <a:xfrm>
            <a:off x="4233672" y="366674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shared layer — parsing vs. reading</a:t>
            </a:r>
            <a:endParaRPr lang="en-US" sz="1300" dirty="0"/>
          </a:p>
        </p:txBody>
      </p:sp>
      <p:sp>
        <p:nvSpPr>
          <p:cNvPr id="16" name="Shape 14"/>
          <p:cNvSpPr/>
          <p:nvPr/>
        </p:nvSpPr>
        <p:spPr>
          <a:xfrm>
            <a:off x="3977640" y="4187952"/>
            <a:ext cx="91440" cy="91440"/>
          </a:xfrm>
          <a:prstGeom prst="ellipse">
            <a:avLst/>
          </a:prstGeom>
          <a:solidFill>
            <a:srgbClr val="FF6B35"/>
          </a:solidFill>
          <a:ln/>
        </p:spPr>
      </p:sp>
      <p:sp>
        <p:nvSpPr>
          <p:cNvPr id="17" name="Text 15"/>
          <p:cNvSpPr/>
          <p:nvPr/>
        </p:nvSpPr>
        <p:spPr>
          <a:xfrm>
            <a:off x="4233672" y="40325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server/ and where later work goes</a:t>
            </a:r>
            <a:endParaRPr lang="en-US" sz="1300" dirty="0"/>
          </a:p>
        </p:txBody>
      </p:sp>
      <p:sp>
        <p:nvSpPr>
          <p:cNvPr id="19"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The caret test: which file is the user's cursor in when this fires?</a:t>
            </a:r>
            <a:endParaRPr lang="en-US" sz="2200" dirty="0"/>
          </a:p>
        </p:txBody>
      </p:sp>
      <p:sp>
        <p:nvSpPr>
          <p:cNvPr id="4" name="Shape 2"/>
          <p:cNvSpPr/>
          <p:nvPr/>
        </p:nvSpPr>
        <p:spPr>
          <a:xfrm>
            <a:off x="640080" y="1554480"/>
            <a:ext cx="3383280" cy="914400"/>
          </a:xfrm>
          <a:prstGeom prst="roundRect">
            <a:avLst>
              <a:gd name="adj" fmla="val 7000"/>
            </a:avLst>
          </a:prstGeom>
          <a:solidFill>
            <a:srgbClr val="141B3C"/>
          </a:solidFill>
          <a:ln w="12700">
            <a:solidFill>
              <a:srgbClr val="E2E5F0"/>
            </a:solidFill>
            <a:prstDash val="solid"/>
          </a:ln>
        </p:spPr>
      </p:sp>
      <p:sp>
        <p:nvSpPr>
          <p:cNvPr id="5" name="Text 3"/>
          <p:cNvSpPr/>
          <p:nvPr/>
        </p:nvSpPr>
        <p:spPr>
          <a:xfrm>
            <a:off x="731520" y="1627632"/>
            <a:ext cx="3200400" cy="502920"/>
          </a:xfrm>
          <a:prstGeom prst="rect">
            <a:avLst/>
          </a:prstGeom>
          <a:noFill/>
          <a:ln/>
        </p:spPr>
        <p:txBody>
          <a:bodyPr wrap="square" rtlCol="0" anchor="b"/>
          <a:lstStyle/>
          <a:p>
            <a:pPr algn="ctr" indent="0" marL="0">
              <a:buNone/>
            </a:pPr>
            <a:r>
              <a:rPr lang="en-US" sz="1500" b="1" dirty="0">
                <a:solidFill>
                  <a:srgbClr val="FFFFFF"/>
                </a:solidFill>
                <a:latin typeface="Calibri" pitchFamily="34" charset="0"/>
                <a:ea typeface="Calibri" pitchFamily="34" charset="-122"/>
                <a:cs typeface="Calibri" pitchFamily="34" charset="-120"/>
              </a:rPr>
              <a:t>Surface</a:t>
            </a:r>
            <a:endParaRPr lang="en-US" sz="1500" dirty="0"/>
          </a:p>
        </p:txBody>
      </p:sp>
      <p:sp>
        <p:nvSpPr>
          <p:cNvPr id="6" name="Text 4"/>
          <p:cNvSpPr/>
          <p:nvPr/>
        </p:nvSpPr>
        <p:spPr>
          <a:xfrm>
            <a:off x="731520" y="2029968"/>
            <a:ext cx="3200400" cy="40233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configset · server · (code)</a:t>
            </a:r>
            <a:endParaRPr lang="en-US" sz="950" dirty="0"/>
          </a:p>
        </p:txBody>
      </p:sp>
      <p:sp>
        <p:nvSpPr>
          <p:cNvPr id="7" name="Shape 5"/>
          <p:cNvSpPr/>
          <p:nvPr/>
        </p:nvSpPr>
        <p:spPr>
          <a:xfrm>
            <a:off x="4160520" y="1929384"/>
            <a:ext cx="548640" cy="164592"/>
          </a:xfrm>
          <a:prstGeom prst="rightArrow">
            <a:avLst/>
          </a:prstGeom>
          <a:solidFill>
            <a:srgbClr val="FF6B35"/>
          </a:solidFill>
          <a:ln/>
        </p:spPr>
      </p:sp>
      <p:sp>
        <p:nvSpPr>
          <p:cNvPr id="8" name="Shape 6"/>
          <p:cNvSpPr/>
          <p:nvPr/>
        </p:nvSpPr>
        <p:spPr>
          <a:xfrm>
            <a:off x="4800600" y="1554480"/>
            <a:ext cx="3383280" cy="914400"/>
          </a:xfrm>
          <a:prstGeom prst="roundRect">
            <a:avLst>
              <a:gd name="adj" fmla="val 7000"/>
            </a:avLst>
          </a:prstGeom>
          <a:solidFill>
            <a:srgbClr val="1F2A56"/>
          </a:solidFill>
          <a:ln w="12700">
            <a:solidFill>
              <a:srgbClr val="E2E5F0"/>
            </a:solidFill>
            <a:prstDash val="solid"/>
          </a:ln>
        </p:spPr>
      </p:sp>
      <p:sp>
        <p:nvSpPr>
          <p:cNvPr id="9" name="Text 7"/>
          <p:cNvSpPr/>
          <p:nvPr/>
        </p:nvSpPr>
        <p:spPr>
          <a:xfrm>
            <a:off x="4892040" y="1627632"/>
            <a:ext cx="3200400" cy="502920"/>
          </a:xfrm>
          <a:prstGeom prst="rect">
            <a:avLst/>
          </a:prstGeom>
          <a:noFill/>
          <a:ln/>
        </p:spPr>
        <p:txBody>
          <a:bodyPr wrap="square" rtlCol="0" anchor="b"/>
          <a:lstStyle/>
          <a:p>
            <a:pPr algn="ctr" indent="0" marL="0">
              <a:buNone/>
            </a:pPr>
            <a:r>
              <a:rPr lang="en-US" sz="1500" b="1" dirty="0">
                <a:solidFill>
                  <a:srgbClr val="FFFFFF"/>
                </a:solidFill>
                <a:latin typeface="Calibri" pitchFamily="34" charset="0"/>
                <a:ea typeface="Calibri" pitchFamily="34" charset="-122"/>
                <a:cs typeface="Calibri" pitchFamily="34" charset="-120"/>
              </a:rPr>
              <a:t>Subject</a:t>
            </a:r>
            <a:endParaRPr lang="en-US" sz="1500" dirty="0"/>
          </a:p>
        </p:txBody>
      </p:sp>
      <p:sp>
        <p:nvSpPr>
          <p:cNvPr id="10" name="Text 8"/>
          <p:cNvSpPr/>
          <p:nvPr/>
        </p:nvSpPr>
        <p:spPr>
          <a:xfrm>
            <a:off x="4892040" y="2029968"/>
            <a:ext cx="3200400" cy="40233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which Solr thing — schema, solrconfig</a:t>
            </a:r>
            <a:endParaRPr lang="en-US" sz="950" dirty="0"/>
          </a:p>
        </p:txBody>
      </p:sp>
      <p:sp>
        <p:nvSpPr>
          <p:cNvPr id="11" name="Shape 9"/>
          <p:cNvSpPr/>
          <p:nvPr/>
        </p:nvSpPr>
        <p:spPr>
          <a:xfrm>
            <a:off x="8321040" y="1929384"/>
            <a:ext cx="548640" cy="164592"/>
          </a:xfrm>
          <a:prstGeom prst="rightArrow">
            <a:avLst/>
          </a:prstGeom>
          <a:solidFill>
            <a:srgbClr val="FF6B35"/>
          </a:solidFill>
          <a:ln/>
        </p:spPr>
      </p:sp>
      <p:sp>
        <p:nvSpPr>
          <p:cNvPr id="12" name="Shape 10"/>
          <p:cNvSpPr/>
          <p:nvPr/>
        </p:nvSpPr>
        <p:spPr>
          <a:xfrm>
            <a:off x="8961120" y="1554480"/>
            <a:ext cx="2468880" cy="914400"/>
          </a:xfrm>
          <a:prstGeom prst="roundRect">
            <a:avLst>
              <a:gd name="adj" fmla="val 7000"/>
            </a:avLst>
          </a:prstGeom>
          <a:solidFill>
            <a:srgbClr val="FF6B35"/>
          </a:solidFill>
          <a:ln w="12700">
            <a:solidFill>
              <a:srgbClr val="E2E5F0"/>
            </a:solidFill>
            <a:prstDash val="solid"/>
          </a:ln>
        </p:spPr>
      </p:sp>
      <p:sp>
        <p:nvSpPr>
          <p:cNvPr id="13" name="Text 11"/>
          <p:cNvSpPr/>
          <p:nvPr/>
        </p:nvSpPr>
        <p:spPr>
          <a:xfrm>
            <a:off x="9052560" y="1627632"/>
            <a:ext cx="2286000" cy="502920"/>
          </a:xfrm>
          <a:prstGeom prst="rect">
            <a:avLst/>
          </a:prstGeom>
          <a:noFill/>
          <a:ln/>
        </p:spPr>
        <p:txBody>
          <a:bodyPr wrap="square" rtlCol="0" anchor="b"/>
          <a:lstStyle/>
          <a:p>
            <a:pPr algn="ctr" indent="0" marL="0">
              <a:buNone/>
            </a:pPr>
            <a:r>
              <a:rPr lang="en-US" sz="1350" b="1" dirty="0">
                <a:solidFill>
                  <a:srgbClr val="FFFFFF"/>
                </a:solidFill>
                <a:latin typeface="Calibri" pitchFamily="34" charset="0"/>
                <a:ea typeface="Calibri" pitchFamily="34" charset="-122"/>
                <a:cs typeface="Calibri" pitchFamily="34" charset="-120"/>
              </a:rPr>
              <a:t>Gesture</a:t>
            </a:r>
            <a:endParaRPr lang="en-US" sz="1350" dirty="0"/>
          </a:p>
        </p:txBody>
      </p:sp>
      <p:sp>
        <p:nvSpPr>
          <p:cNvPr id="14" name="Text 12"/>
          <p:cNvSpPr/>
          <p:nvPr/>
        </p:nvSpPr>
        <p:spPr>
          <a:xfrm>
            <a:off x="9052560" y="2029968"/>
            <a:ext cx="2286000" cy="402336"/>
          </a:xfrm>
          <a:prstGeom prst="rect">
            <a:avLst/>
          </a:prstGeom>
          <a:noFill/>
          <a:ln/>
        </p:spPr>
        <p:txBody>
          <a:bodyPr wrap="square" rtlCol="0" anchor="t"/>
          <a:lstStyle/>
          <a:p>
            <a:pPr algn="ctr" indent="0" marL="0">
              <a:buNone/>
            </a:pPr>
            <a:r>
              <a:rPr lang="en-US" sz="950" dirty="0">
                <a:solidFill>
                  <a:srgbClr val="FFE4D6"/>
                </a:solidFill>
                <a:latin typeface="Calibri" pitchFamily="34" charset="0"/>
                <a:ea typeface="Calibri" pitchFamily="34" charset="-122"/>
                <a:cs typeface="Calibri" pitchFamily="34" charset="-120"/>
              </a:rPr>
              <a:t>inspection, completion...</a:t>
            </a:r>
            <a:endParaRPr lang="en-US" sz="950" dirty="0"/>
          </a:p>
        </p:txBody>
      </p:sp>
      <p:sp>
        <p:nvSpPr>
          <p:cNvPr id="15" name="Text 13"/>
          <p:cNvSpPr/>
          <p:nvPr/>
        </p:nvSpPr>
        <p:spPr>
          <a:xfrm>
            <a:off x="640080" y="2788920"/>
            <a:ext cx="10881360" cy="457200"/>
          </a:xfrm>
          <a:prstGeom prst="rect">
            <a:avLst/>
          </a:prstGeom>
          <a:noFill/>
          <a:ln/>
        </p:spPr>
        <p:txBody>
          <a:bodyPr wrap="square" rtlCol="0" anchor="ctr"/>
          <a:lstStyle/>
          <a:p>
            <a:pPr indent="0" marL="0">
              <a:buNone/>
            </a:pPr>
            <a:r>
              <a:rPr lang="en-US" sz="1450" i="1" dirty="0">
                <a:solidFill>
                  <a:srgbClr val="5B6478"/>
                </a:solidFill>
                <a:latin typeface="Calibri" pitchFamily="34" charset="0"/>
                <a:ea typeface="Calibri" pitchFamily="34" charset="-122"/>
                <a:cs typeface="Calibri" pitchFamily="34" charset="-120"/>
              </a:rPr>
              <a:t>“A capability falls under an aspect when the caret that triggers it is always in that aspect's file.”</a:t>
            </a:r>
            <a:endParaRPr lang="en-US" sz="1450" dirty="0"/>
          </a:p>
        </p:txBody>
      </p:sp>
      <p:sp>
        <p:nvSpPr>
          <p:cNvPr id="16" name="Shape 14"/>
          <p:cNvSpPr/>
          <p:nvPr/>
        </p:nvSpPr>
        <p:spPr>
          <a:xfrm>
            <a:off x="640080" y="3520440"/>
            <a:ext cx="5120640" cy="1417320"/>
          </a:xfrm>
          <a:prstGeom prst="roundRect">
            <a:avLst>
              <a:gd name="adj" fmla="val 4516"/>
            </a:avLst>
          </a:prstGeom>
          <a:solidFill>
            <a:srgbClr val="FFFFFF"/>
          </a:solidFill>
          <a:ln w="12700">
            <a:solidFill>
              <a:srgbClr val="E2E5F0"/>
            </a:solidFill>
            <a:prstDash val="solid"/>
          </a:ln>
        </p:spPr>
      </p:sp>
      <p:sp>
        <p:nvSpPr>
          <p:cNvPr id="17" name="Text 15"/>
          <p:cNvSpPr/>
          <p:nvPr/>
        </p:nvSpPr>
        <p:spPr>
          <a:xfrm>
            <a:off x="731520" y="3593592"/>
            <a:ext cx="4937760" cy="779526"/>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Single-file capability</a:t>
            </a:r>
            <a:endParaRPr lang="en-US" sz="1400" dirty="0"/>
          </a:p>
        </p:txBody>
      </p:sp>
      <p:sp>
        <p:nvSpPr>
          <p:cNvPr id="18" name="Text 16"/>
          <p:cNvSpPr/>
          <p:nvPr/>
        </p:nvSpPr>
        <p:spPr>
          <a:xfrm>
            <a:off x="731520" y="4257446"/>
            <a:ext cx="493776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inspection · completion · reference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lives inside schema/ or solrconfig/</a:t>
            </a:r>
            <a:endParaRPr lang="en-US" sz="950" dirty="0"/>
          </a:p>
        </p:txBody>
      </p:sp>
      <p:sp>
        <p:nvSpPr>
          <p:cNvPr id="19" name="Shape 17"/>
          <p:cNvSpPr/>
          <p:nvPr/>
        </p:nvSpPr>
        <p:spPr>
          <a:xfrm>
            <a:off x="6035040" y="3520440"/>
            <a:ext cx="5486400" cy="1417320"/>
          </a:xfrm>
          <a:prstGeom prst="roundRect">
            <a:avLst>
              <a:gd name="adj" fmla="val 4516"/>
            </a:avLst>
          </a:prstGeom>
          <a:solidFill>
            <a:srgbClr val="FFFFFF"/>
          </a:solidFill>
          <a:ln w="12700">
            <a:solidFill>
              <a:srgbClr val="E2E5F0"/>
            </a:solidFill>
            <a:prstDash val="solid"/>
          </a:ln>
        </p:spPr>
      </p:sp>
      <p:sp>
        <p:nvSpPr>
          <p:cNvPr id="20" name="Text 18"/>
          <p:cNvSpPr/>
          <p:nvPr/>
        </p:nvSpPr>
        <p:spPr>
          <a:xfrm>
            <a:off x="6126480" y="3593592"/>
            <a:ext cx="5303520" cy="779526"/>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Cross-file capability</a:t>
            </a:r>
            <a:endParaRPr lang="en-US" sz="1400" dirty="0"/>
          </a:p>
        </p:txBody>
      </p:sp>
      <p:sp>
        <p:nvSpPr>
          <p:cNvPr id="21" name="Text 19"/>
          <p:cNvSpPr/>
          <p:nvPr/>
        </p:nvSpPr>
        <p:spPr>
          <a:xfrm>
            <a:off x="6126480" y="4257446"/>
            <a:ext cx="530352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Find Usages · rename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lives at the configset ROOT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configset.navigation</a:t>
            </a:r>
            <a:endParaRPr lang="en-US" sz="950" dirty="0"/>
          </a:p>
        </p:txBody>
      </p:sp>
      <p:sp>
        <p:nvSpPr>
          <p:cNvPr id="22" name="Text 20"/>
          <p:cNvSpPr/>
          <p:nvPr/>
        </p:nvSpPr>
        <p:spPr>
          <a:xfrm>
            <a:off x="640080" y="5257800"/>
            <a:ext cx="10881360" cy="502920"/>
          </a:xfrm>
          <a:prstGeom prst="rect">
            <a:avLst/>
          </a:prstGeom>
          <a:solidFill>
            <a:srgbClr val="141B3C"/>
          </a:solidFill>
          <a:ln/>
        </p:spPr>
        <p:txBody>
          <a:bodyPr wrap="square" rtlCol="0" anchor="ctr"/>
          <a:lstStyle/>
          <a:p>
            <a:pPr algn="ctr" indent="0" marL="0">
              <a:buNone/>
            </a:pPr>
            <a:r>
              <a:rPr lang="en-US" sz="1500" dirty="0">
                <a:solidFill>
                  <a:srgbClr val="FFFFFF"/>
                </a:solidFill>
                <a:latin typeface="Courier New" pitchFamily="34" charset="0"/>
                <a:ea typeface="Courier New" pitchFamily="34" charset="-122"/>
                <a:cs typeface="Courier New" pitchFamily="34" charset="-120"/>
              </a:rPr>
              <a:t>configset.schema  ↔  configset.solrconfig  —  never import each other, either direction</a:t>
            </a:r>
            <a:endParaRPr lang="en-US" sz="1500" dirty="0"/>
          </a:p>
        </p:txBody>
      </p:sp>
      <p:sp>
        <p:nvSpPr>
          <p:cNvPr id="23" name="Text 21"/>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“The organising principle”</a:t>
            </a:r>
            <a:endParaRPr lang="en-US" sz="950" dirty="0"/>
          </a:p>
        </p:txBody>
      </p:sp>
      <p:sp>
        <p:nvSpPr>
          <p:cNvPr id="25" name="Text 2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org.apache.solr.ide, by weight</a:t>
            </a:r>
            <a:endParaRPr lang="en-US" sz="2300" dirty="0"/>
          </a:p>
        </p:txBody>
      </p:sp>
      <p:sp>
        <p:nvSpPr>
          <p:cNvPr id="4" name="Text 2"/>
          <p:cNvSpPr/>
          <p:nvPr/>
        </p:nvSpPr>
        <p:spPr>
          <a:xfrm>
            <a:off x="640080" y="1536192"/>
            <a:ext cx="4206240" cy="4572000"/>
          </a:xfrm>
          <a:prstGeom prst="rect">
            <a:avLst/>
          </a:prstGeom>
          <a:noFill/>
          <a:ln/>
        </p:spPr>
        <p:txBody>
          <a:bodyPr wrap="square" rtlCol="0" anchor="t"/>
          <a:lstStyle/>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model — zero IntelliJ types anywhere.</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schema/ what a field IS · vocabulary/ what a FILE may contain</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configset — the files in the repository.</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activation, reading, editing, navigation (shared) · schema/ (9 leaf packages) · solrconfig/ (6, catching up)</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server — connection settings only, today.</a:t>
            </a:r>
            <a:endParaRPr lang="en-US" sz="1300" dirty="0"/>
          </a:p>
        </p:txBody>
      </p:sp>
      <p:sp>
        <p:nvSpPr>
          <p:cNvPr id="5" name="Shape 3"/>
          <p:cNvSpPr/>
          <p:nvPr/>
        </p:nvSpPr>
        <p:spPr>
          <a:xfrm>
            <a:off x="5074920" y="1536192"/>
            <a:ext cx="6035040" cy="3291840"/>
          </a:xfrm>
          <a:prstGeom prst="roundRect">
            <a:avLst>
              <a:gd name="adj" fmla="val 2222"/>
            </a:avLst>
          </a:prstGeom>
          <a:solidFill>
            <a:srgbClr val="141B3C"/>
          </a:solidFill>
          <a:ln/>
          <a:effectLst>
            <a:outerShdw sx="100000" sy="100000" kx="0" ky="0" algn="bl" rotWithShape="0" blurRad="127000" dist="25400" dir="5400000">
              <a:srgbClr val="1B2340">
                <a:alpha val="22000"/>
              </a:srgbClr>
            </a:outerShdw>
          </a:effectLst>
        </p:spPr>
      </p:sp>
      <p:sp>
        <p:nvSpPr>
          <p:cNvPr id="6" name="Text 4"/>
          <p:cNvSpPr/>
          <p:nvPr/>
        </p:nvSpPr>
        <p:spPr>
          <a:xfrm>
            <a:off x="5303520" y="1737360"/>
            <a:ext cx="5577840" cy="2926080"/>
          </a:xfrm>
          <a:prstGeom prst="rect">
            <a:avLst/>
          </a:prstGeom>
          <a:noFill/>
          <a:ln/>
        </p:spPr>
        <p:txBody>
          <a:bodyPr wrap="square" rtlCol="0" anchor="t"/>
          <a:lstStyle/>
          <a:p>
            <a:pPr indent="0" marL="0">
              <a:lnSpc>
                <a:spcPct val="110000"/>
              </a:lnSpc>
              <a:buNone/>
            </a:pPr>
            <a:r>
              <a:rPr lang="en-US" sz="1200" b="1" dirty="0">
                <a:solidFill>
                  <a:srgbClr val="FFFFFF"/>
                </a:solidFill>
                <a:latin typeface="Courier New" pitchFamily="34" charset="0"/>
                <a:ea typeface="Courier New" pitchFamily="34" charset="-122"/>
                <a:cs typeface="Courier New" pitchFamily="34" charset="-120"/>
              </a:rPr>
              <a:t>org.apache.solr.ide</a:t>
            </a:r>
            <a:endParaRPr lang="en-US" sz="1200" dirty="0"/>
          </a:p>
          <a:p>
            <a:pPr indent="0" marL="0">
              <a:lnSpc>
                <a:spcPct val="110000"/>
              </a:lnSpc>
              <a:buNone/>
            </a:pPr>
            <a:r>
              <a:rPr lang="en-US" sz="1200" dirty="0">
                <a:solidFill>
                  <a:srgbClr val="FF6B35"/>
                </a:solidFill>
                <a:latin typeface="Courier New" pitchFamily="34" charset="0"/>
                <a:ea typeface="Courier New" pitchFamily="34" charset="-122"/>
                <a:cs typeface="Courier New" pitchFamily="34" charset="-120"/>
              </a:rPr>
              <a:t>├─ model/          schema, vocabulary  (no IJ types)</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configset/</a:t>
            </a:r>
            <a:endParaRPr lang="en-US" sz="1200" dirty="0"/>
          </a:p>
          <a:p>
            <a:pPr indent="0" marL="0">
              <a:lnSpc>
                <a:spcPct val="110000"/>
              </a:lnSpc>
              <a:buNone/>
            </a:pPr>
            <a:r>
              <a:rPr lang="en-US" sz="1200" dirty="0">
                <a:solidFill>
                  <a:srgbClr val="FFFFFF"/>
                </a:solidFill>
                <a:latin typeface="Courier New" pitchFamily="34" charset="0"/>
                <a:ea typeface="Courier New" pitchFamily="34" charset="-122"/>
                <a:cs typeface="Courier New" pitchFamily="34" charset="-120"/>
              </a:rPr>
              <a:t>│  ├─ activation/   is this even a Solr project?</a:t>
            </a:r>
            <a:endParaRPr lang="en-US" sz="1200" dirty="0"/>
          </a:p>
          <a:p>
            <a:pPr indent="0" marL="0">
              <a:lnSpc>
                <a:spcPct val="110000"/>
              </a:lnSpc>
              <a:buNone/>
            </a:pPr>
            <a:r>
              <a:rPr lang="en-US" sz="1200" dirty="0">
                <a:solidFill>
                  <a:srgbClr val="FFFFFF"/>
                </a:solidFill>
                <a:latin typeface="Courier New" pitchFamily="34" charset="0"/>
                <a:ea typeface="Courier New" pitchFamily="34" charset="-122"/>
                <a:cs typeface="Courier New" pitchFamily="34" charset="-120"/>
              </a:rPr>
              <a:t>│  ├─ reading/      directory → one model, cached</a:t>
            </a:r>
            <a:endParaRPr lang="en-US" sz="1200" dirty="0"/>
          </a:p>
          <a:p>
            <a:pPr indent="0" marL="0">
              <a:lnSpc>
                <a:spcPct val="110000"/>
              </a:lnSpc>
              <a:buNone/>
            </a:pPr>
            <a:r>
              <a:rPr lang="en-US" sz="1200" dirty="0">
                <a:solidFill>
                  <a:srgbClr val="FFFFFF"/>
                </a:solidFill>
                <a:latin typeface="Courier New" pitchFamily="34" charset="0"/>
                <a:ea typeface="Courier New" pitchFamily="34" charset="-122"/>
                <a:cs typeface="Courier New" pitchFamily="34" charset="-120"/>
              </a:rPr>
              <a:t>│  ├─ editing/      guard rails, both aspects share</a:t>
            </a:r>
            <a:endParaRPr lang="en-US" sz="1200" dirty="0"/>
          </a:p>
          <a:p>
            <a:pPr indent="0" marL="0">
              <a:lnSpc>
                <a:spcPct val="110000"/>
              </a:lnSpc>
              <a:buNone/>
            </a:pPr>
            <a:r>
              <a:rPr lang="en-US" sz="1200" dirty="0">
                <a:solidFill>
                  <a:srgbClr val="FFFFFF"/>
                </a:solidFill>
                <a:latin typeface="Courier New" pitchFamily="34" charset="0"/>
                <a:ea typeface="Courier New" pitchFamily="34" charset="-122"/>
                <a:cs typeface="Courier New" pitchFamily="34" charset="-120"/>
              </a:rPr>
              <a:t>│  ├─ navigation/   Find Usages, rename  (shared)</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 schema/       inspection·completion·intention·</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              reference·documentation·hint·</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              descriptor·annotator·parsing</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 solrconfig/   parsing·inspection·completion·</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reference·descriptor·documentation</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server/</a:t>
            </a:r>
            <a:endParaRPr lang="en-US" sz="1200" dirty="0"/>
          </a:p>
          <a:p>
            <a:pPr indent="0" marL="0">
              <a:lnSpc>
                <a:spcPct val="110000"/>
              </a:lnSpc>
              <a:buNone/>
            </a:pPr>
            <a:r>
              <a:rPr lang="en-US" sz="1200" dirty="0">
                <a:solidFill>
                  <a:srgbClr val="8C97C4"/>
                </a:solidFill>
                <a:latin typeface="Courier New" pitchFamily="34" charset="0"/>
                <a:ea typeface="Courier New" pitchFamily="34" charset="-122"/>
                <a:cs typeface="Courier New" pitchFamily="34" charset="-120"/>
              </a:rPr>
              <a:t>   └─ connection/   settings only — no client yet</a:t>
            </a:r>
            <a:endParaRPr lang="en-US" sz="1200" dirty="0"/>
          </a:p>
        </p:txBody>
      </p:sp>
      <p:sp>
        <p:nvSpPr>
          <p:cNvPr id="7" name="Text 5"/>
          <p:cNvSpPr/>
          <p:nvPr/>
        </p:nvSpPr>
        <p:spPr>
          <a:xfrm>
            <a:off x="5074920" y="4965192"/>
            <a:ext cx="6035040" cy="822960"/>
          </a:xfrm>
          <a:prstGeom prst="rect">
            <a:avLst/>
          </a:prstGeom>
          <a:noFill/>
          <a:ln/>
        </p:spPr>
        <p:txBody>
          <a:bodyPr wrap="square" rtlCol="0" anchor="t"/>
          <a:lstStyle/>
          <a:p>
            <a:pPr indent="0" marL="0">
              <a:buNone/>
            </a:pPr>
            <a:r>
              <a:rPr lang="en-US" sz="1000" i="1" dirty="0">
                <a:solidFill>
                  <a:srgbClr val="5B6478"/>
                </a:solidFill>
                <a:latin typeface="Calibri" pitchFamily="34" charset="0"/>
                <a:ea typeface="Calibri" pitchFamily="34" charset="-122"/>
                <a:cs typeface="Calibri" pitchFamily="34" charset="-120"/>
              </a:rPr>
              <a:t>Counts are files, to show weight, not to be kept current — and were counted directly against the source tree this session (75 .kt files under org.apache.solr.ide) rather than copied from an older figure.</a:t>
            </a:r>
            <a:endParaRPr lang="en-US" sz="1000" dirty="0"/>
          </a:p>
        </p:txBody>
      </p:sp>
      <p:sp>
        <p:nvSpPr>
          <p:cNvPr id="8" name="Text 6"/>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“The tree”; src/main/kotlin/org/apache/solr/ide/ (counted this session)</a:t>
            </a:r>
            <a:endParaRPr lang="en-US" sz="950" dirty="0"/>
          </a:p>
        </p:txBody>
      </p:sp>
      <p:sp>
        <p:nvSpPr>
          <p:cNvPr id="10" name="Text 7"/>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1900" b="1" dirty="0">
                <a:solidFill>
                  <a:srgbClr val="1B2340"/>
                </a:solidFill>
                <a:latin typeface="Cambria" pitchFamily="34" charset="0"/>
                <a:ea typeface="Cambria" pitchFamily="34" charset="-122"/>
                <a:cs typeface="Cambria" pitchFamily="34" charset="-120"/>
              </a:rPr>
              <a:t>model — a domain layer with zero platform imports, the way a POJO domain stays free of @Entity</a:t>
            </a:r>
            <a:endParaRPr lang="en-US" sz="19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i="1" dirty="0">
                <a:solidFill>
                  <a:srgbClr val="D9531E"/>
                </a:solidFill>
                <a:latin typeface="Calibri" pitchFamily="34" charset="0"/>
                <a:ea typeface="Calibri" pitchFamily="34" charset="-122"/>
                <a:cs typeface="Calibri" pitchFamily="34" charset="-120"/>
              </a:rPr>
              <a:t>“Nothing in model imports an IntelliJ type.”</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Load-bearing, not stylistic: 25 of the repo's 74 test files — roughly a third — are plain JUnit 4 precisely because of it. No fixture, no headless IDE, milliseconds instead of a second per test.</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model.schema — what a field IS, whichever source described it.</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SolrFieldModel merges a repository half and a server half into one SolrFact per property, reporting how they agree rather than resolving the disagreement away — filed here because it belongs to BOTH surfaces equally.</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model.vocabulary — what a FILE may legally contain.</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SolrClassCatalog, SolrElementCatalog, SolrParameterCatalog — all generated at build time, never hand-written.</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“The organising principle”; docs/glossary.md “data class”; model/SolrFieldModel.kt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000" b="1" dirty="0">
                <a:solidFill>
                  <a:srgbClr val="1B2340"/>
                </a:solidFill>
                <a:latin typeface="Cambria" pitchFamily="34" charset="0"/>
                <a:ea typeface="Cambria" pitchFamily="34" charset="-122"/>
                <a:cs typeface="Cambria" pitchFamily="34" charset="-120"/>
              </a:rPr>
              <a:t>The same completion contributor shape, enforcing a boundary neither aspect may cross</a:t>
            </a:r>
            <a:endParaRPr lang="en-US" sz="2000" dirty="0"/>
          </a:p>
        </p:txBody>
      </p:sp>
      <p:sp>
        <p:nvSpPr>
          <p:cNvPr id="4" name="Text 2"/>
          <p:cNvSpPr/>
          <p:nvPr/>
        </p:nvSpPr>
        <p:spPr>
          <a:xfrm>
            <a:off x="640080" y="1554480"/>
            <a:ext cx="4114800" cy="4206240"/>
          </a:xfrm>
          <a:prstGeom prst="rect">
            <a:avLst/>
          </a:prstGeom>
          <a:noFill/>
          <a:ln/>
        </p:spPr>
        <p:txBody>
          <a:bodyPr wrap="square" rtlCol="0" anchor="t"/>
          <a:lstStyle/>
          <a:p>
            <a:pPr indent="0" marL="0">
              <a:lnSpc>
                <a:spcPct val="112000"/>
              </a:lnSpc>
              <a:buNone/>
            </a:pPr>
            <a:r>
              <a:rPr lang="en-US" sz="1050" b="1" dirty="0">
                <a:solidFill>
                  <a:srgbClr val="D9531E"/>
                </a:solidFill>
                <a:latin typeface="Calibri" pitchFamily="34" charset="0"/>
                <a:ea typeface="Calibri" pitchFamily="34" charset="-122"/>
                <a:cs typeface="Calibri" pitchFamily="34" charset="-120"/>
              </a:rPr>
              <a:t>THE ARGUMENT, IN THE SOURCE'S OWN WORDS</a:t>
            </a:r>
            <a:endParaRPr lang="en-US" sz="1050" dirty="0"/>
          </a:p>
          <a:p>
            <a:pPr indent="0" marL="0">
              <a:lnSpc>
                <a:spcPct val="112000"/>
              </a:lnSpc>
              <a:spcAft>
                <a:spcPts val="1000"/>
              </a:spcAft>
              <a:buNone/>
            </a:pPr>
            <a:r>
              <a:rPr lang="en-US" sz="1300" i="1" dirty="0">
                <a:solidFill>
                  <a:srgbClr val="1B2340"/>
                </a:solidFill>
                <a:latin typeface="Calibri" pitchFamily="34" charset="0"/>
                <a:ea typeface="Calibri" pitchFamily="34" charset="-122"/>
                <a:cs typeface="Calibri" pitchFamily="34" charset="-120"/>
              </a:rPr>
              <a:t>“configset.schema and configset.solrconfig must never import each other — one-directional, not a ban on the two appearing together.”</a:t>
            </a:r>
            <a:endParaRPr lang="en-US" sz="1050" dirty="0"/>
          </a:p>
          <a:p>
            <a:pPr indent="0" marL="0">
              <a:lnSpc>
                <a:spcPct val="112000"/>
              </a:lnSpc>
              <a:spcAft>
                <a:spcPts val="1000"/>
              </a:spcAft>
              <a:buNone/>
            </a:pPr>
            <a:r>
              <a:rPr lang="en-US" sz="1250" dirty="0">
                <a:solidFill>
                  <a:srgbClr val="1B2340"/>
                </a:solidFill>
                <a:latin typeface="Calibri" pitchFamily="34" charset="0"/>
                <a:ea typeface="Calibri" pitchFamily="34" charset="-122"/>
                <a:cs typeface="Calibri" pitchFamily="34" charset="-120"/>
              </a:rPr>
              <a:t>Completion answers the identical question — “what may legally be written here?” — in both files, from two separate contributors that share no import between them.</a:t>
            </a:r>
            <a:endParaRPr lang="en-US" sz="1050" dirty="0"/>
          </a:p>
          <a:p>
            <a:pPr indent="0" marL="0">
              <a:lnSpc>
                <a:spcPct val="112000"/>
              </a:lnSpc>
              <a:buNone/>
            </a:pPr>
            <a:r>
              <a:rPr lang="en-US" sz="1250" dirty="0">
                <a:solidFill>
                  <a:srgbClr val="1B2340"/>
                </a:solidFill>
                <a:latin typeface="Calibri" pitchFamily="34" charset="0"/>
                <a:ea typeface="Calibri" pitchFamily="34" charset="-122"/>
                <a:cs typeface="Calibri" pitchFamily="34" charset="-120"/>
              </a:rPr>
              <a:t>Left: attribute completion inside &lt;field&gt; (schema aspect). Right: element completion inside &lt;config&gt; (solrconfig aspect). Same shape of capability, same caret-in-one-file test — filed on opposite sides of a wall neither may cross.</a:t>
            </a:r>
            <a:endParaRPr lang="en-US" sz="1050" dirty="0"/>
          </a:p>
        </p:txBody>
      </p:sp>
      <p:sp>
        <p:nvSpPr>
          <p:cNvPr id="5" name="Text 3"/>
          <p:cNvSpPr/>
          <p:nvPr/>
        </p:nvSpPr>
        <p:spPr>
          <a:xfrm>
            <a:off x="4983480" y="1399032"/>
            <a:ext cx="3246120" cy="256032"/>
          </a:xfrm>
          <a:prstGeom prst="rect">
            <a:avLst/>
          </a:prstGeom>
          <a:noFill/>
          <a:ln/>
        </p:spPr>
        <p:txBody>
          <a:bodyPr wrap="square" rtlCol="0" anchor="ctr"/>
          <a:lstStyle/>
          <a:p>
            <a:pPr algn="ctr" indent="0" marL="0">
              <a:buNone/>
            </a:pPr>
            <a:r>
              <a:rPr lang="en-US" sz="1050" b="1" dirty="0">
                <a:solidFill>
                  <a:srgbClr val="D9531E"/>
                </a:solidFill>
                <a:latin typeface="Calibri" pitchFamily="34" charset="0"/>
                <a:ea typeface="Calibri" pitchFamily="34" charset="-122"/>
                <a:cs typeface="Calibri" pitchFamily="34" charset="-120"/>
              </a:rPr>
              <a:t>configset.schema.completion</a:t>
            </a:r>
            <a:endParaRPr lang="en-US" sz="1050" dirty="0"/>
          </a:p>
        </p:txBody>
      </p:sp>
      <p:sp>
        <p:nvSpPr>
          <p:cNvPr id="6" name="Shape 4"/>
          <p:cNvSpPr/>
          <p:nvPr/>
        </p:nvSpPr>
        <p:spPr>
          <a:xfrm>
            <a:off x="4892040" y="2175798"/>
            <a:ext cx="3429000" cy="997643"/>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7" name="Image 0" descr="/Users/adityaparikh/IdeaProjects/solr-intellij-plugin/docs/images/05-completion-field-properties.png">    </p:cNvPr>
          <p:cNvPicPr>
            <a:picLocks noChangeAspect="1"/>
          </p:cNvPicPr>
          <p:nvPr/>
        </p:nvPicPr>
        <p:blipFill>
          <a:blip r:embed="rId1"/>
          <a:stretch>
            <a:fillRect/>
          </a:stretch>
        </p:blipFill>
        <p:spPr>
          <a:xfrm>
            <a:off x="4983480" y="2267238"/>
            <a:ext cx="3246120" cy="814763"/>
          </a:xfrm>
          <a:prstGeom prst="rect">
            <a:avLst/>
          </a:prstGeom>
        </p:spPr>
      </p:pic>
      <p:sp>
        <p:nvSpPr>
          <p:cNvPr id="8" name="Text 5"/>
          <p:cNvSpPr/>
          <p:nvPr/>
        </p:nvSpPr>
        <p:spPr>
          <a:xfrm>
            <a:off x="8458200" y="1399032"/>
            <a:ext cx="3246120" cy="256032"/>
          </a:xfrm>
          <a:prstGeom prst="rect">
            <a:avLst/>
          </a:prstGeom>
          <a:noFill/>
          <a:ln/>
        </p:spPr>
        <p:txBody>
          <a:bodyPr wrap="square" rtlCol="0" anchor="ctr"/>
          <a:lstStyle/>
          <a:p>
            <a:pPr algn="ctr" indent="0" marL="0">
              <a:buNone/>
            </a:pPr>
            <a:r>
              <a:rPr lang="en-US" sz="1050" b="1" dirty="0">
                <a:solidFill>
                  <a:srgbClr val="D9531E"/>
                </a:solidFill>
                <a:latin typeface="Calibri" pitchFamily="34" charset="0"/>
                <a:ea typeface="Calibri" pitchFamily="34" charset="-122"/>
                <a:cs typeface="Calibri" pitchFamily="34" charset="-120"/>
              </a:rPr>
              <a:t>configset.solrconfig.completion</a:t>
            </a:r>
            <a:endParaRPr lang="en-US" sz="1050" dirty="0"/>
          </a:p>
        </p:txBody>
      </p:sp>
      <p:sp>
        <p:nvSpPr>
          <p:cNvPr id="9" name="Shape 6"/>
          <p:cNvSpPr/>
          <p:nvPr/>
        </p:nvSpPr>
        <p:spPr>
          <a:xfrm>
            <a:off x="8935302" y="1600200"/>
            <a:ext cx="2291915" cy="2148840"/>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10" name="Image 1" descr="/Users/adityaparikh/IdeaProjects/solr-intellij-plugin/docs/images/10-completion-solrconfig-structure.png">    </p:cNvPr>
          <p:cNvPicPr>
            <a:picLocks noChangeAspect="1"/>
          </p:cNvPicPr>
          <p:nvPr/>
        </p:nvPicPr>
        <p:blipFill>
          <a:blip r:embed="rId2"/>
          <a:stretch>
            <a:fillRect/>
          </a:stretch>
        </p:blipFill>
        <p:spPr>
          <a:xfrm>
            <a:off x="9026742" y="1691640"/>
            <a:ext cx="2109035" cy="1965960"/>
          </a:xfrm>
          <a:prstGeom prst="rect">
            <a:avLst/>
          </a:prstGeom>
        </p:spPr>
      </p:pic>
      <p:sp>
        <p:nvSpPr>
          <p:cNvPr id="11" name="Shape 7"/>
          <p:cNvSpPr/>
          <p:nvPr/>
        </p:nvSpPr>
        <p:spPr>
          <a:xfrm>
            <a:off x="4983480" y="3977640"/>
            <a:ext cx="6309360" cy="777240"/>
          </a:xfrm>
          <a:prstGeom prst="rect">
            <a:avLst/>
          </a:prstGeom>
          <a:solidFill>
            <a:srgbClr val="141B3C"/>
          </a:solidFill>
          <a:ln/>
        </p:spPr>
      </p:sp>
      <p:sp>
        <p:nvSpPr>
          <p:cNvPr id="12" name="Text 8"/>
          <p:cNvSpPr/>
          <p:nvPr/>
        </p:nvSpPr>
        <p:spPr>
          <a:xfrm>
            <a:off x="5120640" y="3977640"/>
            <a:ext cx="6035040" cy="777240"/>
          </a:xfrm>
          <a:prstGeom prst="rect">
            <a:avLst/>
          </a:prstGeom>
          <a:noFill/>
          <a:ln/>
        </p:spPr>
        <p:txBody>
          <a:bodyPr wrap="square" rtlCol="0" anchor="ctr"/>
          <a:lstStyle/>
          <a:p>
            <a:pPr algn="ctr" indent="0" marL="0">
              <a:buNone/>
            </a:pPr>
            <a:r>
              <a:rPr lang="en-US" sz="1400" dirty="0">
                <a:solidFill>
                  <a:srgbClr val="FFFFFF"/>
                </a:solidFill>
                <a:latin typeface="Courier New" pitchFamily="34" charset="0"/>
                <a:ea typeface="Courier New" pitchFamily="34" charset="-122"/>
                <a:cs typeface="Courier New" pitchFamily="34" charset="-120"/>
              </a:rPr>
              <a:t>configset.schema  ↔  configset.solrconfig  —  never import each other</a:t>
            </a:r>
            <a:endParaRPr lang="en-US" sz="1400" dirty="0"/>
          </a:p>
        </p:txBody>
      </p:sp>
      <p:sp>
        <p:nvSpPr>
          <p:cNvPr id="13" name="Text 9"/>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docs/code-organization.md “configset.schema.completion and configset.solrconfig.completion”; SolrSchemaCompletionContributor.kt; SolrConfigElementDescriptorProvider.kt</a:t>
            </a:r>
            <a:endParaRPr lang="en-US" sz="900" dirty="0"/>
          </a:p>
        </p:txBody>
      </p:sp>
      <p:sp>
        <p:nvSpPr>
          <p:cNvPr id="15" name="Text 1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parsing vs. reading: the boundary is exactly where the platform enters</a:t>
            </a:r>
            <a:endParaRPr lang="en-US" sz="2200" dirty="0"/>
          </a:p>
        </p:txBody>
      </p:sp>
      <p:sp>
        <p:nvSpPr>
          <p:cNvPr id="4" name="Shape 2"/>
          <p:cNvSpPr/>
          <p:nvPr/>
        </p:nvSpPr>
        <p:spPr>
          <a:xfrm>
            <a:off x="548640" y="1417320"/>
            <a:ext cx="2468880" cy="822960"/>
          </a:xfrm>
          <a:prstGeom prst="roundRect">
            <a:avLst>
              <a:gd name="adj" fmla="val 7778"/>
            </a:avLst>
          </a:prstGeom>
          <a:solidFill>
            <a:srgbClr val="F6F7FB"/>
          </a:solidFill>
          <a:ln w="12700">
            <a:solidFill>
              <a:srgbClr val="E2E5F0"/>
            </a:solidFill>
            <a:prstDash val="solid"/>
          </a:ln>
        </p:spPr>
      </p:sp>
      <p:sp>
        <p:nvSpPr>
          <p:cNvPr id="5" name="Text 3"/>
          <p:cNvSpPr/>
          <p:nvPr/>
        </p:nvSpPr>
        <p:spPr>
          <a:xfrm>
            <a:off x="640080" y="1417320"/>
            <a:ext cx="2286000" cy="822960"/>
          </a:xfrm>
          <a:prstGeom prst="rect">
            <a:avLst/>
          </a:prstGeom>
          <a:noFill/>
          <a:ln/>
        </p:spPr>
        <p:txBody>
          <a:bodyPr wrap="square" rtlCol="0" anchor="ctr"/>
          <a:lstStyle/>
          <a:p>
            <a:pPr algn="ctr" indent="0" marL="0">
              <a:buNone/>
            </a:pPr>
            <a:r>
              <a:rPr lang="en-US" sz="1150" b="1" dirty="0">
                <a:solidFill>
                  <a:srgbClr val="1B2340"/>
                </a:solidFill>
                <a:latin typeface="Calibri" pitchFamily="34" charset="0"/>
                <a:ea typeface="Calibri" pitchFamily="34" charset="-122"/>
                <a:cs typeface="Calibri" pitchFamily="34" charset="-120"/>
              </a:rPr>
              <a:t>managed-schema.xml</a:t>
            </a:r>
            <a:endParaRPr lang="en-US" sz="1150" dirty="0"/>
          </a:p>
        </p:txBody>
      </p:sp>
      <p:sp>
        <p:nvSpPr>
          <p:cNvPr id="6" name="Shape 4"/>
          <p:cNvSpPr/>
          <p:nvPr/>
        </p:nvSpPr>
        <p:spPr>
          <a:xfrm>
            <a:off x="548640" y="2468880"/>
            <a:ext cx="2468880" cy="822960"/>
          </a:xfrm>
          <a:prstGeom prst="roundRect">
            <a:avLst>
              <a:gd name="adj" fmla="val 7778"/>
            </a:avLst>
          </a:prstGeom>
          <a:solidFill>
            <a:srgbClr val="F6F7FB"/>
          </a:solidFill>
          <a:ln w="12700">
            <a:solidFill>
              <a:srgbClr val="E2E5F0"/>
            </a:solidFill>
            <a:prstDash val="solid"/>
          </a:ln>
        </p:spPr>
      </p:sp>
      <p:sp>
        <p:nvSpPr>
          <p:cNvPr id="7" name="Text 5"/>
          <p:cNvSpPr/>
          <p:nvPr/>
        </p:nvSpPr>
        <p:spPr>
          <a:xfrm>
            <a:off x="640080" y="2468880"/>
            <a:ext cx="2286000" cy="822960"/>
          </a:xfrm>
          <a:prstGeom prst="rect">
            <a:avLst/>
          </a:prstGeom>
          <a:noFill/>
          <a:ln/>
        </p:spPr>
        <p:txBody>
          <a:bodyPr wrap="square" rtlCol="0" anchor="ctr"/>
          <a:lstStyle/>
          <a:p>
            <a:pPr algn="ctr" indent="0" marL="0">
              <a:buNone/>
            </a:pPr>
            <a:r>
              <a:rPr lang="en-US" sz="1150" b="1" dirty="0">
                <a:solidFill>
                  <a:srgbClr val="1B2340"/>
                </a:solidFill>
                <a:latin typeface="Calibri" pitchFamily="34" charset="0"/>
                <a:ea typeface="Calibri" pitchFamily="34" charset="-122"/>
                <a:cs typeface="Calibri" pitchFamily="34" charset="-120"/>
              </a:rPr>
              <a:t>solrconfig.xml</a:t>
            </a:r>
            <a:endParaRPr lang="en-US" sz="1150" dirty="0"/>
          </a:p>
        </p:txBody>
      </p:sp>
      <p:sp>
        <p:nvSpPr>
          <p:cNvPr id="8" name="Shape 6"/>
          <p:cNvSpPr/>
          <p:nvPr/>
        </p:nvSpPr>
        <p:spPr>
          <a:xfrm>
            <a:off x="3383280" y="1417320"/>
            <a:ext cx="2331720" cy="822960"/>
          </a:xfrm>
          <a:prstGeom prst="roundRect">
            <a:avLst>
              <a:gd name="adj" fmla="val 7778"/>
            </a:avLst>
          </a:prstGeom>
          <a:solidFill>
            <a:srgbClr val="FFFFFF"/>
          </a:solidFill>
          <a:ln w="12700">
            <a:solidFill>
              <a:srgbClr val="E2E5F0"/>
            </a:solidFill>
            <a:prstDash val="solid"/>
          </a:ln>
        </p:spPr>
      </p:sp>
      <p:sp>
        <p:nvSpPr>
          <p:cNvPr id="9" name="Text 7"/>
          <p:cNvSpPr/>
          <p:nvPr/>
        </p:nvSpPr>
        <p:spPr>
          <a:xfrm>
            <a:off x="3474720" y="1490472"/>
            <a:ext cx="2148840" cy="452628"/>
          </a:xfrm>
          <a:prstGeom prst="rect">
            <a:avLst/>
          </a:prstGeom>
          <a:noFill/>
          <a:ln/>
        </p:spPr>
        <p:txBody>
          <a:bodyPr wrap="square" rtlCol="0" anchor="b"/>
          <a:lstStyle/>
          <a:p>
            <a:pPr algn="ctr" indent="0" marL="0">
              <a:buNone/>
            </a:pPr>
            <a:r>
              <a:rPr lang="en-US" sz="1100" b="1" dirty="0">
                <a:solidFill>
                  <a:srgbClr val="1B2340"/>
                </a:solidFill>
                <a:latin typeface="Calibri" pitchFamily="34" charset="0"/>
                <a:ea typeface="Calibri" pitchFamily="34" charset="-122"/>
                <a:cs typeface="Calibri" pitchFamily="34" charset="-120"/>
              </a:rPr>
              <a:t>SolrSchemaParser</a:t>
            </a:r>
            <a:endParaRPr lang="en-US" sz="1100" dirty="0"/>
          </a:p>
        </p:txBody>
      </p:sp>
      <p:sp>
        <p:nvSpPr>
          <p:cNvPr id="10" name="Text 8"/>
          <p:cNvSpPr/>
          <p:nvPr/>
        </p:nvSpPr>
        <p:spPr>
          <a:xfrm>
            <a:off x="3474720" y="1845259"/>
            <a:ext cx="2148840" cy="362102"/>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pure fn, no IJ types</a:t>
            </a:r>
            <a:endParaRPr lang="en-US" sz="950" dirty="0"/>
          </a:p>
        </p:txBody>
      </p:sp>
      <p:sp>
        <p:nvSpPr>
          <p:cNvPr id="11" name="Shape 9"/>
          <p:cNvSpPr/>
          <p:nvPr/>
        </p:nvSpPr>
        <p:spPr>
          <a:xfrm>
            <a:off x="3383280" y="2468880"/>
            <a:ext cx="2331720" cy="822960"/>
          </a:xfrm>
          <a:prstGeom prst="roundRect">
            <a:avLst>
              <a:gd name="adj" fmla="val 7778"/>
            </a:avLst>
          </a:prstGeom>
          <a:solidFill>
            <a:srgbClr val="FFFFFF"/>
          </a:solidFill>
          <a:ln w="12700">
            <a:solidFill>
              <a:srgbClr val="E2E5F0"/>
            </a:solidFill>
            <a:prstDash val="solid"/>
          </a:ln>
        </p:spPr>
      </p:sp>
      <p:sp>
        <p:nvSpPr>
          <p:cNvPr id="12" name="Text 10"/>
          <p:cNvSpPr/>
          <p:nvPr/>
        </p:nvSpPr>
        <p:spPr>
          <a:xfrm>
            <a:off x="3474720" y="2542032"/>
            <a:ext cx="2148840" cy="452628"/>
          </a:xfrm>
          <a:prstGeom prst="rect">
            <a:avLst/>
          </a:prstGeom>
          <a:noFill/>
          <a:ln/>
        </p:spPr>
        <p:txBody>
          <a:bodyPr wrap="square" rtlCol="0" anchor="b"/>
          <a:lstStyle/>
          <a:p>
            <a:pPr algn="ctr" indent="0" marL="0">
              <a:buNone/>
            </a:pPr>
            <a:r>
              <a:rPr lang="en-US" sz="1100" b="1" dirty="0">
                <a:solidFill>
                  <a:srgbClr val="1B2340"/>
                </a:solidFill>
                <a:latin typeface="Calibri" pitchFamily="34" charset="0"/>
                <a:ea typeface="Calibri" pitchFamily="34" charset="-122"/>
                <a:cs typeface="Calibri" pitchFamily="34" charset="-120"/>
              </a:rPr>
              <a:t>SolrConfigParser</a:t>
            </a:r>
            <a:endParaRPr lang="en-US" sz="1100" dirty="0"/>
          </a:p>
        </p:txBody>
      </p:sp>
      <p:sp>
        <p:nvSpPr>
          <p:cNvPr id="13" name="Text 11"/>
          <p:cNvSpPr/>
          <p:nvPr/>
        </p:nvSpPr>
        <p:spPr>
          <a:xfrm>
            <a:off x="3474720" y="2896819"/>
            <a:ext cx="2148840" cy="362102"/>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pure fn, no IJ types</a:t>
            </a:r>
            <a:endParaRPr lang="en-US" sz="950" dirty="0"/>
          </a:p>
        </p:txBody>
      </p:sp>
      <p:sp>
        <p:nvSpPr>
          <p:cNvPr id="14" name="Shape 12"/>
          <p:cNvSpPr/>
          <p:nvPr/>
        </p:nvSpPr>
        <p:spPr>
          <a:xfrm>
            <a:off x="3017520" y="1746504"/>
            <a:ext cx="320040" cy="164592"/>
          </a:xfrm>
          <a:prstGeom prst="rightArrow">
            <a:avLst/>
          </a:prstGeom>
          <a:solidFill>
            <a:srgbClr val="FF6B35"/>
          </a:solidFill>
          <a:ln/>
        </p:spPr>
      </p:sp>
      <p:sp>
        <p:nvSpPr>
          <p:cNvPr id="15" name="Shape 13"/>
          <p:cNvSpPr/>
          <p:nvPr/>
        </p:nvSpPr>
        <p:spPr>
          <a:xfrm>
            <a:off x="3017520" y="2798064"/>
            <a:ext cx="320040" cy="164592"/>
          </a:xfrm>
          <a:prstGeom prst="rightArrow">
            <a:avLst/>
          </a:prstGeom>
          <a:solidFill>
            <a:srgbClr val="FF6B35"/>
          </a:solidFill>
          <a:ln/>
        </p:spPr>
      </p:sp>
      <p:sp>
        <p:nvSpPr>
          <p:cNvPr id="16" name="Shape 14"/>
          <p:cNvSpPr/>
          <p:nvPr/>
        </p:nvSpPr>
        <p:spPr>
          <a:xfrm>
            <a:off x="6080760" y="1920240"/>
            <a:ext cx="2377440" cy="1051560"/>
          </a:xfrm>
          <a:prstGeom prst="roundRect">
            <a:avLst>
              <a:gd name="adj" fmla="val 6087"/>
            </a:avLst>
          </a:prstGeom>
          <a:solidFill>
            <a:srgbClr val="1F2A56"/>
          </a:solidFill>
          <a:ln w="12700">
            <a:solidFill>
              <a:srgbClr val="E2E5F0"/>
            </a:solidFill>
            <a:prstDash val="solid"/>
          </a:ln>
        </p:spPr>
      </p:sp>
      <p:sp>
        <p:nvSpPr>
          <p:cNvPr id="17" name="Text 15"/>
          <p:cNvSpPr/>
          <p:nvPr/>
        </p:nvSpPr>
        <p:spPr>
          <a:xfrm>
            <a:off x="6172200" y="1993392"/>
            <a:ext cx="2194560" cy="578358"/>
          </a:xfrm>
          <a:prstGeom prst="rect">
            <a:avLst/>
          </a:prstGeom>
          <a:noFill/>
          <a:ln/>
        </p:spPr>
        <p:txBody>
          <a:bodyPr wrap="square" rtlCol="0" anchor="b"/>
          <a:lstStyle/>
          <a:p>
            <a:pPr algn="ctr" indent="0" marL="0">
              <a:buNone/>
            </a:pPr>
            <a:r>
              <a:rPr lang="en-US" sz="1050" b="1" dirty="0">
                <a:solidFill>
                  <a:srgbClr val="FFFFFF"/>
                </a:solidFill>
                <a:latin typeface="Calibri" pitchFamily="34" charset="0"/>
                <a:ea typeface="Calibri" pitchFamily="34" charset="-122"/>
                <a:cs typeface="Calibri" pitchFamily="34" charset="-120"/>
              </a:rPr>
              <a:t>SolrConfigsetFacts</a:t>
            </a:r>
            <a:endParaRPr lang="en-US" sz="1050" dirty="0"/>
          </a:p>
        </p:txBody>
      </p:sp>
      <p:sp>
        <p:nvSpPr>
          <p:cNvPr id="18" name="Text 16"/>
          <p:cNvSpPr/>
          <p:nvPr/>
        </p:nvSpPr>
        <p:spPr>
          <a:xfrm>
            <a:off x="6172200" y="2467051"/>
            <a:ext cx="2194560" cy="46268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fields, types, copyFields,</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uniqueKey, luceneMatchVersion</a:t>
            </a:r>
            <a:endParaRPr lang="en-US" sz="950" dirty="0"/>
          </a:p>
        </p:txBody>
      </p:sp>
      <p:sp>
        <p:nvSpPr>
          <p:cNvPr id="19" name="Shape 17"/>
          <p:cNvSpPr/>
          <p:nvPr/>
        </p:nvSpPr>
        <p:spPr>
          <a:xfrm>
            <a:off x="5760720" y="1746504"/>
            <a:ext cx="274320" cy="164592"/>
          </a:xfrm>
          <a:prstGeom prst="rightArrow">
            <a:avLst/>
          </a:prstGeom>
          <a:solidFill>
            <a:srgbClr val="FF6B35"/>
          </a:solidFill>
          <a:ln/>
        </p:spPr>
      </p:sp>
      <p:sp>
        <p:nvSpPr>
          <p:cNvPr id="20" name="Shape 18"/>
          <p:cNvSpPr/>
          <p:nvPr/>
        </p:nvSpPr>
        <p:spPr>
          <a:xfrm>
            <a:off x="5760720" y="2798064"/>
            <a:ext cx="274320" cy="164592"/>
          </a:xfrm>
          <a:prstGeom prst="rightArrow">
            <a:avLst/>
          </a:prstGeom>
          <a:solidFill>
            <a:srgbClr val="FF6B35"/>
          </a:solidFill>
          <a:ln/>
        </p:spPr>
      </p:sp>
      <p:sp>
        <p:nvSpPr>
          <p:cNvPr id="21" name="Shape 19"/>
          <p:cNvSpPr/>
          <p:nvPr/>
        </p:nvSpPr>
        <p:spPr>
          <a:xfrm>
            <a:off x="8823960" y="1920240"/>
            <a:ext cx="2651760" cy="1051560"/>
          </a:xfrm>
          <a:prstGeom prst="roundRect">
            <a:avLst>
              <a:gd name="adj" fmla="val 6087"/>
            </a:avLst>
          </a:prstGeom>
          <a:solidFill>
            <a:srgbClr val="141B3C"/>
          </a:solidFill>
          <a:ln w="12700">
            <a:solidFill>
              <a:srgbClr val="E2E5F0"/>
            </a:solidFill>
            <a:prstDash val="solid"/>
          </a:ln>
        </p:spPr>
      </p:sp>
      <p:sp>
        <p:nvSpPr>
          <p:cNvPr id="22" name="Text 20"/>
          <p:cNvSpPr/>
          <p:nvPr/>
        </p:nvSpPr>
        <p:spPr>
          <a:xfrm>
            <a:off x="8915400" y="1993392"/>
            <a:ext cx="2468880" cy="578358"/>
          </a:xfrm>
          <a:prstGeom prst="rect">
            <a:avLst/>
          </a:prstGeom>
          <a:noFill/>
          <a:ln/>
        </p:spPr>
        <p:txBody>
          <a:bodyPr wrap="square" rtlCol="0" anchor="b"/>
          <a:lstStyle/>
          <a:p>
            <a:pPr algn="ctr" indent="0" marL="0">
              <a:buNone/>
            </a:pPr>
            <a:r>
              <a:rPr lang="en-US" sz="1100" b="1" dirty="0">
                <a:solidFill>
                  <a:srgbClr val="FFFFFF"/>
                </a:solidFill>
                <a:latin typeface="Calibri" pitchFamily="34" charset="0"/>
                <a:ea typeface="Calibri" pitchFamily="34" charset="-122"/>
                <a:cs typeface="Calibri" pitchFamily="34" charset="-120"/>
              </a:rPr>
              <a:t>SolrFieldModel</a:t>
            </a:r>
            <a:endParaRPr lang="en-US" sz="1100" dirty="0"/>
          </a:p>
        </p:txBody>
      </p:sp>
      <p:sp>
        <p:nvSpPr>
          <p:cNvPr id="23" name="Text 21"/>
          <p:cNvSpPr/>
          <p:nvPr/>
        </p:nvSpPr>
        <p:spPr>
          <a:xfrm>
            <a:off x="8915400" y="2467051"/>
            <a:ext cx="2468880" cy="46268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repository ⊕ server</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(server empty today)</a:t>
            </a:r>
            <a:endParaRPr lang="en-US" sz="950" dirty="0"/>
          </a:p>
        </p:txBody>
      </p:sp>
      <p:sp>
        <p:nvSpPr>
          <p:cNvPr id="24" name="Shape 22"/>
          <p:cNvSpPr/>
          <p:nvPr/>
        </p:nvSpPr>
        <p:spPr>
          <a:xfrm>
            <a:off x="8503920" y="2363724"/>
            <a:ext cx="274320" cy="164592"/>
          </a:xfrm>
          <a:prstGeom prst="rightArrow">
            <a:avLst/>
          </a:prstGeom>
          <a:solidFill>
            <a:srgbClr val="FF6B35"/>
          </a:solidFill>
          <a:ln/>
        </p:spPr>
      </p:sp>
      <p:sp>
        <p:nvSpPr>
          <p:cNvPr id="25" name="Shape 23"/>
          <p:cNvSpPr/>
          <p:nvPr/>
        </p:nvSpPr>
        <p:spPr>
          <a:xfrm>
            <a:off x="2743200" y="4114800"/>
            <a:ext cx="6675120" cy="1417320"/>
          </a:xfrm>
          <a:prstGeom prst="roundRect">
            <a:avLst>
              <a:gd name="adj" fmla="val 4516"/>
            </a:avLst>
          </a:prstGeom>
          <a:solidFill>
            <a:srgbClr val="FFFFFF"/>
          </a:solidFill>
          <a:ln w="12700">
            <a:solidFill>
              <a:srgbClr val="E2E5F0"/>
            </a:solidFill>
            <a:prstDash val="solid"/>
          </a:ln>
        </p:spPr>
      </p:sp>
      <p:sp>
        <p:nvSpPr>
          <p:cNvPr id="26" name="Text 24"/>
          <p:cNvSpPr/>
          <p:nvPr/>
        </p:nvSpPr>
        <p:spPr>
          <a:xfrm>
            <a:off x="2834640" y="4187952"/>
            <a:ext cx="6492240" cy="779526"/>
          </a:xfrm>
          <a:prstGeom prst="rect">
            <a:avLst/>
          </a:prstGeom>
          <a:noFill/>
          <a:ln/>
        </p:spPr>
        <p:txBody>
          <a:bodyPr wrap="square" rtlCol="0" anchor="b"/>
          <a:lstStyle/>
          <a:p>
            <a:pPr algn="ctr" indent="0" marL="0">
              <a:buNone/>
            </a:pPr>
            <a:r>
              <a:rPr lang="en-US" sz="1300" b="1" dirty="0">
                <a:solidFill>
                  <a:srgbClr val="1B2340"/>
                </a:solidFill>
                <a:latin typeface="Calibri" pitchFamily="34" charset="0"/>
                <a:ea typeface="Calibri" pitchFamily="34" charset="-122"/>
                <a:cs typeface="Calibri" pitchFamily="34" charset="-120"/>
              </a:rPr>
              <a:t>SolrConfigsetReader.modelFor(PsiFile)</a:t>
            </a:r>
            <a:endParaRPr lang="en-US" sz="1300" dirty="0"/>
          </a:p>
        </p:txBody>
      </p:sp>
      <p:sp>
        <p:nvSpPr>
          <p:cNvPr id="27" name="Text 25"/>
          <p:cNvSpPr/>
          <p:nvPr/>
        </p:nvSpPr>
        <p:spPr>
          <a:xfrm>
            <a:off x="2834640" y="4851806"/>
            <a:ext cx="649224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CachedValuesManager, hung on the configset’s PsiDirectory</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deps: both source PsiFiles + VFS_STRUCTURE_MODIFICATIONS</a:t>
            </a:r>
            <a:endParaRPr lang="en-US" sz="950" dirty="0"/>
          </a:p>
        </p:txBody>
      </p:sp>
      <p:sp>
        <p:nvSpPr>
          <p:cNvPr id="28" name="Shape 26"/>
          <p:cNvSpPr/>
          <p:nvPr/>
        </p:nvSpPr>
        <p:spPr>
          <a:xfrm>
            <a:off x="9976104" y="2971800"/>
            <a:ext cx="164592" cy="1097280"/>
          </a:xfrm>
          <a:prstGeom prst="downArrow">
            <a:avLst/>
          </a:prstGeom>
          <a:solidFill>
            <a:srgbClr val="FF6B35"/>
          </a:solidFill>
          <a:ln/>
        </p:spPr>
      </p:sp>
      <p:sp>
        <p:nvSpPr>
          <p:cNvPr id="29" name="Text 27"/>
          <p:cNvSpPr/>
          <p:nvPr/>
        </p:nvSpPr>
        <p:spPr>
          <a:xfrm>
            <a:off x="2743200" y="5715000"/>
            <a:ext cx="6675120" cy="365760"/>
          </a:xfrm>
          <a:prstGeom prst="rect">
            <a:avLst/>
          </a:prstGeom>
          <a:noFill/>
          <a:ln/>
        </p:spPr>
        <p:txBody>
          <a:bodyPr wrap="square" rtlCol="0" anchor="ctr"/>
          <a:lstStyle/>
          <a:p>
            <a:pPr algn="ctr" indent="0" marL="0">
              <a:buNone/>
            </a:pPr>
            <a:r>
              <a:rPr lang="en-US" sz="1100" i="1" dirty="0">
                <a:solidFill>
                  <a:srgbClr val="5B6478"/>
                </a:solidFill>
                <a:latin typeface="Calibri" pitchFamily="34" charset="0"/>
                <a:ea typeface="Calibri" pitchFamily="34" charset="-122"/>
                <a:cs typeface="Calibri" pitchFamily="34" charset="-120"/>
              </a:rPr>
              <a:t>read by: inspection · completion · reference · documentation · hint — never memoized a second time</a:t>
            </a:r>
            <a:endParaRPr lang="en-US" sz="1100" dirty="0"/>
          </a:p>
        </p:txBody>
      </p:sp>
      <p:sp>
        <p:nvSpPr>
          <p:cNvPr id="30" name="Text 28"/>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“From files to the model”, “parsing and reading”; docs/glossary.md “CachedValuesManager”</a:t>
            </a:r>
            <a:endParaRPr lang="en-US" sz="950" dirty="0"/>
          </a:p>
        </p:txBody>
      </p:sp>
      <p:sp>
        <p:nvSpPr>
          <p:cNvPr id="32" name="Text 2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server/ — one package today, and where later work is told to go</a:t>
            </a:r>
            <a:endParaRPr lang="en-US" sz="22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server.connection — SolrConnectionSettings, and nothing else.</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No HTTP client, no tool window, no query console, no drift view. Nothing on the editor path may reach it — configset editing works with zero connection configured, by design.</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The distinction that governs it: WHERE state may be written.</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A configset root is a fact about the project and is shared (persisted through solr.xml, path-macro-collapsed). A connection is a fact about one developer's machine — workspace-local storage, credentials in PasswordSafe, never a committed file.</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Where later work goes, stated plainly rather than left to guesswork:</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org.apache.solr.ide.server.* for the live-server surface and its HTTP client · a new surface, sibling to configset, the day the first Java/Kotlin recognizer is written · new packages are created when they have a file to hold, not in advance.</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“server.connection”, “Where later work goes”; server/connection/SolrConnectionSettings.kt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1097280" y="4297680"/>
            <a:ext cx="3840480" cy="3840480"/>
          </a:xfrm>
          <a:prstGeom prst="ellipse">
            <a:avLst/>
          </a:prstGeom>
          <a:solidFill>
            <a:srgbClr val="1F2A56"/>
          </a:solidFill>
          <a:ln/>
        </p:spPr>
      </p:sp>
      <p:sp>
        <p:nvSpPr>
          <p:cNvPr id="3" name="Text 1"/>
          <p:cNvSpPr/>
          <p:nvPr/>
        </p:nvSpPr>
        <p:spPr>
          <a:xfrm>
            <a:off x="822960" y="1005840"/>
            <a:ext cx="10058400" cy="109728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In one sentence</a:t>
            </a:r>
            <a:endParaRPr lang="en-US" sz="3400" dirty="0"/>
          </a:p>
        </p:txBody>
      </p:sp>
      <p:sp>
        <p:nvSpPr>
          <p:cNvPr id="4" name="Text 2"/>
          <p:cNvSpPr/>
          <p:nvPr/>
        </p:nvSpPr>
        <p:spPr>
          <a:xfrm>
            <a:off x="868680" y="2331720"/>
            <a:ext cx="9601200" cy="3657600"/>
          </a:xfrm>
          <a:prstGeom prst="rect">
            <a:avLst/>
          </a:prstGeom>
          <a:noFill/>
          <a:ln/>
        </p:spPr>
        <p:txBody>
          <a:bodyPr wrap="square" rtlCol="0" anchor="t"/>
          <a:lstStyle/>
          <a:p>
            <a:pPr marL="203200" indent="-203200">
              <a:lnSpc>
                <a:spcPct val="120000"/>
              </a:lnSpc>
              <a:spcAft>
                <a:spcPts val="1200"/>
              </a:spcAft>
              <a:buSzPct val="100000"/>
              <a:buChar char="•"/>
            </a:pPr>
            <a:r>
              <a:rPr lang="en-US" sz="1600" b="1" dirty="0">
                <a:solidFill>
                  <a:srgbClr val="FF6B35"/>
                </a:solidFill>
                <a:latin typeface="Calibri" pitchFamily="34" charset="0"/>
                <a:ea typeface="Calibri" pitchFamily="34" charset="-122"/>
                <a:cs typeface="Calibri" pitchFamily="34" charset="-120"/>
              </a:rPr>
              <a:t>The Editor track is real, tested and screenshotted — eighteen features, one claim each, over a single shared model of what a Solr field is.</a:t>
            </a:r>
            <a:endParaRPr lang="en-US" sz="1600" dirty="0"/>
          </a:p>
          <a:p>
            <a:pPr marL="203200" indent="-203200">
              <a:lnSpc>
                <a:spcPct val="120000"/>
              </a:lnSpc>
              <a:spcAft>
                <a:spcPts val="1200"/>
              </a:spcAft>
              <a:buSzPct val="100000"/>
              <a:buChar char="•"/>
            </a:pPr>
            <a:r>
              <a:rPr lang="en-US" sz="1600" dirty="0">
                <a:solidFill>
                  <a:srgbClr val="CFE0FF"/>
                </a:solidFill>
                <a:latin typeface="Calibri" pitchFamily="34" charset="0"/>
                <a:ea typeface="Calibri" pitchFamily="34" charset="-122"/>
                <a:cs typeface="Calibri" pitchFamily="34" charset="-120"/>
              </a:rPr>
              <a:t>Getting there took a small, consistent set of platform ideas — extension points, PSI, dumb-awareness, declared cache invalidation — applied through a package tree that keeps the domain model provably independent of the IDE it runs in.</a:t>
            </a:r>
            <a:endParaRPr lang="en-US" sz="1600" dirty="0"/>
          </a:p>
          <a:p>
            <a:pPr marL="203200" indent="-203200">
              <a:lnSpc>
                <a:spcPct val="120000"/>
              </a:lnSpc>
              <a:spcAft>
                <a:spcPts val="1200"/>
              </a:spcAft>
              <a:buSzPct val="100000"/>
              <a:buChar char="•"/>
            </a:pPr>
            <a:r>
              <a:rPr lang="en-US" sz="1600" dirty="0">
                <a:solidFill>
                  <a:srgbClr val="CFE0FF"/>
                </a:solidFill>
                <a:latin typeface="Calibri" pitchFamily="34" charset="0"/>
                <a:ea typeface="Calibri" pitchFamily="34" charset="-122"/>
                <a:cs typeface="Calibri" pitchFamily="34" charset="-120"/>
              </a:rPr>
              <a:t>The Server and Code tracks are the other two-thirds of the spec, and they have not started.</a:t>
            </a:r>
            <a:endParaRPr lang="en-US" sz="1600" dirty="0"/>
          </a:p>
          <a:p>
            <a:pPr indent="0" marL="0">
              <a:lnSpc>
                <a:spcPct val="120000"/>
              </a:lnSpc>
              <a:spcAft>
                <a:spcPts val="400"/>
              </a:spcAft>
              <a:buNone/>
            </a:pPr>
            <a:r>
              <a:rPr lang="en-US" sz="600" dirty="0">
                <a:solidFill>
                  <a:srgbClr val="CFE0FF"/>
                </a:solidFill>
                <a:latin typeface="Calibri" pitchFamily="34" charset="0"/>
                <a:ea typeface="Calibri" pitchFamily="34" charset="-122"/>
                <a:cs typeface="Calibri" pitchFamily="34" charset="-120"/>
              </a:rPr>
              <a:t> </a:t>
            </a:r>
            <a:endParaRPr lang="en-US" sz="1600" dirty="0"/>
          </a:p>
          <a:p>
            <a:pPr marL="203200" indent="-203200">
              <a:lnSpc>
                <a:spcPct val="120000"/>
              </a:lnSpc>
              <a:spcAft>
                <a:spcPts val="1200"/>
              </a:spcAft>
              <a:buSzPct val="100000"/>
              <a:buChar char="•"/>
            </a:pPr>
            <a:r>
              <a:rPr lang="en-US" sz="1600" b="1" dirty="0">
                <a:solidFill>
                  <a:srgbClr val="FF6B35"/>
                </a:solidFill>
                <a:latin typeface="Calibri" pitchFamily="34" charset="0"/>
                <a:ea typeface="Calibri" pitchFamily="34" charset="-122"/>
                <a:cs typeface="Calibri" pitchFamily="34" charset="-120"/>
              </a:rPr>
              <a:t>github.com/adityamparikh/solr-intellij-plugin · branch feat/solrconfig-structure-completion</a:t>
            </a:r>
            <a:endParaRPr lang="en-US" sz="1600" dirty="0"/>
          </a:p>
        </p:txBody>
      </p:sp>
      <p:sp>
        <p:nvSpPr>
          <p:cNvPr id="6" name="Text 3"/>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Declaring dumb-awareness is half the contract — the guard is the other half</a:t>
            </a:r>
            <a:endParaRPr lang="en-US" sz="220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docs/platform-mechanisms.md “Dumb mode, and DumbAware”; configset/navigation/SolrClassReferenceContributor.kt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27</a:t>
            </a:r>
            <a:endParaRPr lang="en-US" sz="900" dirty="0"/>
          </a:p>
        </p:txBody>
      </p:sp>
      <p:pic>
        <p:nvPicPr>
          <p:cNvPr id="8" name="Picture 7" descr="seq-05-dumb-mode.png"/>
          <p:cNvPicPr>
            <a:picLocks noChangeAspect="1"/>
          </p:cNvPicPr>
          <p:nvPr/>
        </p:nvPicPr>
        <p:blipFill>
          <a:blip r:embed="rId2"/>
          <a:stretch>
            <a:fillRect/>
          </a:stretch>
        </p:blipFill>
        <p:spPr>
          <a:xfrm>
            <a:off x="2515020" y="1560000"/>
            <a:ext cx="7161959" cy="4560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One model, every feature — and the platform decides when to throw it away</a:t>
            </a:r>
            <a:endParaRPr lang="en-US" sz="220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docs/platform-mechanisms.md “Caching the field model”; configset/reading/SolrConfigsetReader.kt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29</a:t>
            </a:r>
            <a:endParaRPr lang="en-US" sz="900" dirty="0"/>
          </a:p>
        </p:txBody>
      </p:sp>
      <p:pic>
        <p:nvPicPr>
          <p:cNvPr id="8" name="Picture 7" descr="seq-04-model-cache.png"/>
          <p:cNvPicPr>
            <a:picLocks noChangeAspect="1"/>
          </p:cNvPicPr>
          <p:nvPr/>
        </p:nvPicPr>
        <p:blipFill>
          <a:blip r:embed="rId2"/>
          <a:stretch>
            <a:fillRect/>
          </a:stretch>
        </p:blipFill>
        <p:spPr>
          <a:xfrm>
            <a:off x="2794006" y="1560000"/>
            <a:ext cx="6603988" cy="4560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One hover, two questions — a provider answering only the first still crashes</a:t>
            </a:r>
            <a:endParaRPr lang="en-US" sz="220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docs/how-to/add-an-editor-feature.md “Quick documentation”; configset/solrconfig/documentation/SolrConfigDocumentationProvider.kt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38</a:t>
            </a:r>
            <a:endParaRPr lang="en-US" sz="900" dirty="0"/>
          </a:p>
        </p:txBody>
      </p:sp>
      <p:pic>
        <p:nvPicPr>
          <p:cNvPr id="8" name="Picture 7" descr="seq-01-quick-documentation.png"/>
          <p:cNvPicPr>
            <a:picLocks noChangeAspect="1"/>
          </p:cNvPicPr>
          <p:nvPr/>
        </p:nvPicPr>
        <p:blipFill>
          <a:blip r:embed="rId2"/>
          <a:stretch>
            <a:fillRect/>
          </a:stretch>
        </p:blipFill>
        <p:spPr>
          <a:xfrm>
            <a:off x="1806029" y="1560000"/>
            <a:ext cx="8579942" cy="4560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2026-08-18T02:41:35Z</dcterms:created>
  <dcterms:modified xsi:type="dcterms:W3CDTF">2026-08-18T02:41:35Z</dcterms:modified>
</cp:coreProperties>
</file>