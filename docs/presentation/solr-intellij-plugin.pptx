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has three acts. Act one walks the plugin's editor features, in depth, with real screenshots from the sandbox IDE running against the repo's demo configset — that's the deepest part of the talk, because it's the part that's actually shipped. Act two is a from-scratch introduction to IntelliJ plugin development for a Java developer who has never written one, grounded entirely in this repository as the worked example. Act three walks the codebase itself — where things live, and the architectural rules that keep it that way. Repository: github.com/adityamparikh/solr-intellij-plugin, branch feat/solrconfig-structure-completion, level with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development tool for people who already run Solr and edit its configset by hand — which the spec argues is unavoidable for solrconfig.xml and for analyzer chain design, whatever the Schema API can do. The comparison set is deliberate: Big Data Tools, the Confluent Kafka plugin, and JPA Buddy. This plugin takes JPA Buddy's config-and-code intelligence and the live-server tooling of the other two, because Solr development genuinely needs both — you change a schema, try a query, look at what came back, change it again. Today only the config-and-code half exists; that's honestly what Act 1 covers. The unifying idea, repeated throughout the spec, is a single shared model of what a field IS and what it CAN DO, read from both the repository and (eventually) a live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up why every feature in Act 1 exists. The spec's own framing: the worst failure mode a system can have is silent, plausible, and discovered in production — and Solr development is full of exactly that shape of bug, because field names are unchecked strings everywhere they're used. The quality bar quote is worth reading verbatim to the room: this project explicitly chooses fewer features done right over more features that produce false positives, because a false positive is what gets a plugin uninstalled. That bar recurs constantly in the codebase — CLAUDE.md's inspection rule ('Inspections must not fire on a correct file') and the testing doc's whole section on clean fixtures both trace back to this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and move on — it's the honesty the brief asked for. The plan is the single source of truth for what's built (never infer status from code or the spec). As of this session: every Editor-track step (5–10, 23–29) is marked done, and the build passes clean on a branch level with main. The Server and Code tracks are two of the spec's three pillars and simply have not started — that's not a defect, it's sequencing; the plan's build-order section explains neither track blocks the other, they're just unstarted. Flag this now so nobody in the room assumes the whole vision in slide 2 is live today. What IS live is the entire back half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 the room before diving in. Every capability listed here is real, shipped code with a registration in plugin.xml — not a roadmap item. We'll take them roughly in the order a reader meets them: what the editor shows you without asking (hints, quick docs), what it warns you about (inspections), what it offers while you type (completion), what it lets you click through (references, navigation, Find Usages, rename), and what it offers to fix or simplify even when nothing is wrong (the two intention families). All of it reads from one parsed model of the configset — model.SolrFieldModel — which Act 3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inlay rather than a tooltip, on purpose — a user who doesn't already suspect their field can't match a prefix will never hover to find out, so the plugin says it unprompted. It's a declarativeInlayProvider registered for XML, dumb-aware, reading purely from the parsed model — no index, no server call. SolrMatchAnalysis derives the claim from the field's index-time analyzer chain; SolrMatchCapability names the mechanism (a wildcard query technically works against any indexed field, so the real claim is about efficiency) and carries a confidence flag. Silence is a deliberate output: an unrecognised factory suppresses the match claim but still shows storage shape (step 27), and an undeclared field type suppresses the hint completely, because a wrong claim here is the single output most likely to be quoted back at the team. legacy's undeclared type also gets an inspection underline in the same frame — that's correct and expected, not a rendering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the plugin's signature capability — it's what the whole model exists to answer. Every legal property on the element resolves through three tiers: the field's own attribute, its field type's attribute, then Solr's own default — and where a default is genuinely type-dependent (docValues on some types, for instance) the popup says UNDETERMINED rather than asserting a guess. The Meaning column (added in step 27, 'saying what a property's value means') states the sentence for the resolved value — 'Whether the original value can be returned in results' beside stored: false — in the Reference Guide's own neutral vocabulary rather than the plugin inventing its own phrasing. Links are page-level and point at the Solr line the schema's own version attribute declares; nothing on the editor path fetches a URL, ever — that's a hard rule in code-organization.md.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it starts in buildSrc rather than in the running plugin. A Gradle task reflects over every supported Solr line's real jars — tokenizers, filters, char filters, field types — via the SPI service files Solr ships to name them, plus bytecode analysis of each factory's constructor to recover the attribute names Solr reads through get/getInt/getBoolean (reflection alone can't see those, because a factory reads its config out of a generic map, not typed fields). The result: 735 classes on Solr 9 and 724 on Solr 10 — by kind on line 9, 320 expressible, 139 token filters, 46 update processors, 45 query parsers, 42 request handlers, 35 field types, 19 tokenizers, 18 search components, and more — each with its Javadoc first sentence and its accepted attributes with value types, generated fresh whenever the Solr artifacts change — never hand-maintained, so it can't drift from what Solr's jars actually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documentation provider as slides 7 and 8, answering at a third kind of position: slide 7 is the element itself, slide 8 is an attribute's value, and this is a structural attribute's own name — the position that would otherwise say nothing, since a bare attribute name has nothing obvious to explain on its own. (A KDoc comment nearby calls this 'the last of the three caret positions' a single tag offers, which is a narrower claim than a total count for the whole provider — SolrAttributeDocumentationTest pins the actual behaviour by walking every attribute, not by counting, so there's no single number to cite here and this deck doesn't invent one.) The schema's version attribute is a genuinely load-bearing fact Solr itself changed behaviour around: Solr 9.7 flipped the default for docValues and uninvertible at schema version 1.7, so a field's effective properties depend on a THIRD version number beside the Solr line and luceneMatchVersion — this popup is the one place that resolution is shown rather than left for the reader to work out from the Reference Guide's prose. Small keymap note worth passing on if anyone tries to reproduce this: F1 opens platform Help on the default macOS keymap, not Quick Documentation — Ctrl+J is what actually raises this popup.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them on screen if asked: SolrDanglingCopyField, SolrUnknownFieldType, SolrInvalidAttributeValue, SolrUnknownAttribute, SolrUnknownFieldReference, SolrNonIndexedRelevanceField, SolrUnsupportedFieldOperation, SolrAnalyzerChainOrder, SolrUnusedFieldType, SolrDiscontinuedElement, SolrMisspelledParameter — 11 localInspection entries in plugin.xml. The unifying discipline is the zero-false-positive bar, and it's enforced two ways: in review (clean fixtures are written before flagged ones, and checkHighlighting fails on an unexpected highlight exactly as hard as on a missing one), and empirically (SolrShippedConfigsetTest runs the whole rule set over four real Solr-shipped configsets nobody on this team wrote, and asserts silence). One rule, SolrUnusedFieldTypeInspection, is held out of that gate by name because it correctly reports 45 true findings on sample_techproducts_configs — Solr ships types nobody's copied fields into yet, which is a fact about the file, not a defect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oldest and most direct payoff — the exact bug class from slide 3, caught before it ever reaches a reload. SolrInspections.replacementFixes sorts every candidate (declared fields and dynamic patterns alike) by edit distance to the typo'd name and keeps the nearest six, which is why sku, id and text are absent from this particular menu — they're just farther away. The IDE then renders that shortlist alphabetically, which is a correct rendering of a correct ranking, not evidence the ranking was ignored. DemoConfigsetTest pins that the committed demo plants exactly one dangling reference and exactly one undeclared field type — counts are themselves an assertion, not incidental fixture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the values not on it are wrong, so a position where any string is legal gets no contribution at all — the plugin declines rather than half-answering. This contributor is registered order="first" so it runs ahead of the platform's own XML completion and can drop the bare duplicate entries the platform would otherwise also offer, leaving one clean list with summaries rather than two overlapping ones. It answers two different questions from one caret position depending on context: which elements are legal here, and which attributes an element accepts minus the ones it already carries — the second matters more to a reader who hasn't yet learned the vocabulary, because a name that appears in no file they've seen is a name they'll never otherwise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completion contributor as slide 12, reaching a different data source — the class catalog rather than the fixed schema-element vocabulary — which is why one provider can answer both without becoming two. The catalog's attribute list is exactly what backs the Accepts table in the class quick-doc popup (slide 8) and the per-attribute hover (Act 1's next-to-last inspection-adjacent feature, step 10): one generated fact, three different places it surfaces. Worth noting for the Java-developer audience in Act 2: this is a real payoff of 'contributions thin, services fat' — the completion contributor itself is a thin adapter over SolrClassCatalog, so the exact same lookup also powers documentation without being written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the team's brief flagged as needing verification: the plan's own opening paragraph used to say solrconfig.xml structure was still gated on the schema, while the Build order and Step 25 both said it had shipped. This screenshot is the resolution — captured live in the sandbox, not inferred from code reading. NOTE FOR WHOEVER PRESENTS THIS: the lead corrected an element-placement defect in the generator after this capture was taken — several elements the original popup showed at the document root (including cache and featureVectorCache) actually belong nested under &lt;query&gt;, and the Screenshotter is reshooting this same file. Confirm the embedded image and this speaker-note prose both reflect the corrected popup before presenting; the bullet list on this slide deliberately names only elements confirmed to stay at the document root either way (directoryFactory, dataDir, luceneMatchVersion, requestHandler, query, updateHandler, codecFactory), not the fuller list the popup shows. The vocabulary comes from three joined sources: SolrConfig's own public plugins list (23 elements, each paired with the superclass its class attribute must implement), EditableSolrConfigAttributes.json shipped inside solr-core (its typed leaves under updateHandler/query/requestDispatcher — 36 attributes on Solr 9, 32 on Solr 10, four removed between the lines, so this is a place the two supported lines' completion genuinely differs), and a third pass reading SolrConfig's own config-reading calls as literal arguments (get("dataDir"), childRequired("luceneMatchVersion", …)) for the three elements — &lt;config&gt;, luceneMatchVersion, dataDir — that appear in neither prior list. That same pass also caught five elements Solr no longer accepts (four of them fatal, not advisory) which feeds directly into the discontinued-element inspection on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action 5 of Step 25 — the plan is explicit it should have been part of the original scope and wasn't: 'the completion contributor currently has no solrconfig.xml awareness whatsoever, so a reader gets the correction and never the suggestion' before this landed. It's deliberately scoped to exactly sixteen parameters proven to hold field names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The captured popup offers the full field list with types — category, name_prefix, name, *_t, description, id, legacy, notes, sku, text — exactly the same fields the schema-vocabulary completion in slide 12 knows about, because both read the same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parameter counts here are verified directly against the generated catalog files rather than quoted from the plan's own prose, which undercounts them slightly (the plan says 'over 340' — the generated resource carries 349 entries on line 9 and 344 on line 10, of which 44 on each line are query-parser names rather than request parameters). The more interesting finding in this screenshot is PRM-7: completion excludes a parameter already declared elsewhere in the same &lt;lst&gt; block — typing qf where qf is already set earlier in that defaults list offers only the compound names (mlt.qf, hl.queryFieldPattern), not bare qf again. That's a real, deliberate rule, not a gap — worth calling out because the Screenshotter's own first attempt at this capture initially misread the filtered list as broken before recognizing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platform mechanism Act 2 will explain in depth (its PSI section) — here we just state the payoff. A reference contributor answers exactly one question: 'this string, what does it point at?' The platform builds Ctrl-click navigation, Find Usages, and rename refactoring on top of that single answer, so implementing it once is worth far more than it looks. In this plugin, SolrSchemaReferenceContributor and SolrConfigReferenceContributor answer it for the schema's own cross-references (a field's type=, a copyField's source/dest) and for solrconfig.xml's references into the schema respectively; SolrClassReferenceContributor answers it a third way for class= attributes in both files, resolving into real Java PSI. All three are soft references — an unresolved one draws no platform warning, because that would duplicate what the inspections on slide 10 already say, in the platform's vocabulary rather than Solr's, which would be a worse message for the same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deliberately the one the README leads with in its own words — it's the closest one-frame demonstration of the plugin's whole reason for existing. It's built on exactly the reference mechanism from the previous slide, just registered against a different file and a different attribute pattern: solrconfig.xml's parameter values rather than the schema's own type= and source=/dest=. Worth noting for the architecture story that Act 3 covers: this reference contributor lives in configset.solrconfig.reference, and it resolves into the schema aspect's declarations — which is exactly the kind of cross-file capability code-organization.md says belongs at the configset root (configset.navigation) rather than inside either aspect, because filing it under one aspect would make that aspect import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than the field-reference navigation, included for completeness — the catalog itself marks it optional/lower-priority, earning a place only if a second navigation example is wanted. It demonstrates the same reference machinery resolving to a filesystem resource rather than to another PSI declaration, which matters architecturally: the reference abstraction doesn't care what kind of target it resolves to, only that resolve() returns something Find Usages and Ctrl-click can both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brand-new this session and overwrites a stale one — worth calling out as an example of the team keeping its own evidence honest. Before Step 28, Ctrl-click already worked (references anchor at use sites and resolve to declarations) but Alt-F7 on the declaration itself refused, because nothing turned a caret sitting on a declaration into something TargetElementUtilBase would search for. The fix is a PomDeclarationSearcher producing a named target for the name attribute value of field, dynamicField and fieldType — delegating to the exact same XmlAttributeValue the reference already resolves to, so Find Usages and Ctrl-click can never disagree about what counts as a match. Two smaller platform hooks make the RESULT readable: without SolrDeclarationDescriptionProvider the header reads the target's own Kotlin class name; without SolrUsageTypeProvider every hit lands under an unlabelled 'Unclassified' group. A separate executor (SolrDynamicFieldSearcher) makes a dynamicField's Find Usages return the concrete names its pattern actually supplies, not just literal spellings of the glob — the word index alone can't do that, because body_t shares no word with the pattern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Rename is built directly on the reference graph from the References slide — no separate mechanism. Three facts verified live this session: the dialog copy is correct ('Rename field category and its usages to:' rather than the platform's generic fallback); the qf line in solrconfig.xml updates automatically with no separate edit, which is the single clearest illustration in this whole deck of what 'one shared model across files' buys a user; and a single Cmd+Z reverted both files as one refactoring, confirmed via the platform's own 'Undo Renaming field category to product_category?' dialog. The deliberate scope limit around dynamic fields is real, tested behavior, not an oversight — SolrRenameTest asserts both the omission AND that the orphaned name gets flagged, since silent breakage is exactly what this plugin exists to prevent. One architectural note for Act 2's audience: rename needed Step 28's declaration target as a genuine prerequisite, not a nice-to-have — renameElementAtCaret on a bare declaration throws 'element not found in file' because it resolves the same null target Alt-F7 used to hit before that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boundary code-organization.md draws hardest between inspection and intention: an inspection claims something is wrong and must never fire on correct Solr, but 'this field can't match a prefix' is correct Solr, not a defect — so it's offered as an intention, which by definition carries no such claim and reaches neither an underline nor the Problems view. The availability rules live in pure functions over the model rather than inside the IntentionAction class, specifically so the cases that decide NOT to offer can be tested without booting an IDE — those are called out as the cases that matter most, because an intention offered where it doesn't apply gets acted on, which is worse than one that's simply missing. Both intentions share SolrAddCompanionIntention and SolrCompanions, differing only in what already counts as 'capable' and which existing declared types may be reused rather than newly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newest capability in the deck, and it's the plugin's first line that says something about correct code without being asked — grey-out costs the reader nothing to ignore, but it makes load-bearing attributes visually distinct from decorative ones at a glance. The dim and the removal intention share one predicate (SolrRestatedAttribute) so they structurally cannot disagree about which attributes qualify. Silence is deliberate and layered: a field property can resolve UNDETERMINED (a type outside the catalog) and stays undimmed; a factory attribute dims only against that factory's OWN recorded literal default — no inheritance, because a filter/tokenizer/charFilter inherits nothing the way a field inherits from its type. One real defect this step found and fixed itself: a field-only comparison originally dimmed enableGraphQueries on a &lt;field&gt; element, because the property IS legal on &lt;fieldType&gt; but Solr silently ignores it on &lt;field&gt; — the conclusion was accidentally right, the reasoning wrong, so scope is now checked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clean checkpoint before we leave features behind. Restate the honesty framing from slide 4 one more time before moving into Act 2 — this deck is not selling a finished product, it's documenting exactly how far the Editor track actually got, with receipts. Transition line into Act 2: everything just shown is built on four IntelliJ Platform mechanisms — extension points, PSI, dumb mode, and the sandbox test harness — and Act 2 explains each of those from zero, using this exact codebase as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this exact repository — docs/modern-intellij-plugin-development.md is a full standalone tutorial written by this team using a toy dev.example.solrconfig package, verified by inspection against IntelliJ Community source (not yet compiled end-to-end, and it says so). We'll pull the concepts from there but ground every concrete example in the plugin.xml, PSI patterns, and test conventions this repository actually uses — not the tutorial's toy package. Assume the room already thinks in Spring idioms; that's the analogy the tutorial itself leans on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reframe, verbatim from the tutorial: think about what you DON'T write in a Spring controller — no socket, no accept loop, no HTTP parsing, no thread pool. You write one method, tell the framework where it belongs, and the framework calls it when a request shows up. Plugin development is exactly that deal. The IDE owns the loop — it knows when the user typed a character, when a file needs analyzing, when someone hit Ctrl+Space. You write small pieces of behavior and tell the platform where they belong; it calls you. If you're comfortable writing a controller without thinking about sockets, you're already comfortable with the plugin model. The one thing genuinely unfamiliar coming from Spring: there is no @Component, no classpath scanning. plugin.xml is the only wiring mechanism there is — explained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single most important warning in Act 2 — dwell on it. The failure mode is uniquely bad because it's silent in every direction: compiles clean, no runtime exception, no log entry, the feature just never fires. The tutorial's own war story: an extensionless file named literally 'managed-schema' with no extension gets treated as plain text by the platform's file-type detection, so an XML-registered contributor is never even asked about it — the fix is registering a fileType matcher (fileNames="managed-schema") that widens what already-existing XML support recognises, which is exactly what this repo's own plugin.xml:33 does. General rule to leave the room with: before debugging WHY a contribution isn't firing, check two things in order — is it actually in plugin.xml, and does the IDE agree the file is the language you registered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the tutorial's dev.example.solrconfig toy — it's the actual registration file in this repository, lightly trimmed for the slide. Walk the room through the shape: the XML tag on the left names the extension point interface (codeInsight.declarativeInlayProvider, completion.contributor, localInspection...), and implementationClass names the concrete class the platform will instantiate lazily on first need. This file currently registers roughly thirty extensions: one inlay provider, one annotator, two element-descriptor providers, two documentation providers, three reference contributors, a declaration searcher, a dynamic-field searcher, two rendering providers, two completion contributors, eleven inspections, and three intentions. Point out plugin.xml:61-67 specifically if there's time — two xml.elementDescriptorProvider registrations exist rather than one, and the comment explains why: 'a gate serving both would make one aspect the owner of a position the other also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just parse the XML yourself with a favorite library, the way you'd do it in a batch job? Three reasons, and they're worth stating in order because each closes off an instinct a Java developer will have. One: the file on disk is stale — the user is typing, and a field added four seconds ago exists only in the editor buffer; read from disk and you confidently return yesterday's answer. Two: you'd be re-parsing constantly — completion fires on keystrokes, inspections run as the user types, and parsing the whole file every time turns your plugin into a space heater. Three: everyone else would be doing it too — every plugin, parsing the same file, over and over, each keeping its own copy. PSI is the platform solving this once, for everybody: it's built the moment a file opens, re-parsed incrementally as the user types, and shared. You ask for it and it's already correct — you don't build it, refresh it, or cache it yourself. This repo's own reading layer builds directly on that guarantee: SolrConfigsetReader.modelFor derives the field model from PSI rather than from the raw Document, specifically so the model can never be ahead of the PSI an inspection is simultaneously walking.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real, silently-shipped defect in this codebase before it was fixed, and it's worth telling as a story rather than a rule: for months, completion, all three original inspections, quick documentation, and the inline match hints did nothing at all while a project indexed — then started working, with nothing logged and no visible cause. That's the worst possible failure shape for an editor plugin: not a crash, not a wrong answer, just absence, during the exact window when someone opening a Solr project for the first time is most likely to be opening configset files for the first time too. The reasonable user conclusion is 'this plugin is broken or flaky' and the reasonable next action is uninstalling it. CLAUDE.md now states the rule as a promise about data sources: the ONE contribution that touches an index (class= resolution via JavaPsiFacade) must BOTH decline the dumb-aware declaration AND guard with DumbService — an earlier revision of the rule said OR, and that's exactly how the defect shipped: declining alone keeps a contribution out of paths that consult the flag, but its resolve() is still called directly by anything walking references at a caret, so an unguarded resolve() throws during indexing and can take the whole quick-documentation popup down with it — including features that needed no index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./gradlew runIde launches a second, real IntelliJ IDEA with its own settings directory and your plugin installed — this repo's own run configuration 'Run Plugin' in .run/ is the same thing. It's a JVM process like any other; --debug-jvm and a remote debugger attach exactly like you'd expect. First-run or post-clean, this repo's build additionally resolves Solr artifacts for every supported line to generate the class catalog from slide 8/13/14, which is genuinely slow — subsequent runs are fast. The one area with no Spring analog: the EDT. All Swing rendering happens on one single-threaded Event Dispatch Thread, and blocking it freezes the entire IDE, not just your feature. Reading PSI off a background thread needs a read action; mutating it needs a write action, which is EDT-only, exclusive, and shows up in Undo history automatically. The reassuring news for everything in Act 1: inspections, completion contributors and reference providers already run inside a read action supplied by the platform — you inherit correct threading for free, which is why none of those slides needed to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for the whole act, and it's worth landing hard: unit tests over the model (Act 3's next section) are cheap and thorough, but they structurally cannot prove the platform wiring is correct, because they never touch plugin.xml at all — myFixture.enableInspections(SomeInspection()) constructs the class directly. SolrPluginDescriptorTest is the specific answer: plain JUnit, reflection over every implementationClass string in plugin.xml, confirming each one resolves to a real class, running inside ./gradlew build in milliseconds. It even checks a second thing nothing else notices: an inspection registered with no matching inspectionDescriptions/&lt;shortName&gt;.html still works and just shows a blank panel in Settings, because no fixture test ever renders that pane. Two build gates ride alongside all of this on every build: Dokka with reportUndocumented/failOnWarning (every public declaration in src/main/kotlin needs real KDoc, tests exempt) and Kover's 80% line floor — both bound to ./gradlew check, both something CI should never be the first place you meet.
A note on the 25-of-74 count itself, worth telling as a short story because it's the same lesson as the catalog-generator fix Act 1 covers: the obvious way to classify a test — does it import com.intellij? — is a proxy, not the real rule, and this repo has a base class (SolrConfigsetTestCase) that supplies that import FOR a test that never writes it itself. Counting imports directly first landed on 45 of 76 (59%), which is wrong. The correct partition, cross-checked three ways: 49 files extend a platform base class, 25 import org.junit.Test, no file does both, and two files (SolrDescriptors.kt, SolrDeclarationTargets.kt) are shared test helpers rather than test classes at all — so the honest denominator is 74, not 76, and the answer is 25 of 74, roughly a third, matching CLAUDE.md's own figure. A heuristic that reads a proxy for the thing it actually wants to know holds for the common case and fails silently for a structured minority — nothing throws an error, it just quietly says something untrue. Worth naming out loud if the room is technical: this is precisely the shape of bug this whole plugin exists to catch in Solr configs, just one level up, in the deck's own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honor to get called at all. It says nothing about where the actual Solr knowledge should live, which is exactly the question Act 3 answers, and this codebase answers it with a package tree that mirrors the concepts we just covered almost exactly: model/ is the domain layer with zero platform imports, configset/ is where the platform-facing adapters (completion, inspection, reference...) live, one subpackage per extension-point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 that document is explicitly the human-facing account of a structure Dokka also renders from the same KDoc, and it explicitly says the plan, not this document, owns what's built. Two rules recur constantly and are worth flagging now so the room recognizes them when they reappear: 'model imports no IntelliJ type' (which is what makes roughly a third of the test suite plain JUnit, from Act 2) and 'schema and solrconfig may never import each other' (a one-directional prohibition, not a ban on the two appearing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code-organization.md's own words for the test that decides package placement: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are single-file by nature, so they sit inside schema/ or solrconfig/. A capability that traverses the configset by NATURE does not: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Each gesture package is one capability, not one layer: there's deliberately no service package, no util, no impl anywhere in this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lightly-formatted version of the tree code-organization.md itself draws, cross-checked directly against the actual source tree this session (75 Kotlin files under org.apache.solr.ide — I counted these myself rather than trusting the source doc's older figure, which the team's fact-checker also flagged as stale). Two things worth pointing out live: schema/ has nine leaf packages (parsing, inspection, intention, completion, reference, documentation, hint, descriptor, annotator) while solrconfig/ has six (parsing, inspection, completion, reference, descriptor, documentation) and is still catching up — that's not an oversight, it's the file that gets edited the most catching up on tooling, which is exactly the story Act 1's completion deep-dives (slides 13-14) told. solrconfig/descriptor and solrconfig/documentation are the two packages behind slide 14's structure completion and the version-hover popup earlier in Act 1 — worth naming explicitly, since a tree that left them out would show no home for a capability Act 1 just spent two slides on. And notice what's absent by design: no service package, no util, no impl anywhere in this tree — every leaf is named for a platform extension-point KIND, which is deliberate per the 'if you have not written an IntelliJ plugin before' table this same document carries.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package earns its position outside the surface split twice over, and it's worth stating both reasons: it's what BOTH the repository reader and the (future) server reader need to produce, so filing it under either configset or server would be wrong either way — SolrFact literally exists to hold a repository value AND a server value side by side, with the repository winning wherever only one is available, because the editor's job is to reason about the file in front of the user. And it's the only tree with zero IntelliJ types anywhere in it, which is the concrete payoff of Act 2's 'contributions thin, services fat' principle — every fact this deck's Act 1 screenshots displayed ultimately traces back to a pure Kotlin function over parsed text or bytecode, tested without booting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written, because the precision matters: 'configset.schema and configset.solrconfig must never import each other. That is the whole prohibition, and it is one-directional rather than a ban on the two aspects appearing together.' A shared package MAY import both — and two of them must, for reasons worth naming specifically: configset.reading names both parsers because choosing between them by file kind IS its whole job, and configset.navigation names both aspects' reference types because a usage-type provider has to label a hit from either file. That's not a leak, code-organization.md is explicit — it's the composition the shared layer exists to perform. The test is direction, not co-occurrence: sideways between the two aspects is forbidden; downward from the shared layer into both is the design. Concretely: SolrNonIndexedRelevanceFieldInspection lives in configset.solrconfig.inspection and needs to know whether a field is indexed — it reads that from model, never by reaching sideways into configset.schema, which is exactly the discipline that keeps this enforceable by review rather than by a build gate (there isn't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code-organization.md's own 'from files to the model' flow, redrawn. Two parsers — SolrSchemaParser, SolrConfigParser — are pure functions from text to facts, using the JDK's own DOM rather than IntelliJ's XML PSI, specifically so they can be tested as plain JUnit over a string with no IDE at all; external entities and doctypes are refused outright, because a cloned repository is not trusted input and entity resolution would run merely from opening a file. Both feed SolrFieldModel.of(repository, server), and SolrConfigsetReader.modelFor(PsiFile) is the one place every feature asks the resulting question — deliberately living in configset.reading rather than beside any one feature, because otherwise four different features would each have to import a fifth. The cache is the platform's own CachedValuesManager, hung on the configset directory's PsiDirectory rather than a hand-rolled map — that one decision was arrived at by being wrong first: a ConcurrentHashMap keyed by path outlives the thing the path names, so a configset deleted and recreated at the same path found a stale entry and threw InvalidVirtualFileAccessException from inside the cache itself. The dependency list is deliberately two-part — the two source PsiFiles catch an edit to THIS configset, and VFS_STRUCTURE_MODIFICATIONS catches a solrconfig.xml appearing later in a configset that had none — and PsiModificationTracker.MODIFICATION_COUNT, the reflex first choice, is explicitly named as a performance regression here because it advances on ANY PSI change anywhere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slide 4. server/ today is exactly one file: connection settings, persisted per-developer rather than per-project because reaching a server is a fact about a machine, not about the repository (the same distinction that makes a configset root live in the shared solr.xml instead). Nothing else exists yet, and the document is explicit that packages get created when they have a file to hold, not in advance — there's no empty server.query or server.driftview sitting around as a placeholder. That's a deliberate discipline worth naming for the Act-2 audience: it's the same 'contributions thin, services fat, and don't build ahead of what you need' instinct applied to the package tree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 that's the brief this whole team worked from. Everything in Act 1 traces to a plugin.xml registration and either a screenshot captured this session or an explicitly-flagged 'verified live, no image yet.' Everything in Act 2 is grounded in this repository's own tutorial and platform-mechanisms documentation. Everything in Act 3 traces to code-organization.md and the actual source tree. Open the floor for questions — likely topics: why the Server/Code tracks haven't started (sequencing, not blocking), what dumb-mode actually cost the project before it was fixed, and whether the solrconfig.xml structure-completion contradiction in the plan (slide 14) is now closed (yes — this session's screenshot is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Apache Solr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Editor intelligence for Solr configsets — completion, navigation, inspections and</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quick documentation, built on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Apache Solr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What this plugin is, and who it's for</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Solr developers work across three surfaces that share a vocabulary — field names — and share nothing else:</a:t>
            </a:r>
            <a:endParaRPr lang="en-US" sz="1500" dirty="0"/>
          </a:p>
          <a:p>
            <a:pPr lvl="1" marL="4572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 managed-schema.xml / schema.xml and solrconfig.xml — edited as anonymous XML today</a:t>
            </a:r>
            <a:endParaRPr lang="en-US" sz="1500" dirty="0"/>
          </a:p>
          <a:p>
            <a:pPr lvl="1" marL="4572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queried through the Admin UI or curl</a:t>
            </a:r>
            <a:endParaRPr lang="en-US" sz="1500" dirty="0"/>
          </a:p>
          <a:p>
            <a:pPr lvl="1" marL="4572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which passes field names as unchecked string literals</a:t>
            </a:r>
            <a:endParaRPr lang="en-US" sz="150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00" dirty="0"/>
          </a:p>
          <a:p>
            <a:pPr marL="228600" indent="-228600">
              <a:lnSpc>
                <a:spcPct val="112000"/>
              </a:lnSpc>
              <a:spcAft>
                <a:spcPts val="1000"/>
              </a:spcAft>
              <a:buSzPct val="100000"/>
              <a:buChar char="•"/>
            </a:pPr>
            <a:r>
              <a:rPr lang="en-US" sz="1500" dirty="0">
                <a:solidFill>
                  <a:srgbClr val="5B6478"/>
                </a:solidFill>
                <a:latin typeface="Calibri" pitchFamily="34" charset="0"/>
                <a:ea typeface="Calibri" pitchFamily="34" charset="-122"/>
                <a:cs typeface="Calibri" pitchFamily="34" charset="-120"/>
              </a:rPr>
              <a:t>The plugin unifies them through one shared model of what fields exist and what they can do — the same idea JPA Buddy brings to JPA entities, and that Confluent's plugin and Big Data Tools already bring to Kafka and Elasticsearch. Solr has no maintained plugin on the JetBrains Marketplace today.</a:t>
            </a:r>
            <a:endParaRPr lang="en-US" sz="150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0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Built for: JVM developers running Apache Solr who hand-edit configsets — the audience this deck's Act 2 assumes has never written an IntelliJ plugin before.</a:t>
            </a:r>
            <a:endParaRPr lang="en-US" sz="150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specs/0002-solr-intellij-plugin.md:1-40 (Overview, Background);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bug class this plugin exists to kill</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 typo'd field name returns zero results — not an error.</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Solr will not complain. The compiler cannot check a bare string. The failure is silent, plausible, and discovered in production.</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 copyField pointing at a field that was deleted fails only at core reload.</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Nothing in the editor says so until then.</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 qf parameter names a field that is tokenized, or not indexed at all.</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Relevance degrades with no warning — the query "works," it just answers wrong.</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000"/>
              </a:spcAft>
              <a:buSzPct val="100000"/>
              <a:buChar char="•"/>
            </a:pPr>
            <a:r>
              <a:rPr lang="en-US" sz="1500" i="1" dirty="0">
                <a:solidFill>
                  <a:srgbClr val="5B6478"/>
                </a:solidFill>
                <a:latin typeface="Calibri" pitchFamily="34" charset="0"/>
                <a:ea typeface="Calibri" pitchFamily="34" charset="-122"/>
                <a:cs typeface="Calibri" pitchFamily="34" charset="-120"/>
              </a:rPr>
              <a:t>“This is specified as a product, not a proof of concept. A feature that works on the maintainer's machine and produces false positives on a real project is worse than an absent feature — false positives are what get a plugin uninstalled.”</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“Background” and “Quality bar”; README.md:6-11</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Where the plugin actually stands</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Editor track — all 13 steps done.</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Configset detection, the field model, match-capability hints, quick documentation, 11 inspections, completion (schema + solrconfig.xml), references, navigation, Find Usages, rename, and two intention families.</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Server track — not started.</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server/ holds connection settings and nothing else. No HTTP client, no tool window, no query console, no drift view.</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Code track — not started.</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No recognizer exists yet, so a Java or Kotlin file gets no Solr-aware intelligence at all.</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000"/>
              </a:spcAft>
              <a:buSzPct val="100000"/>
              <a:buChar char="•"/>
            </a:pPr>
            <a:r>
              <a:rPr lang="en-US" sz="1500" i="1" dirty="0">
                <a:solidFill>
                  <a:srgbClr val="1B2340"/>
                </a:solidFill>
                <a:latin typeface="Calibri" pitchFamily="34" charset="0"/>
                <a:ea typeface="Calibri" pitchFamily="34" charset="-122"/>
                <a:cs typeface="Calibri" pitchFamily="34" charset="-120"/>
              </a:rPr>
              <a:t>“The editor track does NOT close the manual test suite” — several checks are written and unpressed by hand, and one inspection's presentation is still an open question. Everything in this deck traces to committed code or a screenshot actually captured this session — nothing here is aspirational.</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specs/plans/0002-solr-intellij-plugin-plan.md “Current state” and “Build order”; README.md “Status”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The editor track, feature by feature</a:t>
            </a:r>
            <a:endParaRPr lang="en-US" sz="2700" dirty="0"/>
          </a:p>
        </p:txBody>
      </p:sp>
      <p:sp>
        <p:nvSpPr>
          <p:cNvPr id="6" name="Shape 4"/>
          <p:cNvSpPr/>
          <p:nvPr/>
        </p:nvSpPr>
        <p:spPr>
          <a:xfrm>
            <a:off x="3977640" y="2414016"/>
            <a:ext cx="100584" cy="100584"/>
          </a:xfrm>
          <a:prstGeom prst="ellipse">
            <a:avLst/>
          </a:prstGeom>
          <a:solidFill>
            <a:srgbClr val="FF6B35"/>
          </a:solidFill>
          <a:ln/>
        </p:spPr>
      </p:sp>
      <p:sp>
        <p:nvSpPr>
          <p:cNvPr id="7" name="Text 5"/>
          <p:cNvSpPr/>
          <p:nvPr/>
        </p:nvSpPr>
        <p:spPr>
          <a:xfrm>
            <a:off x="4251960" y="2258568"/>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Match-capability inlay hints</a:t>
            </a:r>
            <a:endParaRPr lang="en-US" sz="1450" dirty="0"/>
          </a:p>
        </p:txBody>
      </p:sp>
      <p:sp>
        <p:nvSpPr>
          <p:cNvPr id="8" name="Shape 6"/>
          <p:cNvSpPr/>
          <p:nvPr/>
        </p:nvSpPr>
        <p:spPr>
          <a:xfrm>
            <a:off x="3977640" y="2889504"/>
            <a:ext cx="100584" cy="100584"/>
          </a:xfrm>
          <a:prstGeom prst="ellipse">
            <a:avLst/>
          </a:prstGeom>
          <a:solidFill>
            <a:srgbClr val="FF6B35"/>
          </a:solidFill>
          <a:ln/>
        </p:spPr>
      </p:sp>
      <p:sp>
        <p:nvSpPr>
          <p:cNvPr id="9" name="Text 7"/>
          <p:cNvSpPr/>
          <p:nvPr/>
        </p:nvSpPr>
        <p:spPr>
          <a:xfrm>
            <a:off x="4251960" y="2734056"/>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Quick documentation — fields, types, classes</a:t>
            </a:r>
            <a:endParaRPr lang="en-US" sz="1450" dirty="0"/>
          </a:p>
        </p:txBody>
      </p:sp>
      <p:sp>
        <p:nvSpPr>
          <p:cNvPr id="10" name="Shape 8"/>
          <p:cNvSpPr/>
          <p:nvPr/>
        </p:nvSpPr>
        <p:spPr>
          <a:xfrm>
            <a:off x="3977640" y="3364992"/>
            <a:ext cx="100584" cy="100584"/>
          </a:xfrm>
          <a:prstGeom prst="ellipse">
            <a:avLst/>
          </a:prstGeom>
          <a:solidFill>
            <a:srgbClr val="FF6B35"/>
          </a:solidFill>
          <a:ln/>
        </p:spPr>
      </p:sp>
      <p:sp>
        <p:nvSpPr>
          <p:cNvPr id="11" name="Text 9"/>
          <p:cNvSpPr/>
          <p:nvPr/>
        </p:nvSpPr>
        <p:spPr>
          <a:xfrm>
            <a:off x="4251960" y="3209544"/>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Inspections + quick-fixes (11 rules)</a:t>
            </a:r>
            <a:endParaRPr lang="en-US" sz="1450" dirty="0"/>
          </a:p>
        </p:txBody>
      </p:sp>
      <p:sp>
        <p:nvSpPr>
          <p:cNvPr id="12" name="Shape 10"/>
          <p:cNvSpPr/>
          <p:nvPr/>
        </p:nvSpPr>
        <p:spPr>
          <a:xfrm>
            <a:off x="3977640" y="3840480"/>
            <a:ext cx="100584" cy="100584"/>
          </a:xfrm>
          <a:prstGeom prst="ellipse">
            <a:avLst/>
          </a:prstGeom>
          <a:solidFill>
            <a:srgbClr val="FF6B35"/>
          </a:solidFill>
          <a:ln/>
        </p:spPr>
      </p:sp>
      <p:sp>
        <p:nvSpPr>
          <p:cNvPr id="13" name="Text 11"/>
          <p:cNvSpPr/>
          <p:nvPr/>
        </p:nvSpPr>
        <p:spPr>
          <a:xfrm>
            <a:off x="4251960" y="3685032"/>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Completion — schema &amp; solrconfig.xml</a:t>
            </a:r>
            <a:endParaRPr lang="en-US" sz="1450" dirty="0"/>
          </a:p>
        </p:txBody>
      </p:sp>
      <p:sp>
        <p:nvSpPr>
          <p:cNvPr id="14" name="Shape 12"/>
          <p:cNvSpPr/>
          <p:nvPr/>
        </p:nvSpPr>
        <p:spPr>
          <a:xfrm>
            <a:off x="3977640" y="4315968"/>
            <a:ext cx="100584" cy="100584"/>
          </a:xfrm>
          <a:prstGeom prst="ellipse">
            <a:avLst/>
          </a:prstGeom>
          <a:solidFill>
            <a:srgbClr val="FF6B35"/>
          </a:solidFill>
          <a:ln/>
        </p:spPr>
      </p:sp>
      <p:sp>
        <p:nvSpPr>
          <p:cNvPr id="15" name="Text 13"/>
          <p:cNvSpPr/>
          <p:nvPr/>
        </p:nvSpPr>
        <p:spPr>
          <a:xfrm>
            <a:off x="4251960" y="4160520"/>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References, navigation &amp; Find Usages</a:t>
            </a:r>
            <a:endParaRPr lang="en-US" sz="1450" dirty="0"/>
          </a:p>
        </p:txBody>
      </p:sp>
      <p:sp>
        <p:nvSpPr>
          <p:cNvPr id="16" name="Shape 14"/>
          <p:cNvSpPr/>
          <p:nvPr/>
        </p:nvSpPr>
        <p:spPr>
          <a:xfrm>
            <a:off x="3977640" y="4791456"/>
            <a:ext cx="100584" cy="100584"/>
          </a:xfrm>
          <a:prstGeom prst="ellipse">
            <a:avLst/>
          </a:prstGeom>
          <a:solidFill>
            <a:srgbClr val="FF6B35"/>
          </a:solidFill>
          <a:ln/>
        </p:spPr>
      </p:sp>
      <p:sp>
        <p:nvSpPr>
          <p:cNvPr id="17" name="Text 15"/>
          <p:cNvSpPr/>
          <p:nvPr/>
        </p:nvSpPr>
        <p:spPr>
          <a:xfrm>
            <a:off x="4251960" y="4636008"/>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Rename refactoring</a:t>
            </a:r>
            <a:endParaRPr lang="en-US" sz="1450" dirty="0"/>
          </a:p>
        </p:txBody>
      </p:sp>
      <p:sp>
        <p:nvSpPr>
          <p:cNvPr id="18" name="Shape 16"/>
          <p:cNvSpPr/>
          <p:nvPr/>
        </p:nvSpPr>
        <p:spPr>
          <a:xfrm>
            <a:off x="3977640" y="5266944"/>
            <a:ext cx="100584" cy="100584"/>
          </a:xfrm>
          <a:prstGeom prst="ellipse">
            <a:avLst/>
          </a:prstGeom>
          <a:solidFill>
            <a:srgbClr val="FF6B35"/>
          </a:solidFill>
          <a:ln/>
        </p:spPr>
      </p:sp>
      <p:sp>
        <p:nvSpPr>
          <p:cNvPr id="19" name="Text 17"/>
          <p:cNvSpPr/>
          <p:nvPr/>
        </p:nvSpPr>
        <p:spPr>
          <a:xfrm>
            <a:off x="4251960" y="5111496"/>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Companion-field intentions</a:t>
            </a:r>
            <a:endParaRPr lang="en-US" sz="1450" dirty="0"/>
          </a:p>
        </p:txBody>
      </p:sp>
      <p:sp>
        <p:nvSpPr>
          <p:cNvPr id="20" name="Shape 18"/>
          <p:cNvSpPr/>
          <p:nvPr/>
        </p:nvSpPr>
        <p:spPr>
          <a:xfrm>
            <a:off x="3977640" y="5742432"/>
            <a:ext cx="100584" cy="100584"/>
          </a:xfrm>
          <a:prstGeom prst="ellipse">
            <a:avLst/>
          </a:prstGeom>
          <a:solidFill>
            <a:srgbClr val="FF6B35"/>
          </a:solidFill>
          <a:ln/>
        </p:spPr>
      </p:sp>
      <p:sp>
        <p:nvSpPr>
          <p:cNvPr id="21" name="Text 19"/>
          <p:cNvSpPr/>
          <p:nvPr/>
        </p:nvSpPr>
        <p:spPr>
          <a:xfrm>
            <a:off x="4251960" y="5586984"/>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Dimmed restated defaults</a:t>
            </a:r>
            <a:endParaRPr lang="en-US" sz="1450" dirty="0"/>
          </a:p>
        </p:txBody>
      </p:sp>
      <p:sp>
        <p:nvSpPr>
          <p:cNvPr id="23"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INLAY HINTS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What each field can actually match — inline</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The one thing nothing else in the ecosystem does: reads the index-time analyzer chain and states what a field can actually match.</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id / sku / category — whole-value, case-sensitive.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name / description / text — tokenised, case-insensitive.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name_prefix — prefix-capable (EdgeNGram).</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Storage shape rides beside it: not stored, multi-valued, wherever true.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notes carries only storage-shape phrases — its analyzer names a factory the plugin doesn't recognise, and a wrong claim is worse than none.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legacy shows no hint at all — its type is undeclared.</a:t>
            </a:r>
            <a:endParaRPr lang="en-US" sz="1300" dirty="0"/>
          </a:p>
        </p:txBody>
      </p:sp>
      <p:sp>
        <p:nvSpPr>
          <p:cNvPr id="5" name="Shape 3"/>
          <p:cNvSpPr/>
          <p:nvPr/>
        </p:nvSpPr>
        <p:spPr>
          <a:xfrm>
            <a:off x="4754880" y="2441327"/>
            <a:ext cx="7025335" cy="171017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1-hints-match-capability.png">    </p:cNvPr>
          <p:cNvPicPr>
            <a:picLocks noChangeAspect="1"/>
          </p:cNvPicPr>
          <p:nvPr/>
        </p:nvPicPr>
        <p:blipFill>
          <a:blip r:embed="rId1"/>
          <a:stretch>
            <a:fillRect/>
          </a:stretch>
        </p:blipFill>
        <p:spPr>
          <a:xfrm>
            <a:off x="4892040" y="2578487"/>
            <a:ext cx="6751015" cy="1435850"/>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docs/images/01-hints-match-capability.png — the nine-field block at managed-schema.xml:66-77, no interaction, hints render themselves.</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SolrMatchInlayHintsProvider (configset/schema/hint); model/schema/SolrMatchAnalysis.kt, SolrMatchCapability.kt; plugin.xml:38-45; docs/screenshots.md:62-84 (entry 1, HINT-1–HINT-5)</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QUICK DOCUMENTATION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Every property's value — and where it came from</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The question the Reference Guide cannot answer: what is this property's effective value for THIS field, and did it come from the field, its type, or Solr's own default?</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Three-tier resolution: field → field type → Solr default.</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Some defaults genuinely depend on field type — reported as such rather than guessed.</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 Meaning column states the consequence in plain language — “Whether the original value can be returned in results,” never a restatement of the flag name.</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Links to the Reference Guide at the version the configset declares — never fetched at edit time.</a:t>
            </a:r>
            <a:endParaRPr lang="en-US" sz="1300" dirty="0"/>
          </a:p>
        </p:txBody>
      </p:sp>
      <p:sp>
        <p:nvSpPr>
          <p:cNvPr id="5" name="Shape 3"/>
          <p:cNvSpPr/>
          <p:nvPr/>
        </p:nvSpPr>
        <p:spPr>
          <a:xfrm>
            <a:off x="5985119" y="1399032"/>
            <a:ext cx="4564856" cy="379476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2-quick-doc-field.png">    </p:cNvPr>
          <p:cNvPicPr>
            <a:picLocks noChangeAspect="1"/>
          </p:cNvPicPr>
          <p:nvPr/>
        </p:nvPicPr>
        <p:blipFill>
          <a:blip r:embed="rId1"/>
          <a:stretch>
            <a:fillRect/>
          </a:stretch>
        </p:blipFill>
        <p:spPr>
          <a:xfrm>
            <a:off x="6122279" y="1536192"/>
            <a:ext cx="4290536" cy="3520440"/>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docs/images/02-quick-doc-field.png — caret in name="category" at managed-schema.xml:70, Quick Documentation.</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SolrSchemaDocumentationProvider, SolrFieldPresentation (configset/schema/documentation); model/schema/SolrFieldProperties.kt (SolrPropertyMeaning, step 27); plugin.xml:74-76; docs/screenshots.md:86-108 (entry 2, DOC-1)</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QUICK DOCUMENTATION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One popup, four build-time sources</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Short name and kind, the fully-qualified Lucene class, the one-sentence Javadoc summary, and the attributes read from the factory's own constructor bytecode.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Every fact is generated at build time from the actual Solr/Lucene jars — nothing hand-copied from the Reference Guide.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Accepts table: attribute name + value type, straight from the catalog.</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Backed by SolrClassCatalog — 735 classes on Solr 9, 724 on Solr 10.</a:t>
            </a:r>
            <a:endParaRPr lang="en-US" sz="1300" dirty="0"/>
          </a:p>
        </p:txBody>
      </p:sp>
      <p:sp>
        <p:nvSpPr>
          <p:cNvPr id="5" name="Shape 3"/>
          <p:cNvSpPr/>
          <p:nvPr/>
        </p:nvSpPr>
        <p:spPr>
          <a:xfrm>
            <a:off x="5420409" y="1399032"/>
            <a:ext cx="5694278" cy="379476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3-quick-doc-class.png">    </p:cNvPr>
          <p:cNvPicPr>
            <a:picLocks noChangeAspect="1"/>
          </p:cNvPicPr>
          <p:nvPr/>
        </p:nvPicPr>
        <p:blipFill>
          <a:blip r:embed="rId1"/>
          <a:stretch>
            <a:fillRect/>
          </a:stretch>
        </p:blipFill>
        <p:spPr>
          <a:xfrm>
            <a:off x="5557569" y="1536192"/>
            <a:ext cx="5419958" cy="3520440"/>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docs/images/03-quick-doc-class.png — caret in class="solr.StandardTokenizerFactory" at managed-schema.xml:33.</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model/vocabulary/SolrClassCatalog.kt (docs/code-organization.md:316-321); SolrSchemaDocumentationProvider; docs/screenshots.md:110-132 (entry 3, DOC-2/DOC-4)</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QUICK DOCUMENTATION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schema's own version attribute, explained where it's declared</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Hovering version on &lt;schema version="1.6"&gt; — this provider also answers on the element itself and on an attribute's value (slides 7 and 8); here it's a structural attribute's own name.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Two paragraphs: the general rule (1.0 to 1.7, what it selects), then this file's own resolved values at 1.6.</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At 1.6, docValues defaults off for the types that support it — a real Solr 9.7 behaviour change, not a plugin invention.</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uninvertible defaults on; autoGeneratePhraseQueries defaults off — read for this exact version, not asserted in general.</a:t>
            </a:r>
            <a:endParaRPr lang="en-US" sz="1300" dirty="0"/>
          </a:p>
        </p:txBody>
      </p:sp>
      <p:sp>
        <p:nvSpPr>
          <p:cNvPr id="5" name="Shape 3"/>
          <p:cNvSpPr/>
          <p:nvPr/>
        </p:nvSpPr>
        <p:spPr>
          <a:xfrm>
            <a:off x="4754880" y="2723218"/>
            <a:ext cx="7025335" cy="114638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16-hover-schema-version.png">    </p:cNvPr>
          <p:cNvPicPr>
            <a:picLocks noChangeAspect="1"/>
          </p:cNvPicPr>
          <p:nvPr/>
        </p:nvPicPr>
        <p:blipFill>
          <a:blip r:embed="rId1"/>
          <a:stretch>
            <a:fillRect/>
          </a:stretch>
        </p:blipFill>
        <p:spPr>
          <a:xfrm>
            <a:off x="4892040" y="2860378"/>
            <a:ext cx="6751015" cy="872069"/>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docs/images/16-hover-schema-version.png — managed-schema.xml:27, &lt;schema version="1.6"&gt;, Quick Documentation (Ctrl+J).</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SolrSchemaDocumentationProvider (configset/schema/documentation); model/schema/SolrSchemaVersion.kt; plugin.xml:74-76; Screenshotter's session report, DOC-9</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INSPECTIONS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11 inspections — and the rule that all of them obey</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i="1" dirty="0">
                <a:solidFill>
                  <a:srgbClr val="D9531E"/>
                </a:solidFill>
                <a:latin typeface="Calibri" pitchFamily="34" charset="0"/>
                <a:ea typeface="Calibri" pitchFamily="34" charset="-122"/>
                <a:cs typeface="Calibri" pitchFamily="34" charset="-120"/>
              </a:rPr>
              <a:t>“Inspections must not fire on a correct file.”</a:t>
            </a:r>
            <a:endParaRPr lang="en-US" sz="1550" dirty="0"/>
          </a:p>
          <a:p>
            <a:pPr marL="228600" indent="-228600">
              <a:lnSpc>
                <a:spcPct val="112000"/>
              </a:lnSpc>
              <a:spcAft>
                <a:spcPts val="1000"/>
              </a:spcAft>
              <a:buSzPct val="100000"/>
              <a:buChar char="•"/>
            </a:pPr>
            <a:r>
              <a:rPr lang="en-US" sz="1500" dirty="0">
                <a:solidFill>
                  <a:srgbClr val="5B6478"/>
                </a:solidFill>
                <a:latin typeface="Calibri" pitchFamily="34" charset="0"/>
                <a:ea typeface="Calibri" pitchFamily="34" charset="-122"/>
                <a:cs typeface="Calibri" pitchFamily="34" charset="-120"/>
              </a:rPr>
              <a:t>Solr configuration is full of syntax that resembles a field name without being one — fl legitimately holds score, *, [docid], max(price,0). A warning on a correct file is what gets a plugin uninstalled.</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Schema file: dangling copyField · undeclared field type · invalid attribute value · unknown attribute · dead analyzer-chain ordering · unused field type (greyed, not a warning)</a:t>
            </a:r>
            <a:endParaRPr lang="en-US" sz="1550" dirty="0"/>
          </a:p>
          <a:p>
            <a:pPr marL="228600" indent="-228600">
              <a:lnSpc>
                <a:spcPct val="112000"/>
              </a:lnSpc>
              <a:spcAft>
                <a:spcPts val="1000"/>
              </a:spcAft>
              <a:buSzPct val="100000"/>
              <a:buChar char="•"/>
            </a:pPr>
            <a:r>
              <a:rPr lang="en-US" sz="1500" dirty="0">
                <a:solidFill>
                  <a:srgbClr val="1B2340"/>
                </a:solidFill>
                <a:latin typeface="Calibri" pitchFamily="34" charset="0"/>
                <a:ea typeface="Calibri" pitchFamily="34" charset="-122"/>
                <a:cs typeface="Calibri" pitchFamily="34" charset="-120"/>
              </a:rPr>
              <a:t>solrconfig.xml: unknown field reference · non-indexed relevance field · unsupported field operation (facet/sort needing docValues) · discontinued element (in Solr's own words) · misspelled parameter</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Every reference inspection ranks its quick-fix candidates by edit distance to the typo, and caps the list — a schema with 80 fields must not answer one typo with 80 menu items.</a:t>
            </a:r>
            <a:endParaRPr lang="en-US" sz="1550" dirty="0"/>
          </a:p>
          <a:p>
            <a:pPr marL="228600" indent="-228600">
              <a:lnSpc>
                <a:spcPct val="112000"/>
              </a:lnSpc>
              <a:spcAft>
                <a:spcPts val="1000"/>
              </a:spcAft>
              <a:buSzPct val="100000"/>
              <a:buChar char="•"/>
            </a:pPr>
            <a:r>
              <a:rPr lang="en-US" sz="1500" dirty="0">
                <a:solidFill>
                  <a:srgbClr val="5B6478"/>
                </a:solidFill>
                <a:latin typeface="Calibri" pitchFamily="34" charset="0"/>
                <a:ea typeface="Calibri" pitchFamily="34" charset="-122"/>
                <a:cs typeface="Calibri" pitchFamily="34" charset="-120"/>
              </a:rPr>
              <a:t>Proven, not asserted: SolrShippedConfigsetTest runs every one of these against Solr's own _default and sample_techproducts_configs configsets, on both supported lines. Ten of the eleven report nothing; the unused-field-type rule is held out by name, because Solr ships spare types on purpose — and a separate assertion pins that it does fire. The gate found one false positive on its first run and the rule was fixed.</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plugin.xml:148-283 (11 localInspection registrations); CLAUDE.md “Inspections must not fire on a correct file”; docs/how-to/testing-and-the-build-gates.md “The configsets Solr ships”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INSPECTION + QUICK-FIX</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Catching the failure that surfaces only at core reload</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 dangling copyField, underlined — Solr would only tell you at core reload.</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Alt-Enter offers the declared names closest in edit distance to the typo.</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Dynamic patterns are candidates too, since copyField may legitimately name a glob — *_t appears in this menu.</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The demo plants this defect on purpose — the fixture's own header comment says not to fix it.</a:t>
            </a:r>
            <a:endParaRPr lang="en-US" sz="1300" dirty="0"/>
          </a:p>
        </p:txBody>
      </p:sp>
      <p:sp>
        <p:nvSpPr>
          <p:cNvPr id="5" name="Shape 3"/>
          <p:cNvSpPr/>
          <p:nvPr/>
        </p:nvSpPr>
        <p:spPr>
          <a:xfrm>
            <a:off x="5597942" y="1399032"/>
            <a:ext cx="5339211" cy="379476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4-inspection-copyfield-quickfix.png">    </p:cNvPr>
          <p:cNvPicPr>
            <a:picLocks noChangeAspect="1"/>
          </p:cNvPicPr>
          <p:nvPr/>
        </p:nvPicPr>
        <p:blipFill>
          <a:blip r:embed="rId1"/>
          <a:stretch>
            <a:fillRect/>
          </a:stretch>
        </p:blipFill>
        <p:spPr>
          <a:xfrm>
            <a:off x="5735102" y="1536192"/>
            <a:ext cx="5064891" cy="3520440"/>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docs/images/04-inspection-copyfield-quickfix.png — managed-schema.xml:92, caret on manufacturer, Alt-Enter.</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SolrDanglingCopyFieldInspection (configset/schema/inspection); SolrInspections.replacementFixes (configset/editing); plugin.xml:148-157; docs/screenshots.md:134-172 (entry 4, INSP-1)</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COMPLETION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schema's own vocabulary, offered back to you</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Attribute-name completion inside an opening &lt;field&gt; tag: every property, its one-line summary, and what it accepts.</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Attributes already on the tag are omitted — indexed and stored don't reappear because line 70 already declares them.</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Only closed sets are completed — where any value is legal, the plugin contributes nothing and leaves the platform's own behaviour alone.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true/false values are marked with Solr's own default, except where that default depends on the field type.</a:t>
            </a:r>
            <a:endParaRPr lang="en-US" sz="1300" dirty="0"/>
          </a:p>
        </p:txBody>
      </p:sp>
      <p:sp>
        <p:nvSpPr>
          <p:cNvPr id="5" name="Shape 3"/>
          <p:cNvSpPr/>
          <p:nvPr/>
        </p:nvSpPr>
        <p:spPr>
          <a:xfrm>
            <a:off x="4754880" y="2312013"/>
            <a:ext cx="7025335" cy="19687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5-completion-field-properties.png">    </p:cNvPr>
          <p:cNvPicPr>
            <a:picLocks noChangeAspect="1"/>
          </p:cNvPicPr>
          <p:nvPr/>
        </p:nvPicPr>
        <p:blipFill>
          <a:blip r:embed="rId1"/>
          <a:stretch>
            <a:fillRect/>
          </a:stretch>
        </p:blipFill>
        <p:spPr>
          <a:xfrm>
            <a:off x="4892040" y="2449173"/>
            <a:ext cx="6751015" cy="1694478"/>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docs/images/05-completion-field-properties.png — caret after stored="true" at managed-schema.xml:70, before the /, space typed.</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SolrSchemaCompletionContributor (configset/schema/completion); plugin.xml:135-138; docs/code-organization.md:352-361 (“Only closed sets are completed”); docs/screenshots.md:174-193 (entry 5, COMP-2/COMP-4)</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COMPLETION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A factory's own attributes, from its constructor bytecode</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Same catalog pipeline as the class quick-doc (slide 8) — the end of the pipeline that starts in buildSrc.</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luceneMatchVersion and preserveOriginal offered inside &lt;filter class="solr.EdgeNGramFilterFactory"&gt;, each labelled with the factory it came from.</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Attributes already written — minGramSize, maxGramSize — are omitted, the same rule as slide 12.</a:t>
            </a:r>
            <a:endParaRPr lang="en-US" sz="1300" dirty="0"/>
          </a:p>
        </p:txBody>
      </p:sp>
      <p:sp>
        <p:nvSpPr>
          <p:cNvPr id="5" name="Shape 3"/>
          <p:cNvSpPr/>
          <p:nvPr/>
        </p:nvSpPr>
        <p:spPr>
          <a:xfrm>
            <a:off x="4754880" y="2821701"/>
            <a:ext cx="7025335" cy="94942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6-completion-factory-attributes.png">    </p:cNvPr>
          <p:cNvPicPr>
            <a:picLocks noChangeAspect="1"/>
          </p:cNvPicPr>
          <p:nvPr/>
        </p:nvPicPr>
        <p:blipFill>
          <a:blip r:embed="rId1"/>
          <a:stretch>
            <a:fillRect/>
          </a:stretch>
        </p:blipFill>
        <p:spPr>
          <a:xfrm>
            <a:off x="4892040" y="2958861"/>
            <a:ext cx="6751015" cy="675102"/>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docs/images/06-completion-factory-attributes.png — managed-schema.xml:48, caret before the closing /, space typed.</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SolrSchemaCompletionContributor reading model/vocabulary/SolrClassCatalog.kt; docs/screenshots.md:195-221 (entry 6, CAT-2)</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COMPLETION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solrconfig.xml gets its own structure, not an echo of the schema</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Typing &lt; inside &lt;config&gt; now offers Solr's real top-level vocabulary: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directoryFactory, dataDir, luceneMatchVersion, requestHandler, query, updateHandler, codecFactory…</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Not an echo of the four sibling tags actually on screen — the platform's schema-less guess, now replaced.</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Generated the same way as the class catalog: a build-time pass over SolrConfig's own config-reading calls, joined to 23 plugin elements and the typed attributes EditableSolrConfigAttributes.json describes for updateHandler, query and requestDispatcher.</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This screenshot is new evidence in this deck — captured live this session to settle a stale contradiction in the plan's own status paragraph.</a:t>
            </a:r>
            <a:endParaRPr lang="en-US" sz="1300" dirty="0"/>
          </a:p>
        </p:txBody>
      </p:sp>
      <p:sp>
        <p:nvSpPr>
          <p:cNvPr id="5" name="Shape 3"/>
          <p:cNvSpPr/>
          <p:nvPr/>
        </p:nvSpPr>
        <p:spPr>
          <a:xfrm>
            <a:off x="6242065" y="1399032"/>
            <a:ext cx="4050965" cy="379476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10-completion-solrconfig-structure.png">    </p:cNvPr>
          <p:cNvPicPr>
            <a:picLocks noChangeAspect="1"/>
          </p:cNvPicPr>
          <p:nvPr/>
        </p:nvPicPr>
        <p:blipFill>
          <a:blip r:embed="rId1"/>
          <a:stretch>
            <a:fillRect/>
          </a:stretch>
        </p:blipFill>
        <p:spPr>
          <a:xfrm>
            <a:off x="6379225" y="1536192"/>
            <a:ext cx="3776645" cy="3520440"/>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docs/images/10-completion-solrconfig-structure.png — typing &lt; on a blank line directly inside &lt;config&gt; in the sandbox's solrconfig.xml (line 16).</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SolrConfigElementDescriptorProvider (configset/solrconfig/descriptor); model/vocabulary/SolrElementCatalog.kt; plugin.xml:61-67; specs/plans/0002-solr-intellij-plugin-plan.md Step 25 (“what shipped”, PR #141), lines 909-1023</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COMPLETION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Schema field names, offered inside the parameter that holds them</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The inverse of the misspelled-field inspection two slides back:</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that inspection tells a reader descriptoin isn't a field; this is the completion that would have offered description before it was mistyped.</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Scoped to exactly the 16 parameters proven to hold field names — qf, pf, fl, sort, and the rest.</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Boost and sort syntax stay untouched: qf offers name, not name^3 — a caret after name^ is inside a boost, not a second field.</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Needs a trailing space to trigger, same rule as attribute completion (slide 12).</a:t>
            </a:r>
            <a:endParaRPr lang="en-US" sz="1300" dirty="0"/>
          </a:p>
        </p:txBody>
      </p:sp>
      <p:sp>
        <p:nvSpPr>
          <p:cNvPr id="5" name="Shape 3"/>
          <p:cNvSpPr/>
          <p:nvPr/>
        </p:nvSpPr>
        <p:spPr>
          <a:xfrm>
            <a:off x="4754880" y="1850728"/>
            <a:ext cx="7025335" cy="289136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13-completion-parameter-fields.png">    </p:cNvPr>
          <p:cNvPicPr>
            <a:picLocks noChangeAspect="1"/>
          </p:cNvPicPr>
          <p:nvPr/>
        </p:nvPicPr>
        <p:blipFill>
          <a:blip r:embed="rId1"/>
          <a:stretch>
            <a:fillRect/>
          </a:stretch>
        </p:blipFill>
        <p:spPr>
          <a:xfrm>
            <a:off x="4892040" y="1987888"/>
            <a:ext cx="6751015" cy="2617048"/>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docs/images/13-completion-parameter-fields.png — solrconfig.xml:28, caret after category inside &lt;str name="qf"&gt;, space, Ctrl+Space.</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SolrParameterFieldCompletionProvider (configset/solrconfig/completion); specs/plans/0002-solr-intellij-plugin-plan.md Step 25 action 5, lines 854-865; Screenshotter's session report, PRM-1</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COMPLETION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349 parameter names, each carrying Solr's own Javadoc</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349 request-parameter names on Solr 9, 344 on Solr 10, plus 44 query-parser names on both — every one with the first sentence of the declaring constant's Javadoc.</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Completion and documentation on the closed set defType accepts, using the same catalog.</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A parameter already set on the same list is not offered again — a real rule this session's capture found firing, not a tooling gap.</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Typing qf where qf is already declared earlier in that &lt;lst&gt; offers only mlt.qf and hl.queryFieldPattern, not bare qf.</a:t>
            </a:r>
            <a:endParaRPr lang="en-US" sz="1300" dirty="0"/>
          </a:p>
        </p:txBody>
      </p:sp>
      <p:sp>
        <p:nvSpPr>
          <p:cNvPr id="5" name="Shape 3"/>
          <p:cNvSpPr/>
          <p:nvPr/>
        </p:nvSpPr>
        <p:spPr>
          <a:xfrm>
            <a:off x="4754880" y="2175856"/>
            <a:ext cx="7025335" cy="224111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15-completion-parameter-names.png">    </p:cNvPr>
          <p:cNvPicPr>
            <a:picLocks noChangeAspect="1"/>
          </p:cNvPicPr>
          <p:nvPr/>
        </p:nvPicPr>
        <p:blipFill>
          <a:blip r:embed="rId1"/>
          <a:stretch>
            <a:fillRect/>
          </a:stretch>
        </p:blipFill>
        <p:spPr>
          <a:xfrm>
            <a:off x="4892040" y="2313016"/>
            <a:ext cx="6751015" cy="1966792"/>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docs/images/15-completion-parameter-names.png — a new &lt;str name="..."&gt; inside /select's &lt;lst name="defaults"&gt;, typed sort, Ctrl+Space.</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SolrParameterNameCompletionProvider, SolrParserNameCompletionProvider (configset/solrconfig/completion); model/vocabulary/SolrParameterCatalog.kt; build/generated/solr-catalog-resources/solr-catalog/parameters-{9,10}.tsv; Screenshotter's session report, PRM-6/PRM-7</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REFERENCES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One answer, three user-visible features</a:t>
            </a:r>
            <a:endParaRPr lang="en-US" sz="2700" dirty="0"/>
          </a:p>
        </p:txBody>
      </p:sp>
      <p:sp>
        <p:nvSpPr>
          <p:cNvPr id="4" name="Shape 2"/>
          <p:cNvSpPr/>
          <p:nvPr/>
        </p:nvSpPr>
        <p:spPr>
          <a:xfrm>
            <a:off x="822960" y="2788920"/>
            <a:ext cx="2651760" cy="1371600"/>
          </a:xfrm>
          <a:prstGeom prst="roundRect">
            <a:avLst>
              <a:gd name="adj" fmla="val 4667"/>
            </a:avLst>
          </a:prstGeom>
          <a:solidFill>
            <a:srgbClr val="141B3C"/>
          </a:solidFill>
          <a:ln w="12700">
            <a:solidFill>
              <a:srgbClr val="E2E5F0"/>
            </a:solidFill>
            <a:prstDash val="solid"/>
          </a:ln>
        </p:spPr>
      </p:sp>
      <p:sp>
        <p:nvSpPr>
          <p:cNvPr id="5" name="Text 3"/>
          <p:cNvSpPr/>
          <p:nvPr/>
        </p:nvSpPr>
        <p:spPr>
          <a:xfrm>
            <a:off x="914400" y="2862072"/>
            <a:ext cx="2468880" cy="754380"/>
          </a:xfrm>
          <a:prstGeom prst="rect">
            <a:avLst/>
          </a:prstGeom>
          <a:noFill/>
          <a:ln/>
        </p:spPr>
        <p:txBody>
          <a:bodyPr wrap="square" rtlCol="0" anchor="b"/>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a:t>
            </a:r>
            <a:endParaRPr lang="en-US" sz="1600" dirty="0"/>
          </a:p>
        </p:txBody>
      </p:sp>
      <p:sp>
        <p:nvSpPr>
          <p:cNvPr id="6" name="Text 4"/>
          <p:cNvSpPr/>
          <p:nvPr/>
        </p:nvSpPr>
        <p:spPr>
          <a:xfrm>
            <a:off x="914400" y="3502152"/>
            <a:ext cx="2468880" cy="603504"/>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“what does this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string point at?”</a:t>
            </a:r>
            <a:endParaRPr lang="en-US" sz="950" dirty="0"/>
          </a:p>
        </p:txBody>
      </p:sp>
      <p:sp>
        <p:nvSpPr>
          <p:cNvPr id="7" name="Shape 5"/>
          <p:cNvSpPr/>
          <p:nvPr/>
        </p:nvSpPr>
        <p:spPr>
          <a:xfrm>
            <a:off x="4709160" y="1691640"/>
            <a:ext cx="3154680" cy="1005840"/>
          </a:xfrm>
          <a:prstGeom prst="roundRect">
            <a:avLst>
              <a:gd name="adj" fmla="val 6364"/>
            </a:avLst>
          </a:prstGeom>
          <a:solidFill>
            <a:srgbClr val="FFFFFF"/>
          </a:solidFill>
          <a:ln w="12700">
            <a:solidFill>
              <a:srgbClr val="E2E5F0"/>
            </a:solidFill>
            <a:prstDash val="solid"/>
          </a:ln>
        </p:spPr>
      </p:sp>
      <p:sp>
        <p:nvSpPr>
          <p:cNvPr id="8" name="Text 6"/>
          <p:cNvSpPr/>
          <p:nvPr/>
        </p:nvSpPr>
        <p:spPr>
          <a:xfrm>
            <a:off x="4800600" y="1764792"/>
            <a:ext cx="2971800" cy="553212"/>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Ctrl-click</a:t>
            </a:r>
            <a:endParaRPr lang="en-US" sz="1450" dirty="0"/>
          </a:p>
        </p:txBody>
      </p:sp>
      <p:sp>
        <p:nvSpPr>
          <p:cNvPr id="9" name="Text 7"/>
          <p:cNvSpPr/>
          <p:nvPr/>
        </p:nvSpPr>
        <p:spPr>
          <a:xfrm>
            <a:off x="4800600" y="2214677"/>
            <a:ext cx="297180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jumps to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declaration</a:t>
            </a:r>
            <a:endParaRPr lang="en-US" sz="950" dirty="0"/>
          </a:p>
        </p:txBody>
      </p:sp>
      <p:sp>
        <p:nvSpPr>
          <p:cNvPr id="10" name="Shape 8"/>
          <p:cNvSpPr/>
          <p:nvPr/>
        </p:nvSpPr>
        <p:spPr>
          <a:xfrm>
            <a:off x="4709160" y="2880360"/>
            <a:ext cx="3154680" cy="1005840"/>
          </a:xfrm>
          <a:prstGeom prst="roundRect">
            <a:avLst>
              <a:gd name="adj" fmla="val 6364"/>
            </a:avLst>
          </a:prstGeom>
          <a:solidFill>
            <a:srgbClr val="FFFFFF"/>
          </a:solidFill>
          <a:ln w="12700">
            <a:solidFill>
              <a:srgbClr val="E2E5F0"/>
            </a:solidFill>
            <a:prstDash val="solid"/>
          </a:ln>
        </p:spPr>
      </p:sp>
      <p:sp>
        <p:nvSpPr>
          <p:cNvPr id="11" name="Text 9"/>
          <p:cNvSpPr/>
          <p:nvPr/>
        </p:nvSpPr>
        <p:spPr>
          <a:xfrm>
            <a:off x="4800600" y="2953512"/>
            <a:ext cx="2971800" cy="553212"/>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Find Usages</a:t>
            </a:r>
            <a:endParaRPr lang="en-US" sz="1450" dirty="0"/>
          </a:p>
        </p:txBody>
      </p:sp>
      <p:sp>
        <p:nvSpPr>
          <p:cNvPr id="12" name="Text 10"/>
          <p:cNvSpPr/>
          <p:nvPr/>
        </p:nvSpPr>
        <p:spPr>
          <a:xfrm>
            <a:off x="4800600" y="3403397"/>
            <a:ext cx="297180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every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across files</a:t>
            </a:r>
            <a:endParaRPr lang="en-US" sz="950" dirty="0"/>
          </a:p>
        </p:txBody>
      </p:sp>
      <p:sp>
        <p:nvSpPr>
          <p:cNvPr id="13" name="Shape 11"/>
          <p:cNvSpPr/>
          <p:nvPr/>
        </p:nvSpPr>
        <p:spPr>
          <a:xfrm>
            <a:off x="4709160" y="4069080"/>
            <a:ext cx="3154680" cy="1005840"/>
          </a:xfrm>
          <a:prstGeom prst="roundRect">
            <a:avLst>
              <a:gd name="adj" fmla="val 6364"/>
            </a:avLst>
          </a:prstGeom>
          <a:solidFill>
            <a:srgbClr val="FFFFFF"/>
          </a:solidFill>
          <a:ln w="12700">
            <a:solidFill>
              <a:srgbClr val="E2E5F0"/>
            </a:solidFill>
            <a:prstDash val="solid"/>
          </a:ln>
        </p:spPr>
      </p:sp>
      <p:sp>
        <p:nvSpPr>
          <p:cNvPr id="14" name="Text 12"/>
          <p:cNvSpPr/>
          <p:nvPr/>
        </p:nvSpPr>
        <p:spPr>
          <a:xfrm>
            <a:off x="4800600" y="4142232"/>
            <a:ext cx="2971800" cy="553212"/>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Rename</a:t>
            </a:r>
            <a:endParaRPr lang="en-US" sz="1450" dirty="0"/>
          </a:p>
        </p:txBody>
      </p:sp>
      <p:sp>
        <p:nvSpPr>
          <p:cNvPr id="15" name="Text 13"/>
          <p:cNvSpPr/>
          <p:nvPr/>
        </p:nvSpPr>
        <p:spPr>
          <a:xfrm>
            <a:off x="4800600" y="4592117"/>
            <a:ext cx="297180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updates every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reference in place</a:t>
            </a:r>
            <a:endParaRPr lang="en-US" sz="950" dirty="0"/>
          </a:p>
        </p:txBody>
      </p:sp>
      <p:sp>
        <p:nvSpPr>
          <p:cNvPr id="16" name="Shape 14"/>
          <p:cNvSpPr/>
          <p:nvPr/>
        </p:nvSpPr>
        <p:spPr>
          <a:xfrm>
            <a:off x="3474720" y="3438144"/>
            <a:ext cx="457200" cy="27432"/>
          </a:xfrm>
          <a:prstGeom prst="rect">
            <a:avLst/>
          </a:prstGeom>
          <a:solidFill>
            <a:srgbClr val="FF6B35"/>
          </a:solidFill>
          <a:ln/>
        </p:spPr>
      </p:sp>
      <p:sp>
        <p:nvSpPr>
          <p:cNvPr id="17" name="Shape 15"/>
          <p:cNvSpPr/>
          <p:nvPr/>
        </p:nvSpPr>
        <p:spPr>
          <a:xfrm>
            <a:off x="3913632" y="2194560"/>
            <a:ext cx="27432" cy="2377440"/>
          </a:xfrm>
          <a:prstGeom prst="rect">
            <a:avLst/>
          </a:prstGeom>
          <a:solidFill>
            <a:srgbClr val="FF6B35"/>
          </a:solidFill>
          <a:ln/>
        </p:spPr>
      </p:sp>
      <p:sp>
        <p:nvSpPr>
          <p:cNvPr id="18" name="Shape 16"/>
          <p:cNvSpPr/>
          <p:nvPr/>
        </p:nvSpPr>
        <p:spPr>
          <a:xfrm>
            <a:off x="3931920" y="2180844"/>
            <a:ext cx="777240" cy="27432"/>
          </a:xfrm>
          <a:prstGeom prst="rect">
            <a:avLst/>
          </a:prstGeom>
          <a:solidFill>
            <a:srgbClr val="FF6B35"/>
          </a:solidFill>
          <a:ln/>
        </p:spPr>
      </p:sp>
      <p:sp>
        <p:nvSpPr>
          <p:cNvPr id="19" name="Shape 17"/>
          <p:cNvSpPr/>
          <p:nvPr/>
        </p:nvSpPr>
        <p:spPr>
          <a:xfrm>
            <a:off x="3931920" y="3369564"/>
            <a:ext cx="777240" cy="27432"/>
          </a:xfrm>
          <a:prstGeom prst="rect">
            <a:avLst/>
          </a:prstGeom>
          <a:solidFill>
            <a:srgbClr val="FF6B35"/>
          </a:solidFill>
          <a:ln/>
        </p:spPr>
      </p:sp>
      <p:sp>
        <p:nvSpPr>
          <p:cNvPr id="20" name="Shape 18"/>
          <p:cNvSpPr/>
          <p:nvPr/>
        </p:nvSpPr>
        <p:spPr>
          <a:xfrm>
            <a:off x="3931920" y="4558284"/>
            <a:ext cx="777240" cy="27432"/>
          </a:xfrm>
          <a:prstGeom prst="rect">
            <a:avLst/>
          </a:prstGeom>
          <a:solidFill>
            <a:srgbClr val="FF6B35"/>
          </a:solidFill>
          <a:ln/>
        </p:spPr>
      </p:sp>
      <p:sp>
        <p:nvSpPr>
          <p:cNvPr id="21" name="Shape 19"/>
          <p:cNvSpPr/>
          <p:nvPr/>
        </p:nvSpPr>
        <p:spPr>
          <a:xfrm>
            <a:off x="8229600" y="2788920"/>
            <a:ext cx="3200400" cy="1463040"/>
          </a:xfrm>
          <a:prstGeom prst="roundRect">
            <a:avLst>
              <a:gd name="adj" fmla="val 4375"/>
            </a:avLst>
          </a:prstGeom>
          <a:solidFill>
            <a:srgbClr val="F6F7FB"/>
          </a:solidFill>
          <a:ln w="12700">
            <a:solidFill>
              <a:srgbClr val="E2E5F0"/>
            </a:solidFill>
            <a:prstDash val="solid"/>
          </a:ln>
        </p:spPr>
      </p:sp>
      <p:sp>
        <p:nvSpPr>
          <p:cNvPr id="22" name="Text 20"/>
          <p:cNvSpPr/>
          <p:nvPr/>
        </p:nvSpPr>
        <p:spPr>
          <a:xfrm>
            <a:off x="8321040" y="2862072"/>
            <a:ext cx="3017520" cy="80467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3 registrations</a:t>
            </a:r>
            <a:endParaRPr lang="en-US" sz="1350" dirty="0"/>
          </a:p>
        </p:txBody>
      </p:sp>
      <p:sp>
        <p:nvSpPr>
          <p:cNvPr id="23" name="Text 21"/>
          <p:cNvSpPr/>
          <p:nvPr/>
        </p:nvSpPr>
        <p:spPr>
          <a:xfrm>
            <a:off x="8321040" y="3549701"/>
            <a:ext cx="3017520" cy="643738"/>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SolrSchemaReferenceContributor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SolrConfigReferenceContributor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SolrClassReferenceContributor</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NAVIGATION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cross-file link that catches the silent failure the README opens with</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 qf parameter naming a field, resolving straight to that field's schema declaration.</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Each name in name^3 description category navigates independently — boost syntax doesn't confuse it.</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This is the exact bug class from slide 3, made visible before it ever fails silently.</a:t>
            </a:r>
            <a:endParaRPr lang="en-US" sz="1300" dirty="0"/>
          </a:p>
        </p:txBody>
      </p:sp>
      <p:sp>
        <p:nvSpPr>
          <p:cNvPr id="5" name="Shape 3"/>
          <p:cNvSpPr/>
          <p:nvPr/>
        </p:nvSpPr>
        <p:spPr>
          <a:xfrm>
            <a:off x="4754880" y="2646898"/>
            <a:ext cx="7025335" cy="129902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8-nav-solrconfig-field-reference.png">    </p:cNvPr>
          <p:cNvPicPr>
            <a:picLocks noChangeAspect="1"/>
          </p:cNvPicPr>
          <p:nvPr/>
        </p:nvPicPr>
        <p:blipFill>
          <a:blip r:embed="rId1"/>
          <a:stretch>
            <a:fillRect/>
          </a:stretch>
        </p:blipFill>
        <p:spPr>
          <a:xfrm>
            <a:off x="4892040" y="2784058"/>
            <a:ext cx="6751015" cy="1024708"/>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docs/images/08-nav-solrconfig-field-reference.png — solrconfig.xml:28, &lt;str name="qf"&gt;name^3 description category&lt;/str&gt;, hover on name.</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SolrConfigReferenceContributor (configset/solrconfig/reference); docs/screenshots.md:253-267 (entry 8, NAV-4)</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NAVIGATION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A filter's resource path opens the file it names</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words="stopwords.txt" resolves through lang/ and lands on the real file.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Quick Definition frames the resolved file's own contents beside the reference — the publishable form.</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Cmd-hover shows the same resolution as an absolute path, which is why it's the right gesture for checking this by hand and the wrong one for a screenshot.</a:t>
            </a:r>
            <a:endParaRPr lang="en-US" sz="1300" dirty="0"/>
          </a:p>
        </p:txBody>
      </p:sp>
      <p:sp>
        <p:nvSpPr>
          <p:cNvPr id="5" name="Shape 3"/>
          <p:cNvSpPr/>
          <p:nvPr/>
        </p:nvSpPr>
        <p:spPr>
          <a:xfrm>
            <a:off x="4754880" y="2301072"/>
            <a:ext cx="7025335" cy="19906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9-nav-resource-file.png">    </p:cNvPr>
          <p:cNvPicPr>
            <a:picLocks noChangeAspect="1"/>
          </p:cNvPicPr>
          <p:nvPr/>
        </p:nvPicPr>
        <p:blipFill>
          <a:blip r:embed="rId1"/>
          <a:stretch>
            <a:fillRect/>
          </a:stretch>
        </p:blipFill>
        <p:spPr>
          <a:xfrm>
            <a:off x="4892040" y="2438232"/>
            <a:ext cx="6751015" cy="1716360"/>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docs/images/09-nav-resource-file.png — managed-schema.xml:34, caret on the resource path, Quick Definition.</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SolrSchemaReferenceContributor resource-attribute handling; docs/screenshots.md:269-287 (entry 9, NAV-5)</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FIND USAGES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Declarations became search targets — not just references</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Every field declared with a given type, from one gesture on the DECLARATION itself.</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4 results: name, description, text, and the *_t dynamic field — grouped under “Field declaring this type.”</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Used to be impossible: “Cannot search for usages from this location” on a declaration, until Step 28 built a PomDeclarationSearcher.</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The header reads “Field type” and the group reads “Field declaring this type” — both needed their own providers; the platform's fallback text is the class name ‘Solr Declaration Target.’</a:t>
            </a:r>
            <a:endParaRPr lang="en-US" sz="1300" dirty="0"/>
          </a:p>
        </p:txBody>
      </p:sp>
      <p:sp>
        <p:nvSpPr>
          <p:cNvPr id="5" name="Shape 3"/>
          <p:cNvSpPr/>
          <p:nvPr/>
        </p:nvSpPr>
        <p:spPr>
          <a:xfrm>
            <a:off x="4754880" y="2449090"/>
            <a:ext cx="7025335" cy="169464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07-find-usages-field-type.png">    </p:cNvPr>
          <p:cNvPicPr>
            <a:picLocks noChangeAspect="1"/>
          </p:cNvPicPr>
          <p:nvPr/>
        </p:nvPicPr>
        <p:blipFill>
          <a:blip r:embed="rId1"/>
          <a:stretch>
            <a:fillRect/>
          </a:stretch>
        </p:blipFill>
        <p:spPr>
          <a:xfrm>
            <a:off x="4892040" y="2586250"/>
            <a:ext cx="6751015" cy="1420324"/>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docs/images/07-find-usages-field-type.png — caret in the &lt;fieldType name="text_general"&gt; DECLARATION at managed-schema.xml:31, ⌥F7. Reshot this session — the prior capture was stale twice over.</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SolrDeclarationSearcher, SolrDeclarationDescriptionProvider, SolrUsageTypeProvider (configset/navigation); plugin.xml:110-128; specs/plans/0002-solr-intellij-plugin-plan.md Step 28, lines 1179-1263</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RENAME</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One rename, two files, one Undo</a:t>
            </a:r>
            <a:endParaRPr lang="en-US" sz="2700" dirty="0"/>
          </a:p>
        </p:txBody>
      </p:sp>
      <p:sp>
        <p:nvSpPr>
          <p:cNvPr id="4" name="Text 2"/>
          <p:cNvSpPr/>
          <p:nvPr/>
        </p:nvSpPr>
        <p:spPr>
          <a:xfrm>
            <a:off x="640080" y="1536192"/>
            <a:ext cx="3977640" cy="4206240"/>
          </a:xfrm>
          <a:prstGeom prst="rect">
            <a:avLst/>
          </a:prstGeom>
          <a:noFill/>
          <a:ln/>
        </p:spPr>
        <p:txBody>
          <a:bodyPr wrap="square" rtlCol="0" anchor="t"/>
          <a:lstStyle/>
          <a:p>
            <a:pPr indent="0" marL="0">
              <a:lnSpc>
                <a:spcPct val="112000"/>
              </a:lnSpc>
              <a:spcAft>
                <a:spcPts val="1000"/>
              </a:spcAft>
              <a:buNone/>
            </a:pPr>
            <a:r>
              <a:rPr lang="en-US" sz="1300" b="1" dirty="0">
                <a:solidFill>
                  <a:srgbClr val="D9531E"/>
                </a:solidFill>
                <a:latin typeface="Calibri" pitchFamily="34" charset="0"/>
                <a:ea typeface="Calibri" pitchFamily="34" charset="-122"/>
                <a:cs typeface="Calibri" pitchFamily="34" charset="-120"/>
              </a:rPr>
              <a:t>Shift+F6 on a field or field type updates every reference through the graph Find Usages already walks — across files, including the qf line in solrconfig.xml.</a:t>
            </a:r>
            <a:endParaRPr lang="en-US" sz="1300" dirty="0"/>
          </a:p>
          <a:p>
            <a:pPr marL="177800" indent="-177800">
              <a:lnSpc>
                <a:spcPct val="112000"/>
              </a:lnSpc>
              <a:spcAft>
                <a:spcPts val="1000"/>
              </a:spcAft>
              <a:buSzPct val="100000"/>
              <a:buChar char="•"/>
            </a:pPr>
            <a:r>
              <a:rPr lang="en-US" sz="1300" dirty="0">
                <a:solidFill>
                  <a:srgbClr val="1B2340"/>
                </a:solidFill>
                <a:latin typeface="Calibri" pitchFamily="34" charset="0"/>
                <a:ea typeface="Calibri" pitchFamily="34" charset="-122"/>
                <a:cs typeface="Calibri" pitchFamily="34" charset="-120"/>
              </a:rPr>
              <a:t>The dialog reads “Rename field 'category' and its usages to:” — not the platform's generic fallback, confirming the description provider from the previous slide is wired correctly.</a:t>
            </a:r>
            <a:endParaRPr lang="en-US" sz="1300" dirty="0"/>
          </a:p>
          <a:p>
            <a:pPr indent="0" marL="0">
              <a:lnSpc>
                <a:spcPct val="112000"/>
              </a:lnSpc>
              <a:spcAft>
                <a:spcPts val="1000"/>
              </a:spcAft>
              <a:buNone/>
            </a:pPr>
            <a:r>
              <a:rPr lang="en-US" sz="1300" b="1" dirty="0">
                <a:solidFill>
                  <a:srgbClr val="D9531E"/>
                </a:solidFill>
                <a:latin typeface="Calibri" pitchFamily="34" charset="0"/>
                <a:ea typeface="Calibri" pitchFamily="34" charset="-122"/>
                <a:cs typeface="Calibri" pitchFamily="34" charset="-120"/>
              </a:rPr>
              <a:t>One deliberate limit: a dynamic field (*_t) rewrites only the references that literally spell it.</a:t>
            </a:r>
            <a:endParaRPr lang="en-US" sz="1300" dirty="0"/>
          </a:p>
          <a:p>
            <a:pPr marL="177800" indent="-177800">
              <a:lnSpc>
                <a:spcPct val="112000"/>
              </a:lnSpc>
              <a:spcAft>
                <a:spcPts val="1000"/>
              </a:spcAft>
              <a:buSzPct val="100000"/>
              <a:buChar char="•"/>
            </a:pPr>
            <a:r>
              <a:rPr lang="en-US" sz="1300" dirty="0">
                <a:solidFill>
                  <a:srgbClr val="1B2340"/>
                </a:solidFill>
                <a:latin typeface="Calibri" pitchFamily="34" charset="0"/>
                <a:ea typeface="Calibri" pitchFamily="34" charset="-122"/>
                <a:cs typeface="Calibri" pitchFamily="34" charset="-120"/>
              </a:rPr>
              <a:t>Rewriting a pattern-supplied name like body_t would substitute into the glob itself and write an invalid pattern where a field name belongs. The name left behind is not silently orphaned — SolrUnknownFieldReferenceInspection flags it from the same position.</a:t>
            </a:r>
            <a:endParaRPr lang="en-US" sz="1300" dirty="0"/>
          </a:p>
        </p:txBody>
      </p:sp>
      <p:sp>
        <p:nvSpPr>
          <p:cNvPr id="5" name="Text 3"/>
          <p:cNvSpPr/>
          <p:nvPr/>
        </p:nvSpPr>
        <p:spPr>
          <a:xfrm>
            <a:off x="4892040" y="1737360"/>
            <a:ext cx="675101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6" name="Shape 4"/>
          <p:cNvSpPr/>
          <p:nvPr/>
        </p:nvSpPr>
        <p:spPr>
          <a:xfrm>
            <a:off x="4782312" y="2265942"/>
            <a:ext cx="6970471" cy="94537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14-rename-cross-file-before.png">    </p:cNvPr>
          <p:cNvPicPr>
            <a:picLocks noChangeAspect="1"/>
          </p:cNvPicPr>
          <p:nvPr/>
        </p:nvPicPr>
        <p:blipFill>
          <a:blip r:embed="rId1"/>
          <a:stretch>
            <a:fillRect/>
          </a:stretch>
        </p:blipFill>
        <p:spPr>
          <a:xfrm>
            <a:off x="4892040" y="2375670"/>
            <a:ext cx="6751015" cy="725916"/>
          </a:xfrm>
          <a:prstGeom prst="rect">
            <a:avLst/>
          </a:prstGeom>
        </p:spPr>
      </p:pic>
      <p:sp>
        <p:nvSpPr>
          <p:cNvPr id="8" name="Text 5"/>
          <p:cNvSpPr/>
          <p:nvPr/>
        </p:nvSpPr>
        <p:spPr>
          <a:xfrm>
            <a:off x="4892040" y="3794760"/>
            <a:ext cx="675101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 no separate edit</a:t>
            </a:r>
            <a:endParaRPr lang="en-US" sz="1050" dirty="0"/>
          </a:p>
        </p:txBody>
      </p:sp>
      <p:sp>
        <p:nvSpPr>
          <p:cNvPr id="9" name="Shape 6"/>
          <p:cNvSpPr/>
          <p:nvPr/>
        </p:nvSpPr>
        <p:spPr>
          <a:xfrm>
            <a:off x="4782312" y="4487381"/>
            <a:ext cx="6970471" cy="617295"/>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4-rename-cross-file-after.png">    </p:cNvPr>
          <p:cNvPicPr>
            <a:picLocks noChangeAspect="1"/>
          </p:cNvPicPr>
          <p:nvPr/>
        </p:nvPicPr>
        <p:blipFill>
          <a:blip r:embed="rId2"/>
          <a:stretch>
            <a:fillRect/>
          </a:stretch>
        </p:blipFill>
        <p:spPr>
          <a:xfrm>
            <a:off x="4892040" y="4597109"/>
            <a:ext cx="6751015" cy="397839"/>
          </a:xfrm>
          <a:prstGeom prst="rect">
            <a:avLst/>
          </a:prstGeom>
        </p:spPr>
      </p:pic>
      <p:sp>
        <p:nvSpPr>
          <p:cNvPr id="11" name="Text 7"/>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docs/images/14-rename-cross-file-before.png / -after.png — managed-schema.xml:70, category renamed to product_category via Shift+F6; solrconfig.xml:28 updates with no separate action. A single Cmd+Z reverted both files as one refactoring.</a:t>
            </a:r>
            <a:endParaRPr lang="en-US" sz="930" dirty="0"/>
          </a:p>
        </p:txBody>
      </p:sp>
      <p:sp>
        <p:nvSpPr>
          <p:cNvPr id="13"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INTENTIONS</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Alt-Enter on a correct file — offering a capability, not reporting a defect</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A tokenised field lacking exact-match or prefix-match support is CORRECT Solr — underlining it would manufacture a problem.</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Add exact-match companion field (string) — writes a StrField-backed *_exact field plus its copyField.</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Add prefix-capable companion field (text_prefix) — writes an EdgeNGram-backed field plus its copyField.</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The first time the plugin edits a configset rather than only explaining one.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Reuse matches the implementing class, not the declared type name — every unanalysed numeric/date type qualifies for exact-match reuse, borrowing the wrong one would fail at index time.</a:t>
            </a:r>
            <a:endParaRPr lang="en-US" sz="1300" dirty="0"/>
          </a:p>
        </p:txBody>
      </p:sp>
      <p:sp>
        <p:nvSpPr>
          <p:cNvPr id="5" name="Shape 3"/>
          <p:cNvSpPr/>
          <p:nvPr/>
        </p:nvSpPr>
        <p:spPr>
          <a:xfrm>
            <a:off x="4754880" y="2501461"/>
            <a:ext cx="7025335" cy="158990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12-intention-companion-fields.png">    </p:cNvPr>
          <p:cNvPicPr>
            <a:picLocks noChangeAspect="1"/>
          </p:cNvPicPr>
          <p:nvPr/>
        </p:nvPicPr>
        <p:blipFill>
          <a:blip r:embed="rId1"/>
          <a:stretch>
            <a:fillRect/>
          </a:stretch>
        </p:blipFill>
        <p:spPr>
          <a:xfrm>
            <a:off x="4892040" y="2638621"/>
            <a:ext cx="6751015" cy="1315582"/>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docs/images/12-intention-companion-fields.png — Alt-Enter (⌥⏎) on description (a tokenised text_general field) at managed-schema.xml:71.</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SolrAddPrefixCompanionIntention, SolrAddExactCompanionIntention, SolrCompanions (configset/schema/intention); plugin.xml:285-297; specs/plans/0002-solr-intellij-plugin-plan.md Step 7 action 3, lines 640-687</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 ANNOTATOR + INTENTION</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A written value that need not have been written</a:t>
            </a:r>
            <a:endParaRPr lang="en-US" sz="2700" dirty="0"/>
          </a:p>
        </p:txBody>
      </p:sp>
      <p:sp>
        <p:nvSpPr>
          <p:cNvPr id="4" name="Text 2"/>
          <p:cNvSpPr/>
          <p:nvPr/>
        </p:nvSpPr>
        <p:spPr>
          <a:xfrm>
            <a:off x="640080" y="1536192"/>
            <a:ext cx="3977640" cy="379476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indexed="true" and stored="true" render fully dimmed — they restate what Solr would have supplied anyway.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stored="false" on name_prefix stays normal color — it changes something, so it's load-bearing.</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Not an inspection — a restated default is correct. An annotator at information severity, no underline, no Problems-view entry.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Paired with an intention that removes it, proven to leave the parsed model byte-identical.</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Reaches into the factory catalog too: ignoreCase="false" on solr.StopFilterFactory dims against that factory's own recorded bytecode default.</a:t>
            </a:r>
            <a:endParaRPr lang="en-US" sz="1300" dirty="0"/>
          </a:p>
        </p:txBody>
      </p:sp>
      <p:sp>
        <p:nvSpPr>
          <p:cNvPr id="5" name="Shape 3"/>
          <p:cNvSpPr/>
          <p:nvPr/>
        </p:nvSpPr>
        <p:spPr>
          <a:xfrm>
            <a:off x="4754880" y="2357197"/>
            <a:ext cx="7025335" cy="187843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6" name="Image 0" descr="/Users/adityaparikh/IdeaProjects/solr-intellij-plugin/docs/images/11-dimmed-restated-default.png">    </p:cNvPr>
          <p:cNvPicPr>
            <a:picLocks noChangeAspect="1"/>
          </p:cNvPicPr>
          <p:nvPr/>
        </p:nvPicPr>
        <p:blipFill>
          <a:blip r:embed="rId1"/>
          <a:stretch>
            <a:fillRect/>
          </a:stretch>
        </p:blipFill>
        <p:spPr>
          <a:xfrm>
            <a:off x="4892040" y="2494357"/>
            <a:ext cx="6751015" cy="1604111"/>
          </a:xfrm>
          <a:prstGeom prst="rect">
            <a:avLst/>
          </a:prstGeom>
        </p:spPr>
      </p:pic>
      <p:sp>
        <p:nvSpPr>
          <p:cNvPr id="7" name="Text 4"/>
          <p:cNvSpPr/>
          <p:nvPr/>
        </p:nvSpPr>
        <p:spPr>
          <a:xfrm>
            <a:off x="640080" y="5440680"/>
            <a:ext cx="10607040" cy="384048"/>
          </a:xfrm>
          <a:prstGeom prst="rect">
            <a:avLst/>
          </a:prstGeom>
          <a:noFill/>
          <a:ln/>
        </p:spPr>
        <p:txBody>
          <a:bodyPr wrap="square" rtlCol="0" anchor="t"/>
          <a:lstStyle/>
          <a:p>
            <a:pPr algn="ctr" indent="0" marL="0">
              <a:buNone/>
            </a:pPr>
            <a:r>
              <a:rPr lang="en-US" sz="1030" i="1" dirty="0">
                <a:solidFill>
                  <a:srgbClr val="5B6478"/>
                </a:solidFill>
                <a:latin typeface="Calibri" pitchFamily="34" charset="0"/>
                <a:ea typeface="Calibri" pitchFamily="34" charset="-122"/>
                <a:cs typeface="Calibri" pitchFamily="34" charset="-120"/>
              </a:rPr>
              <a:t>docs/images/11-dimmed-restated-default.png — managed-schema.xml:66-73, untouched — the dim is already present in the committed baseline.</a:t>
            </a:r>
            <a:endParaRPr lang="en-US" sz="1030" dirty="0"/>
          </a:p>
        </p:txBody>
      </p:sp>
      <p:sp>
        <p:nvSpPr>
          <p:cNvPr id="8" name="Text 5"/>
          <p:cNvSpPr/>
          <p:nvPr/>
        </p:nvSpPr>
        <p:spPr>
          <a:xfrm>
            <a:off x="640080" y="5852160"/>
            <a:ext cx="10607040" cy="530352"/>
          </a:xfrm>
          <a:prstGeom prst="rect">
            <a:avLst/>
          </a:prstGeom>
          <a:noFill/>
          <a:ln/>
        </p:spPr>
        <p:txBody>
          <a:bodyPr wrap="square" rtlCol="0" anchor="t"/>
          <a:lstStyle/>
          <a:p>
            <a:pPr indent="0" marL="0">
              <a:buNone/>
            </a:pPr>
            <a:r>
              <a:rPr lang="en-US" sz="930" i="1" dirty="0">
                <a:solidFill>
                  <a:srgbClr val="5B6478"/>
                </a:solidFill>
                <a:latin typeface="Calibri" pitchFamily="34" charset="0"/>
                <a:ea typeface="Calibri" pitchFamily="34" charset="-122"/>
                <a:cs typeface="Calibri" pitchFamily="34" charset="-120"/>
              </a:rPr>
              <a:t>Source: SolrRestatedDefaultAnnotator, SolrRemoveRestatedAttributeIntention (configset/schema/annotator, /intention); model/schema/SolrFieldProperties.restatesDefault; plugin.xml:47-53, 298-305; specs/plans/0002-solr-intellij-plugin-plan.md Step 26, lines 1025-1117</a:t>
            </a:r>
            <a:endParaRPr lang="en-US" sz="930" dirty="0"/>
          </a:p>
        </p:txBody>
      </p:sp>
      <p:sp>
        <p:nvSpPr>
          <p:cNvPr id="10"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What's real, in one list</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Shown with a real screenshot this deck: </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match hints · quick doc (field, class, version) · dangling-copyField quick-fix · schema completion · factory-attribute completion · solrconfig.xml structure, parameter &amp; field-name completion · solrconfig→schema navigation · resource navigation · Find Usages on a declaration · rename across files · companion-field intentions · dimmed restated defaults</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Registered and test-covered, not pressed by hand this session: </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ten of the eleven inspections beyond the one imaged (automated tests, not a manual pass), and a handful of hover positions the Screenshotter's runbook flagged as not yet reached (factory-attribute hover, the complete-configuration table).</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Not started: the Server track (no HTTP client, no query console, no drift view) and the Code track (no Java/Kotlin recognizer).</a:t>
            </a:r>
            <a:endParaRPr lang="en-US" sz="1550" dirty="0"/>
          </a:p>
          <a:p>
            <a:pPr marL="228600" indent="-228600">
              <a:lnSpc>
                <a:spcPct val="112000"/>
              </a:lnSpc>
              <a:spcAft>
                <a:spcPts val="1000"/>
              </a:spcAft>
              <a:buSzPct val="100000"/>
              <a:buChar char="•"/>
            </a:pPr>
            <a:r>
              <a:rPr lang="en-US" sz="1500" i="1" dirty="0">
                <a:solidFill>
                  <a:srgbClr val="1B2340"/>
                </a:solidFill>
                <a:latin typeface="Calibri" pitchFamily="34" charset="0"/>
                <a:ea typeface="Calibri" pitchFamily="34" charset="-122"/>
                <a:cs typeface="Calibri" pitchFamily="34" charset="-120"/>
              </a:rPr>
              <a:t>Every claim in Act 1 traces to a plugin.xml registration, a plan section, or a screenshot captured this session — nothing here is aspirational.</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Screenshotter's session report (this team);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IntelliJ plugin development,</a:t>
            </a:r>
            <a:endParaRPr lang="en-US" sz="2700" dirty="0"/>
          </a:p>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for a Java developer who's never done it</a:t>
            </a:r>
            <a:endParaRPr lang="en-US" sz="2700" dirty="0"/>
          </a:p>
        </p:txBody>
      </p:sp>
      <p:sp>
        <p:nvSpPr>
          <p:cNvPr id="6" name="Shape 4"/>
          <p:cNvSpPr/>
          <p:nvPr/>
        </p:nvSpPr>
        <p:spPr>
          <a:xfrm>
            <a:off x="3977640" y="2414016"/>
            <a:ext cx="100584" cy="100584"/>
          </a:xfrm>
          <a:prstGeom prst="ellipse">
            <a:avLst/>
          </a:prstGeom>
          <a:solidFill>
            <a:srgbClr val="FF6B35"/>
          </a:solidFill>
          <a:ln/>
        </p:spPr>
      </p:sp>
      <p:sp>
        <p:nvSpPr>
          <p:cNvPr id="7" name="Text 5"/>
          <p:cNvSpPr/>
          <p:nvPr/>
        </p:nvSpPr>
        <p:spPr>
          <a:xfrm>
            <a:off x="4251960" y="2258568"/>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The mental model — the platform calls you</a:t>
            </a:r>
            <a:endParaRPr lang="en-US" sz="1450" dirty="0"/>
          </a:p>
        </p:txBody>
      </p:sp>
      <p:sp>
        <p:nvSpPr>
          <p:cNvPr id="8" name="Shape 6"/>
          <p:cNvSpPr/>
          <p:nvPr/>
        </p:nvSpPr>
        <p:spPr>
          <a:xfrm>
            <a:off x="3977640" y="2889504"/>
            <a:ext cx="100584" cy="100584"/>
          </a:xfrm>
          <a:prstGeom prst="ellipse">
            <a:avLst/>
          </a:prstGeom>
          <a:solidFill>
            <a:srgbClr val="FF6B35"/>
          </a:solidFill>
          <a:ln/>
        </p:spPr>
      </p:sp>
      <p:sp>
        <p:nvSpPr>
          <p:cNvPr id="9" name="Text 7"/>
          <p:cNvSpPr/>
          <p:nvPr/>
        </p:nvSpPr>
        <p:spPr>
          <a:xfrm>
            <a:off x="4251960" y="2734056"/>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Extension points &amp; plugin.xml</a:t>
            </a:r>
            <a:endParaRPr lang="en-US" sz="1450" dirty="0"/>
          </a:p>
        </p:txBody>
      </p:sp>
      <p:sp>
        <p:nvSpPr>
          <p:cNvPr id="10" name="Shape 8"/>
          <p:cNvSpPr/>
          <p:nvPr/>
        </p:nvSpPr>
        <p:spPr>
          <a:xfrm>
            <a:off x="3977640" y="3364992"/>
            <a:ext cx="100584" cy="100584"/>
          </a:xfrm>
          <a:prstGeom prst="ellipse">
            <a:avLst/>
          </a:prstGeom>
          <a:solidFill>
            <a:srgbClr val="FF6B35"/>
          </a:solidFill>
          <a:ln/>
        </p:spPr>
      </p:sp>
      <p:sp>
        <p:nvSpPr>
          <p:cNvPr id="11" name="Text 9"/>
          <p:cNvSpPr/>
          <p:nvPr/>
        </p:nvSpPr>
        <p:spPr>
          <a:xfrm>
            <a:off x="4251960" y="3209544"/>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PSI — the tree everything stands on</a:t>
            </a:r>
            <a:endParaRPr lang="en-US" sz="1450" dirty="0"/>
          </a:p>
        </p:txBody>
      </p:sp>
      <p:sp>
        <p:nvSpPr>
          <p:cNvPr id="12" name="Shape 10"/>
          <p:cNvSpPr/>
          <p:nvPr/>
        </p:nvSpPr>
        <p:spPr>
          <a:xfrm>
            <a:off x="3977640" y="3840480"/>
            <a:ext cx="100584" cy="100584"/>
          </a:xfrm>
          <a:prstGeom prst="ellipse">
            <a:avLst/>
          </a:prstGeom>
          <a:solidFill>
            <a:srgbClr val="FF6B35"/>
          </a:solidFill>
          <a:ln/>
        </p:spPr>
      </p:sp>
      <p:sp>
        <p:nvSpPr>
          <p:cNvPr id="13" name="Text 11"/>
          <p:cNvSpPr/>
          <p:nvPr/>
        </p:nvSpPr>
        <p:spPr>
          <a:xfrm>
            <a:off x="4251960" y="3685032"/>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Dumb mode</a:t>
            </a:r>
            <a:endParaRPr lang="en-US" sz="1450" dirty="0"/>
          </a:p>
        </p:txBody>
      </p:sp>
      <p:sp>
        <p:nvSpPr>
          <p:cNvPr id="14" name="Shape 12"/>
          <p:cNvSpPr/>
          <p:nvPr/>
        </p:nvSpPr>
        <p:spPr>
          <a:xfrm>
            <a:off x="3977640" y="4315968"/>
            <a:ext cx="100584" cy="100584"/>
          </a:xfrm>
          <a:prstGeom prst="ellipse">
            <a:avLst/>
          </a:prstGeom>
          <a:solidFill>
            <a:srgbClr val="FF6B35"/>
          </a:solidFill>
          <a:ln/>
        </p:spPr>
      </p:sp>
      <p:sp>
        <p:nvSpPr>
          <p:cNvPr id="15" name="Text 13"/>
          <p:cNvSpPr/>
          <p:nvPr/>
        </p:nvSpPr>
        <p:spPr>
          <a:xfrm>
            <a:off x="4251960" y="4160520"/>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The sandbox &amp; threading rules</a:t>
            </a:r>
            <a:endParaRPr lang="en-US" sz="1450" dirty="0"/>
          </a:p>
        </p:txBody>
      </p:sp>
      <p:sp>
        <p:nvSpPr>
          <p:cNvPr id="16" name="Shape 14"/>
          <p:cNvSpPr/>
          <p:nvPr/>
        </p:nvSpPr>
        <p:spPr>
          <a:xfrm>
            <a:off x="3977640" y="4791456"/>
            <a:ext cx="100584" cy="100584"/>
          </a:xfrm>
          <a:prstGeom prst="ellipse">
            <a:avLst/>
          </a:prstGeom>
          <a:solidFill>
            <a:srgbClr val="FF6B35"/>
          </a:solidFill>
          <a:ln/>
        </p:spPr>
      </p:sp>
      <p:sp>
        <p:nvSpPr>
          <p:cNvPr id="17" name="Text 15"/>
          <p:cNvSpPr/>
          <p:nvPr/>
        </p:nvSpPr>
        <p:spPr>
          <a:xfrm>
            <a:off x="4251960" y="4636008"/>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Testing, two conventions</a:t>
            </a:r>
            <a:endParaRPr lang="en-US" sz="145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IDE plays the role Tomcat plays</a:t>
            </a:r>
            <a:endParaRPr lang="en-US" sz="2700" dirty="0"/>
          </a:p>
        </p:txBody>
      </p:sp>
      <p:sp>
        <p:nvSpPr>
          <p:cNvPr id="4" name="Shape 2"/>
          <p:cNvSpPr/>
          <p:nvPr/>
        </p:nvSpPr>
        <p:spPr>
          <a:xfrm>
            <a:off x="731520" y="1737360"/>
            <a:ext cx="3291840" cy="1188720"/>
          </a:xfrm>
          <a:prstGeom prst="roundRect">
            <a:avLst>
              <a:gd name="adj" fmla="val 5385"/>
            </a:avLst>
          </a:prstGeom>
          <a:solidFill>
            <a:srgbClr val="F6F7FB"/>
          </a:solidFill>
          <a:ln w="12700">
            <a:solidFill>
              <a:srgbClr val="E2E5F0"/>
            </a:solidFill>
            <a:prstDash val="solid"/>
          </a:ln>
        </p:spPr>
      </p:sp>
      <p:sp>
        <p:nvSpPr>
          <p:cNvPr id="5" name="Text 3"/>
          <p:cNvSpPr/>
          <p:nvPr/>
        </p:nvSpPr>
        <p:spPr>
          <a:xfrm>
            <a:off x="822960" y="1810512"/>
            <a:ext cx="3108960" cy="65379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Spring</a:t>
            </a:r>
            <a:endParaRPr lang="en-US" sz="1500" dirty="0"/>
          </a:p>
        </p:txBody>
      </p:sp>
      <p:sp>
        <p:nvSpPr>
          <p:cNvPr id="6" name="Text 4"/>
          <p:cNvSpPr/>
          <p:nvPr/>
        </p:nvSpPr>
        <p:spPr>
          <a:xfrm>
            <a:off x="822960" y="2355494"/>
            <a:ext cx="3108960" cy="523037"/>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@RestController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@GetMapping("/hello")</a:t>
            </a:r>
            <a:endParaRPr lang="en-US" sz="950" dirty="0"/>
          </a:p>
        </p:txBody>
      </p:sp>
      <p:sp>
        <p:nvSpPr>
          <p:cNvPr id="7" name="Shape 5"/>
          <p:cNvSpPr/>
          <p:nvPr/>
        </p:nvSpPr>
        <p:spPr>
          <a:xfrm>
            <a:off x="731520" y="3200400"/>
            <a:ext cx="3291840" cy="1188720"/>
          </a:xfrm>
          <a:prstGeom prst="roundRect">
            <a:avLst>
              <a:gd name="adj" fmla="val 5385"/>
            </a:avLst>
          </a:prstGeom>
          <a:solidFill>
            <a:srgbClr val="F6F7FB"/>
          </a:solidFill>
          <a:ln w="12700">
            <a:solidFill>
              <a:srgbClr val="E2E5F0"/>
            </a:solidFill>
            <a:prstDash val="solid"/>
          </a:ln>
        </p:spPr>
      </p:sp>
      <p:sp>
        <p:nvSpPr>
          <p:cNvPr id="8" name="Text 6"/>
          <p:cNvSpPr/>
          <p:nvPr/>
        </p:nvSpPr>
        <p:spPr>
          <a:xfrm>
            <a:off x="822960" y="3273552"/>
            <a:ext cx="3108960" cy="65379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Tomcat</a:t>
            </a:r>
            <a:endParaRPr lang="en-US" sz="1400" dirty="0"/>
          </a:p>
        </p:txBody>
      </p:sp>
      <p:sp>
        <p:nvSpPr>
          <p:cNvPr id="9" name="Text 7"/>
          <p:cNvSpPr/>
          <p:nvPr/>
        </p:nvSpPr>
        <p:spPr>
          <a:xfrm>
            <a:off x="822960" y="3818534"/>
            <a:ext cx="3108960" cy="523037"/>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owns the socket,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accept loop, the thread pool</a:t>
            </a:r>
            <a:endParaRPr lang="en-US" sz="950" dirty="0"/>
          </a:p>
        </p:txBody>
      </p:sp>
      <p:sp>
        <p:nvSpPr>
          <p:cNvPr id="10" name="Text 8"/>
          <p:cNvSpPr/>
          <p:nvPr/>
        </p:nvSpPr>
        <p:spPr>
          <a:xfrm>
            <a:off x="4160520" y="210312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160520" y="35661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892040" y="1737360"/>
            <a:ext cx="3291840" cy="1188720"/>
          </a:xfrm>
          <a:prstGeom prst="roundRect">
            <a:avLst>
              <a:gd name="adj" fmla="val 5385"/>
            </a:avLst>
          </a:prstGeom>
          <a:solidFill>
            <a:srgbClr val="FFFFFF"/>
          </a:solidFill>
          <a:ln w="12700">
            <a:solidFill>
              <a:srgbClr val="E2E5F0"/>
            </a:solidFill>
            <a:prstDash val="solid"/>
          </a:ln>
        </p:spPr>
      </p:sp>
      <p:sp>
        <p:nvSpPr>
          <p:cNvPr id="13" name="Text 11"/>
          <p:cNvSpPr/>
          <p:nvPr/>
        </p:nvSpPr>
        <p:spPr>
          <a:xfrm>
            <a:off x="4983480" y="1810512"/>
            <a:ext cx="3108960" cy="65379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Your extension</a:t>
            </a:r>
            <a:endParaRPr lang="en-US" sz="1500" dirty="0"/>
          </a:p>
        </p:txBody>
      </p:sp>
      <p:sp>
        <p:nvSpPr>
          <p:cNvPr id="14" name="Text 12"/>
          <p:cNvSpPr/>
          <p:nvPr/>
        </p:nvSpPr>
        <p:spPr>
          <a:xfrm>
            <a:off x="4983480" y="2355494"/>
            <a:ext cx="3108960" cy="523037"/>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 Reference</a:t>
            </a:r>
            <a:endParaRPr lang="en-US" sz="950" dirty="0"/>
          </a:p>
        </p:txBody>
      </p:sp>
      <p:sp>
        <p:nvSpPr>
          <p:cNvPr id="15" name="Shape 13"/>
          <p:cNvSpPr/>
          <p:nvPr/>
        </p:nvSpPr>
        <p:spPr>
          <a:xfrm>
            <a:off x="4892040" y="3200400"/>
            <a:ext cx="3291840" cy="1188720"/>
          </a:xfrm>
          <a:prstGeom prst="roundRect">
            <a:avLst>
              <a:gd name="adj" fmla="val 5385"/>
            </a:avLst>
          </a:prstGeom>
          <a:solidFill>
            <a:srgbClr val="141B3C"/>
          </a:solidFill>
          <a:ln w="12700">
            <a:solidFill>
              <a:srgbClr val="E2E5F0"/>
            </a:solidFill>
            <a:prstDash val="solid"/>
          </a:ln>
        </p:spPr>
      </p:sp>
      <p:sp>
        <p:nvSpPr>
          <p:cNvPr id="16" name="Text 14"/>
          <p:cNvSpPr/>
          <p:nvPr/>
        </p:nvSpPr>
        <p:spPr>
          <a:xfrm>
            <a:off x="4983480" y="3273552"/>
            <a:ext cx="3108960" cy="653796"/>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17" name="Text 15"/>
          <p:cNvSpPr/>
          <p:nvPr/>
        </p:nvSpPr>
        <p:spPr>
          <a:xfrm>
            <a:off x="4983480" y="3818534"/>
            <a:ext cx="3108960" cy="523037"/>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the keystrokes, the UI</a:t>
            </a:r>
            <a:endParaRPr lang="en-US" sz="950" dirty="0"/>
          </a:p>
        </p:txBody>
      </p:sp>
      <p:sp>
        <p:nvSpPr>
          <p:cNvPr id="18" name="Shape 16"/>
          <p:cNvSpPr/>
          <p:nvPr/>
        </p:nvSpPr>
        <p:spPr>
          <a:xfrm>
            <a:off x="8732520" y="2468880"/>
            <a:ext cx="2743200" cy="1737360"/>
          </a:xfrm>
          <a:prstGeom prst="roundRect">
            <a:avLst>
              <a:gd name="adj" fmla="val 3684"/>
            </a:avLst>
          </a:prstGeom>
          <a:solidFill>
            <a:srgbClr val="F6F7FB"/>
          </a:solidFill>
          <a:ln w="12700">
            <a:solidFill>
              <a:srgbClr val="E2E5F0"/>
            </a:solidFill>
            <a:prstDash val="solid"/>
          </a:ln>
        </p:spPr>
      </p:sp>
      <p:sp>
        <p:nvSpPr>
          <p:cNvPr id="19" name="Text 17"/>
          <p:cNvSpPr/>
          <p:nvPr/>
        </p:nvSpPr>
        <p:spPr>
          <a:xfrm>
            <a:off x="8823960" y="2542032"/>
            <a:ext cx="2560320" cy="955548"/>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You write:</a:t>
            </a:r>
            <a:endParaRPr lang="en-US" sz="1400" dirty="0"/>
          </a:p>
        </p:txBody>
      </p:sp>
      <p:sp>
        <p:nvSpPr>
          <p:cNvPr id="20" name="Text 18"/>
          <p:cNvSpPr/>
          <p:nvPr/>
        </p:nvSpPr>
        <p:spPr>
          <a:xfrm>
            <a:off x="8823960" y="3372307"/>
            <a:ext cx="2560320" cy="764438"/>
          </a:xfrm>
          <a:prstGeom prst="rect">
            <a:avLst/>
          </a:prstGeom>
          <a:noFill/>
          <a:ln/>
        </p:spPr>
        <p:txBody>
          <a:bodyPr wrap="square" rtlCol="0" anchor="t"/>
          <a:lstStyle/>
          <a:p>
            <a:pPr algn="ctr" indent="0" marL="0">
              <a:buNone/>
            </a:pPr>
            <a:r>
              <a:rPr lang="en-US" sz="950" dirty="0">
                <a:solidFill>
                  <a:srgbClr val="1B2340"/>
                </a:solidFill>
                <a:latin typeface="Calibri" pitchFamily="34" charset="0"/>
                <a:ea typeface="Calibri" pitchFamily="34" charset="-122"/>
                <a:cs typeface="Calibri" pitchFamily="34" charset="-120"/>
              </a:rPr>
              <a:t>one method.</a:t>
            </a:r>
            <a:endParaRPr lang="en-US" sz="950" dirty="0"/>
          </a:p>
          <a:p>
            <a:pPr algn="ctr" indent="0" marL="0">
              <a:buNone/>
            </a:pPr>
            <a:r>
              <a:rPr lang="en-US" sz="950" dirty="0">
                <a:solidFill>
                  <a:srgbClr val="1B2340"/>
                </a:solidFill>
                <a:latin typeface="Calibri" pitchFamily="34" charset="0"/>
                <a:ea typeface="Calibri" pitchFamily="34" charset="-122"/>
                <a:cs typeface="Calibri" pitchFamily="34" charset="-120"/>
              </a:rPr>
              <a:t>Tell the platform</a:t>
            </a:r>
            <a:endParaRPr lang="en-US" sz="950" dirty="0"/>
          </a:p>
          <a:p>
            <a:pPr algn="ctr" indent="0" marL="0">
              <a:buNone/>
            </a:pPr>
            <a:r>
              <a:rPr lang="en-US" sz="950" dirty="0">
                <a:solidFill>
                  <a:srgbClr val="1B2340"/>
                </a:solidFill>
                <a:latin typeface="Calibri" pitchFamily="34" charset="0"/>
                <a:ea typeface="Calibri" pitchFamily="34" charset="-122"/>
                <a:cs typeface="Calibri" pitchFamily="34" charset="-120"/>
              </a:rPr>
              <a:t>where it belongs.</a:t>
            </a:r>
            <a:endParaRPr lang="en-US" sz="950" dirty="0"/>
          </a:p>
          <a:p>
            <a:pPr algn="ctr" indent="0" marL="0">
              <a:buNone/>
            </a:pPr>
            <a:r>
              <a:rPr lang="en-US" sz="950" dirty="0">
                <a:solidFill>
                  <a:srgbClr val="1B2340"/>
                </a:solidFill>
                <a:latin typeface="Calibri" pitchFamily="34" charset="0"/>
                <a:ea typeface="Calibri" pitchFamily="34" charset="-122"/>
                <a:cs typeface="Calibri" pitchFamily="34" charset="-120"/>
              </a:rPr>
              <a:t>It calls you.</a:t>
            </a:r>
            <a:endParaRPr lang="en-US" sz="950" dirty="0"/>
          </a:p>
        </p:txBody>
      </p:sp>
      <p:sp>
        <p:nvSpPr>
          <p:cNvPr id="21" name="Text 19"/>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docs/modern-intellij-plugin-development.md, Part 2 “The mental model”</a:t>
            </a:r>
            <a:endParaRPr lang="en-US" sz="950" dirty="0"/>
          </a:p>
        </p:txBody>
      </p:sp>
      <p:sp>
        <p:nvSpPr>
          <p:cNvPr id="23"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“If it's not in plugin.xml, it does not exist”</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An extension point is an interface, plus a list of everybody who implemented it.</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CompletionContributor is an interface. The platform keeps a list of every class in every installed plugin that implements it, and walks that list when the user hits Ctrl+Space.</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No annotation registers anything — no @Component, no classpath scan.</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Your class gets on the list because it's named, as a string, in META-INF/plugin.xml. Sixty installed plugins means sixty tiny XML files the IDE reads in milliseconds at startup — not sixty JARs scanned for annotations.</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And nothing tells you when it's wrong.</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No build-time warning, no runtime error, no log line. Write a beautiful contributor, hit Ctrl+Space, get silence. “Every single one of us has lost an hour to this, exactly once, and then never again.”</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docs/modern-intellij-plugin-development.md, Part 2 “So what's an extension point, really?”</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This repo's actual plugin.xml — not a toy example</a:t>
            </a:r>
            <a:endParaRPr lang="en-US" sz="2700" dirty="0"/>
          </a:p>
        </p:txBody>
      </p:sp>
      <p:sp>
        <p:nvSpPr>
          <p:cNvPr id="4" name="Text 2"/>
          <p:cNvSpPr/>
          <p:nvPr/>
        </p:nvSpPr>
        <p:spPr>
          <a:xfrm>
            <a:off x="640080" y="1572768"/>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Real excerpt, src/main/resources/META-INF/plugin.xml</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Every &lt;extensions&gt; child names an interface (left-hand tag) and a class (implementationClass) — that pairing IS the registration.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order="first" on the schema completion contributor matters:</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it runs ahead of the platform's own XML completion so it can drop bare duplicates of names it already offered with summaries.</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Comments in this file are load-bearing — several explain WHY a second, near-identical registration exists rather than one wider one.</a:t>
            </a:r>
            <a:endParaRPr lang="en-US" sz="1300" dirty="0"/>
          </a:p>
        </p:txBody>
      </p:sp>
      <p:sp>
        <p:nvSpPr>
          <p:cNvPr id="5" name="Shape 3"/>
          <p:cNvSpPr/>
          <p:nvPr/>
        </p:nvSpPr>
        <p:spPr>
          <a:xfrm>
            <a:off x="5074920" y="1572768"/>
            <a:ext cx="6476695" cy="4434840"/>
          </a:xfrm>
          <a:prstGeom prst="roundRect">
            <a:avLst>
              <a:gd name="adj" fmla="val 1649"/>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30952" y="1773936"/>
            <a:ext cx="5964631" cy="4069080"/>
          </a:xfrm>
          <a:prstGeom prst="rect">
            <a:avLst/>
          </a:prstGeom>
          <a:noFill/>
          <a:ln/>
        </p:spPr>
        <p:txBody>
          <a:bodyPr wrap="square" rtlCol="0" anchor="t"/>
          <a:lstStyle/>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&lt;extensions defaultExtensionNs="com.intellij"&gt;</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&lt;codeInsight.declarativeInlayProvider</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language="XML"</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implementationClass=</a:t>
            </a:r>
            <a:endParaRPr lang="en-US" sz="1250" dirty="0"/>
          </a:p>
          <a:p>
            <a:pPr indent="0" marL="0">
              <a:lnSpc>
                <a:spcPct val="112000"/>
              </a:lnSpc>
              <a:buNone/>
            </a:pPr>
            <a:r>
              <a:rPr lang="en-US" sz="1250" b="1" dirty="0">
                <a:solidFill>
                  <a:srgbClr val="FF6B35"/>
                </a:solidFill>
                <a:latin typeface="Courier New" pitchFamily="34" charset="0"/>
                <a:ea typeface="Courier New" pitchFamily="34" charset="-122"/>
                <a:cs typeface="Courier New" pitchFamily="34" charset="-120"/>
              </a:rPr>
              <a:t>        "...hint.SolrMatchInlayHintsProvider"/&gt;</a:t>
            </a:r>
            <a:endParaRPr lang="en-US" sz="1250" dirty="0"/>
          </a:p>
          <a:p>
            <a:pPr indent="0" marL="0">
              <a:lnSpc>
                <a:spcPct val="112000"/>
              </a:lnSpc>
              <a:buNone/>
            </a:pP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&lt;completion.contributor</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language="XML" order="first"</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implementationClass=</a:t>
            </a:r>
            <a:endParaRPr lang="en-US" sz="1250" dirty="0"/>
          </a:p>
          <a:p>
            <a:pPr indent="0" marL="0">
              <a:lnSpc>
                <a:spcPct val="112000"/>
              </a:lnSpc>
              <a:buNone/>
            </a:pPr>
            <a:r>
              <a:rPr lang="en-US" sz="1250" b="1" dirty="0">
                <a:solidFill>
                  <a:srgbClr val="FF6B35"/>
                </a:solidFill>
                <a:latin typeface="Courier New" pitchFamily="34" charset="0"/>
                <a:ea typeface="Courier New" pitchFamily="34" charset="-122"/>
                <a:cs typeface="Courier New" pitchFamily="34" charset="-120"/>
              </a:rPr>
              <a:t>        "...completion.SolrSchemaCompletionContributor"/&gt;</a:t>
            </a:r>
            <a:endParaRPr lang="en-US" sz="1250" dirty="0"/>
          </a:p>
          <a:p>
            <a:pPr indent="0" marL="0">
              <a:lnSpc>
                <a:spcPct val="112000"/>
              </a:lnSpc>
              <a:buNone/>
            </a:pP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&lt;localInspection shortName="SolrDanglingCopyField"</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level="WARNING"</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implementationClass=</a:t>
            </a:r>
            <a:endParaRPr lang="en-US" sz="1250" dirty="0"/>
          </a:p>
          <a:p>
            <a:pPr indent="0" marL="0">
              <a:lnSpc>
                <a:spcPct val="112000"/>
              </a:lnSpc>
              <a:buNone/>
            </a:pPr>
            <a:r>
              <a:rPr lang="en-US" sz="1250" b="1" dirty="0">
                <a:solidFill>
                  <a:srgbClr val="FF6B35"/>
                </a:solidFill>
                <a:latin typeface="Courier New" pitchFamily="34" charset="0"/>
                <a:ea typeface="Courier New" pitchFamily="34" charset="-122"/>
                <a:cs typeface="Courier New" pitchFamily="34" charset="-120"/>
              </a:rPr>
              <a:t>        "...SolrDanglingCopyFieldInspection"/&gt;</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&lt;/extensions&gt;</a:t>
            </a:r>
            <a:endParaRPr lang="en-US" sz="1250" dirty="0"/>
          </a:p>
        </p:txBody>
      </p:sp>
      <p:sp>
        <p:nvSpPr>
          <p:cNvPr id="7" name="Text 5"/>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src/main/resources/META-INF/plugin.xml:30-306 (real file, this repo)</a:t>
            </a:r>
            <a:endParaRPr lang="en-US" sz="95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PSI: the parse tree the IDE already has</a:t>
            </a:r>
            <a:endParaRPr lang="en-US" sz="2700" dirty="0"/>
          </a:p>
        </p:txBody>
      </p:sp>
      <p:sp>
        <p:nvSpPr>
          <p:cNvPr id="4" name="Shape 2"/>
          <p:cNvSpPr/>
          <p:nvPr/>
        </p:nvSpPr>
        <p:spPr>
          <a:xfrm>
            <a:off x="640080" y="1691640"/>
            <a:ext cx="3291840" cy="1051560"/>
          </a:xfrm>
          <a:prstGeom prst="roundRect">
            <a:avLst>
              <a:gd name="adj" fmla="val 6087"/>
            </a:avLst>
          </a:prstGeom>
          <a:solidFill>
            <a:srgbClr val="F6F7FB"/>
          </a:solidFill>
          <a:ln w="12700">
            <a:solidFill>
              <a:srgbClr val="E2E5F0"/>
            </a:solidFill>
            <a:prstDash val="solid"/>
          </a:ln>
        </p:spPr>
      </p:sp>
      <p:sp>
        <p:nvSpPr>
          <p:cNvPr id="5" name="Text 3"/>
          <p:cNvSpPr/>
          <p:nvPr/>
        </p:nvSpPr>
        <p:spPr>
          <a:xfrm>
            <a:off x="731520" y="1764792"/>
            <a:ext cx="3108960" cy="578358"/>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VirtualFile</a:t>
            </a:r>
            <a:endParaRPr lang="en-US" sz="1450" dirty="0"/>
          </a:p>
        </p:txBody>
      </p:sp>
      <p:sp>
        <p:nvSpPr>
          <p:cNvPr id="6" name="Text 4"/>
          <p:cNvSpPr/>
          <p:nvPr/>
        </p:nvSpPr>
        <p:spPr>
          <a:xfrm>
            <a:off x="731520" y="2238451"/>
            <a:ext cx="3108960" cy="462686"/>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the file itself — path, name</a:t>
            </a:r>
            <a:endParaRPr lang="en-US" sz="950" dirty="0"/>
          </a:p>
        </p:txBody>
      </p:sp>
      <p:sp>
        <p:nvSpPr>
          <p:cNvPr id="7" name="Shape 5"/>
          <p:cNvSpPr/>
          <p:nvPr/>
        </p:nvSpPr>
        <p:spPr>
          <a:xfrm>
            <a:off x="4480560" y="1691640"/>
            <a:ext cx="3291840" cy="1051560"/>
          </a:xfrm>
          <a:prstGeom prst="roundRect">
            <a:avLst>
              <a:gd name="adj" fmla="val 6087"/>
            </a:avLst>
          </a:prstGeom>
          <a:solidFill>
            <a:srgbClr val="F6F7FB"/>
          </a:solidFill>
          <a:ln w="12700">
            <a:solidFill>
              <a:srgbClr val="E2E5F0"/>
            </a:solidFill>
            <a:prstDash val="solid"/>
          </a:ln>
        </p:spPr>
      </p:sp>
      <p:sp>
        <p:nvSpPr>
          <p:cNvPr id="8" name="Text 6"/>
          <p:cNvSpPr/>
          <p:nvPr/>
        </p:nvSpPr>
        <p:spPr>
          <a:xfrm>
            <a:off x="4572000" y="1764792"/>
            <a:ext cx="3108960" cy="578358"/>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Document</a:t>
            </a:r>
            <a:endParaRPr lang="en-US" sz="1450" dirty="0"/>
          </a:p>
        </p:txBody>
      </p:sp>
      <p:sp>
        <p:nvSpPr>
          <p:cNvPr id="9" name="Text 7"/>
          <p:cNvSpPr/>
          <p:nvPr/>
        </p:nvSpPr>
        <p:spPr>
          <a:xfrm>
            <a:off x="4572000" y="2238451"/>
            <a:ext cx="3108960" cy="462686"/>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the text right now,</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including unsaved edits</a:t>
            </a:r>
            <a:endParaRPr lang="en-US" sz="950" dirty="0"/>
          </a:p>
        </p:txBody>
      </p:sp>
      <p:sp>
        <p:nvSpPr>
          <p:cNvPr id="10" name="Shape 8"/>
          <p:cNvSpPr/>
          <p:nvPr/>
        </p:nvSpPr>
        <p:spPr>
          <a:xfrm>
            <a:off x="8321040" y="1691640"/>
            <a:ext cx="3200400" cy="1051560"/>
          </a:xfrm>
          <a:prstGeom prst="roundRect">
            <a:avLst>
              <a:gd name="adj" fmla="val 6087"/>
            </a:avLst>
          </a:prstGeom>
          <a:solidFill>
            <a:srgbClr val="141B3C"/>
          </a:solidFill>
          <a:ln w="12700">
            <a:solidFill>
              <a:srgbClr val="E2E5F0"/>
            </a:solidFill>
            <a:prstDash val="solid"/>
          </a:ln>
        </p:spPr>
      </p:sp>
      <p:sp>
        <p:nvSpPr>
          <p:cNvPr id="11" name="Text 9"/>
          <p:cNvSpPr/>
          <p:nvPr/>
        </p:nvSpPr>
        <p:spPr>
          <a:xfrm>
            <a:off x="8412480" y="1764792"/>
            <a:ext cx="3017520" cy="578358"/>
          </a:xfrm>
          <a:prstGeom prst="rect">
            <a:avLst/>
          </a:prstGeom>
          <a:noFill/>
          <a:ln/>
        </p:spPr>
        <p:txBody>
          <a:bodyPr wrap="square" rtlCol="0" anchor="b"/>
          <a:lstStyle/>
          <a:p>
            <a:pPr algn="ctr" indent="0" marL="0">
              <a:buNone/>
            </a:pPr>
            <a:r>
              <a:rPr lang="en-US" sz="1450" b="1" dirty="0">
                <a:solidFill>
                  <a:srgbClr val="FFFFFF"/>
                </a:solidFill>
                <a:latin typeface="Calibri" pitchFamily="34" charset="0"/>
                <a:ea typeface="Calibri" pitchFamily="34" charset="-122"/>
                <a:cs typeface="Calibri" pitchFamily="34" charset="-120"/>
              </a:rPr>
              <a:t>PsiFile</a:t>
            </a:r>
            <a:endParaRPr lang="en-US" sz="1450" dirty="0"/>
          </a:p>
        </p:txBody>
      </p:sp>
      <p:sp>
        <p:nvSpPr>
          <p:cNvPr id="12" name="Text 10"/>
          <p:cNvSpPr/>
          <p:nvPr/>
        </p:nvSpPr>
        <p:spPr>
          <a:xfrm>
            <a:off x="8412480" y="2238451"/>
            <a:ext cx="301752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the parsed structure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live, never stale</a:t>
            </a:r>
            <a:endParaRPr lang="en-US" sz="950" dirty="0"/>
          </a:p>
        </p:txBody>
      </p:sp>
      <p:sp>
        <p:nvSpPr>
          <p:cNvPr id="13" name="Shape 11"/>
          <p:cNvSpPr/>
          <p:nvPr/>
        </p:nvSpPr>
        <p:spPr>
          <a:xfrm>
            <a:off x="3977640" y="2135124"/>
            <a:ext cx="457200" cy="164592"/>
          </a:xfrm>
          <a:prstGeom prst="rightArrow">
            <a:avLst/>
          </a:prstGeom>
          <a:solidFill>
            <a:srgbClr val="FF6B35"/>
          </a:solidFill>
          <a:ln/>
        </p:spPr>
      </p:sp>
      <p:sp>
        <p:nvSpPr>
          <p:cNvPr id="14" name="Shape 12"/>
          <p:cNvSpPr/>
          <p:nvPr/>
        </p:nvSpPr>
        <p:spPr>
          <a:xfrm>
            <a:off x="7818120" y="2135124"/>
            <a:ext cx="457200" cy="164592"/>
          </a:xfrm>
          <a:prstGeom prst="rightArrow">
            <a:avLst/>
          </a:prstGeom>
          <a:solidFill>
            <a:srgbClr val="FF6B35"/>
          </a:solidFill>
          <a:ln/>
        </p:spPr>
      </p:sp>
      <p:sp>
        <p:nvSpPr>
          <p:cNvPr id="15" name="Text 13"/>
          <p:cNvSpPr/>
          <p:nvPr/>
        </p:nvSpPr>
        <p:spPr>
          <a:xfrm>
            <a:off x="640080" y="3108960"/>
            <a:ext cx="7315200" cy="365760"/>
          </a:xfrm>
          <a:prstGeom prst="rect">
            <a:avLst/>
          </a:prstGeom>
          <a:noFill/>
          <a:ln/>
        </p:spPr>
        <p:txBody>
          <a:bodyPr wrap="square" rtlCol="0" anchor="ctr"/>
          <a:lstStyle/>
          <a:p>
            <a:pPr indent="0" marL="0">
              <a:buNone/>
            </a:pPr>
            <a:r>
              <a:rPr lang="en-US" sz="1300" b="1" dirty="0">
                <a:solidFill>
                  <a:srgbClr val="1B2340"/>
                </a:solidFill>
                <a:latin typeface="Calibri" pitchFamily="34" charset="0"/>
                <a:ea typeface="Calibri" pitchFamily="34" charset="-122"/>
                <a:cs typeface="Calibri" pitchFamily="34" charset="-120"/>
              </a:rPr>
              <a:t>What our schema looks like as PSI:</a:t>
            </a:r>
            <a:endParaRPr lang="en-US" sz="1300" dirty="0"/>
          </a:p>
        </p:txBody>
      </p:sp>
      <p:sp>
        <p:nvSpPr>
          <p:cNvPr id="16" name="Shape 14"/>
          <p:cNvSpPr/>
          <p:nvPr/>
        </p:nvSpPr>
        <p:spPr>
          <a:xfrm>
            <a:off x="640080" y="3566160"/>
            <a:ext cx="2377440" cy="640080"/>
          </a:xfrm>
          <a:prstGeom prst="roundRect">
            <a:avLst>
              <a:gd name="adj" fmla="val 10000"/>
            </a:avLst>
          </a:prstGeom>
          <a:solidFill>
            <a:srgbClr val="FFFFFF"/>
          </a:solidFill>
          <a:ln w="12700">
            <a:solidFill>
              <a:srgbClr val="E2E5F0"/>
            </a:solidFill>
            <a:prstDash val="solid"/>
          </a:ln>
        </p:spPr>
      </p:sp>
      <p:sp>
        <p:nvSpPr>
          <p:cNvPr id="17" name="Text 15"/>
          <p:cNvSpPr/>
          <p:nvPr/>
        </p:nvSpPr>
        <p:spPr>
          <a:xfrm>
            <a:off x="731520" y="3639312"/>
            <a:ext cx="2194560" cy="352044"/>
          </a:xfrm>
          <a:prstGeom prst="rect">
            <a:avLst/>
          </a:prstGeom>
          <a:noFill/>
          <a:ln/>
        </p:spPr>
        <p:txBody>
          <a:bodyPr wrap="square" rtlCol="0" anchor="b"/>
          <a:lstStyle/>
          <a:p>
            <a:pPr algn="ctr" indent="0" marL="0">
              <a:buNone/>
            </a:pPr>
            <a:r>
              <a:rPr lang="en-US" sz="1150" b="1" dirty="0">
                <a:solidFill>
                  <a:srgbClr val="1B2340"/>
                </a:solidFill>
                <a:latin typeface="Calibri" pitchFamily="34" charset="0"/>
                <a:ea typeface="Calibri" pitchFamily="34" charset="-122"/>
                <a:cs typeface="Calibri" pitchFamily="34" charset="-120"/>
              </a:rPr>
              <a:t>XmlTag: field</a:t>
            </a:r>
            <a:endParaRPr lang="en-US" sz="1150" dirty="0"/>
          </a:p>
        </p:txBody>
      </p:sp>
      <p:sp>
        <p:nvSpPr>
          <p:cNvPr id="18" name="Text 16"/>
          <p:cNvSpPr/>
          <p:nvPr/>
        </p:nvSpPr>
        <p:spPr>
          <a:xfrm>
            <a:off x="731520" y="3899002"/>
            <a:ext cx="2194560" cy="281635"/>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name=category</a:t>
            </a:r>
            <a:endParaRPr lang="en-US" sz="950" dirty="0"/>
          </a:p>
        </p:txBody>
      </p:sp>
      <p:sp>
        <p:nvSpPr>
          <p:cNvPr id="19" name="Shape 17"/>
          <p:cNvSpPr/>
          <p:nvPr/>
        </p:nvSpPr>
        <p:spPr>
          <a:xfrm>
            <a:off x="3063240" y="3803904"/>
            <a:ext cx="731520" cy="164592"/>
          </a:xfrm>
          <a:prstGeom prst="rightArrow">
            <a:avLst/>
          </a:prstGeom>
          <a:solidFill>
            <a:srgbClr val="FF6B35"/>
          </a:solidFill>
          <a:ln/>
        </p:spPr>
      </p:sp>
      <p:sp>
        <p:nvSpPr>
          <p:cNvPr id="20" name="Shape 18"/>
          <p:cNvSpPr/>
          <p:nvPr/>
        </p:nvSpPr>
        <p:spPr>
          <a:xfrm>
            <a:off x="3886200" y="3566160"/>
            <a:ext cx="2834640" cy="640080"/>
          </a:xfrm>
          <a:prstGeom prst="roundRect">
            <a:avLst>
              <a:gd name="adj" fmla="val 10000"/>
            </a:avLst>
          </a:prstGeom>
          <a:solidFill>
            <a:srgbClr val="FFFFFF"/>
          </a:solidFill>
          <a:ln w="12700">
            <a:solidFill>
              <a:srgbClr val="E2E5F0"/>
            </a:solidFill>
            <a:prstDash val="solid"/>
          </a:ln>
        </p:spPr>
      </p:sp>
      <p:sp>
        <p:nvSpPr>
          <p:cNvPr id="21" name="Text 19"/>
          <p:cNvSpPr/>
          <p:nvPr/>
        </p:nvSpPr>
        <p:spPr>
          <a:xfrm>
            <a:off x="3977640" y="3639312"/>
            <a:ext cx="2651760" cy="352044"/>
          </a:xfrm>
          <a:prstGeom prst="rect">
            <a:avLst/>
          </a:prstGeom>
          <a:noFill/>
          <a:ln/>
        </p:spPr>
        <p:txBody>
          <a:bodyPr wrap="square" rtlCol="0" anchor="b"/>
          <a:lstStyle/>
          <a:p>
            <a:pPr algn="ctr" indent="0" marL="0">
              <a:buNone/>
            </a:pPr>
            <a:r>
              <a:rPr lang="en-US" sz="1050" b="1" dirty="0">
                <a:solidFill>
                  <a:srgbClr val="1B2340"/>
                </a:solidFill>
                <a:latin typeface="Calibri" pitchFamily="34" charset="0"/>
                <a:ea typeface="Calibri" pitchFamily="34" charset="-122"/>
                <a:cs typeface="Calibri" pitchFamily="34" charset="-120"/>
              </a:rPr>
              <a:t>XmlAttributeValue</a:t>
            </a:r>
            <a:endParaRPr lang="en-US" sz="1050" dirty="0"/>
          </a:p>
        </p:txBody>
      </p:sp>
      <p:sp>
        <p:nvSpPr>
          <p:cNvPr id="22" name="Text 20"/>
          <p:cNvSpPr/>
          <p:nvPr/>
        </p:nvSpPr>
        <p:spPr>
          <a:xfrm>
            <a:off x="3977640" y="3899002"/>
            <a:ext cx="2651760" cy="281635"/>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“category” — reference targets live here</a:t>
            </a:r>
            <a:endParaRPr lang="en-US" sz="950" dirty="0"/>
          </a:p>
        </p:txBody>
      </p:sp>
      <p:sp>
        <p:nvSpPr>
          <p:cNvPr id="23" name="Shape 21"/>
          <p:cNvSpPr/>
          <p:nvPr/>
        </p:nvSpPr>
        <p:spPr>
          <a:xfrm>
            <a:off x="7360920" y="3566160"/>
            <a:ext cx="2377440" cy="640080"/>
          </a:xfrm>
          <a:prstGeom prst="roundRect">
            <a:avLst>
              <a:gd name="adj" fmla="val 10000"/>
            </a:avLst>
          </a:prstGeom>
          <a:solidFill>
            <a:srgbClr val="FFFFFF"/>
          </a:solidFill>
          <a:ln w="12700">
            <a:solidFill>
              <a:srgbClr val="E2E5F0"/>
            </a:solidFill>
            <a:prstDash val="solid"/>
          </a:ln>
        </p:spPr>
      </p:sp>
      <p:sp>
        <p:nvSpPr>
          <p:cNvPr id="24" name="Text 22"/>
          <p:cNvSpPr/>
          <p:nvPr/>
        </p:nvSpPr>
        <p:spPr>
          <a:xfrm>
            <a:off x="7452360" y="3639312"/>
            <a:ext cx="2194560" cy="352044"/>
          </a:xfrm>
          <a:prstGeom prst="rect">
            <a:avLst/>
          </a:prstGeom>
          <a:noFill/>
          <a:ln/>
        </p:spPr>
        <p:txBody>
          <a:bodyPr wrap="square" rtlCol="0" anchor="b"/>
          <a:lstStyle/>
          <a:p>
            <a:pPr algn="ctr" indent="0" marL="0">
              <a:buNone/>
            </a:pPr>
            <a:r>
              <a:rPr lang="en-US" sz="1050" b="1" dirty="0">
                <a:solidFill>
                  <a:srgbClr val="1B2340"/>
                </a:solidFill>
                <a:latin typeface="Calibri" pitchFamily="34" charset="0"/>
                <a:ea typeface="Calibri" pitchFamily="34" charset="-122"/>
                <a:cs typeface="Calibri" pitchFamily="34" charset="-120"/>
              </a:rPr>
              <a:t>type="category_t"</a:t>
            </a:r>
            <a:endParaRPr lang="en-US" sz="1050" dirty="0"/>
          </a:p>
        </p:txBody>
      </p:sp>
      <p:sp>
        <p:nvSpPr>
          <p:cNvPr id="25" name="Text 23"/>
          <p:cNvSpPr/>
          <p:nvPr/>
        </p:nvSpPr>
        <p:spPr>
          <a:xfrm>
            <a:off x="7452360" y="3899002"/>
            <a:ext cx="2194560" cy="281635"/>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a reference, resolved by PSI walk</a:t>
            </a:r>
            <a:endParaRPr lang="en-US" sz="950" dirty="0"/>
          </a:p>
        </p:txBody>
      </p:sp>
      <p:sp>
        <p:nvSpPr>
          <p:cNvPr id="26" name="Shape 24"/>
          <p:cNvSpPr/>
          <p:nvPr/>
        </p:nvSpPr>
        <p:spPr>
          <a:xfrm>
            <a:off x="6766560" y="3803904"/>
            <a:ext cx="548640" cy="164592"/>
          </a:xfrm>
          <a:prstGeom prst="rightArrow">
            <a:avLst/>
          </a:prstGeom>
          <a:solidFill>
            <a:srgbClr val="FF6B35"/>
          </a:solidFill>
          <a:ln/>
        </p:spPr>
      </p:sp>
      <p:sp>
        <p:nvSpPr>
          <p:cNvPr id="27" name="Shape 25"/>
          <p:cNvSpPr/>
          <p:nvPr/>
        </p:nvSpPr>
        <p:spPr>
          <a:xfrm>
            <a:off x="640080" y="4663440"/>
            <a:ext cx="10881360" cy="1371600"/>
          </a:xfrm>
          <a:prstGeom prst="roundRect">
            <a:avLst>
              <a:gd name="adj" fmla="val 4667"/>
            </a:avLst>
          </a:prstGeom>
          <a:solidFill>
            <a:srgbClr val="141B3C"/>
          </a:solidFill>
          <a:ln w="12700">
            <a:solidFill>
              <a:srgbClr val="E2E5F0"/>
            </a:solidFill>
            <a:prstDash val="solid"/>
          </a:ln>
        </p:spPr>
      </p:sp>
      <p:sp>
        <p:nvSpPr>
          <p:cNvPr id="28" name="Text 26"/>
          <p:cNvSpPr/>
          <p:nvPr/>
        </p:nvSpPr>
        <p:spPr>
          <a:xfrm>
            <a:off x="731520" y="4663440"/>
            <a:ext cx="10698480" cy="1371600"/>
          </a:xfrm>
          <a:prstGeom prst="rect">
            <a:avLst/>
          </a:prstGeom>
          <a:noFill/>
          <a:ln/>
        </p:spPr>
        <p:txBody>
          <a:bodyPr wrap="square" rtlCol="0" anchor="ctr"/>
          <a:lstStyle/>
          <a:p>
            <a:pPr algn="ctr" indent="0" marL="0">
              <a:buNone/>
            </a:pPr>
            <a:endParaRPr lang="en-US" sz="100" dirty="0"/>
          </a:p>
        </p:txBody>
      </p:sp>
      <p:sp>
        <p:nvSpPr>
          <p:cNvPr id="29" name="Text 27"/>
          <p:cNvSpPr/>
          <p:nvPr/>
        </p:nvSpPr>
        <p:spPr>
          <a:xfrm>
            <a:off x="868680" y="4828032"/>
            <a:ext cx="10424160" cy="1051560"/>
          </a:xfrm>
          <a:prstGeom prst="rect">
            <a:avLst/>
          </a:prstGeom>
          <a:noFill/>
          <a:ln/>
        </p:spPr>
        <p:txBody>
          <a:bodyPr wrap="square" rtlCol="0" anchor="t"/>
          <a:lstStyle/>
          <a:p>
            <a:pPr indent="0" marL="0">
              <a:buNone/>
            </a:pPr>
            <a:r>
              <a:rPr lang="en-US" sz="1300" dirty="0">
                <a:solidFill>
                  <a:srgbClr val="CFE0FF"/>
                </a:solidFill>
                <a:latin typeface="Courier New" pitchFamily="34" charset="0"/>
                <a:ea typeface="Courier New" pitchFamily="34" charset="-122"/>
                <a:cs typeface="Courier New" pitchFamily="34" charset="-120"/>
              </a:rPr>
              <a:t>val schema: XmlTag? = xmlFile.rootTag                    </a:t>
            </a:r>
            <a:endParaRPr lang="en-US" sz="1300" dirty="0"/>
          </a:p>
          <a:p>
            <a:pPr indent="0" marL="0">
              <a:buNone/>
            </a:pPr>
            <a:r>
              <a:rPr lang="en-US" sz="1300" dirty="0">
                <a:solidFill>
                  <a:srgbClr val="8C97C4"/>
                </a:solidFill>
                <a:latin typeface="Courier New" pitchFamily="34" charset="0"/>
                <a:ea typeface="Courier New" pitchFamily="34" charset="-122"/>
                <a:cs typeface="Courier New" pitchFamily="34" charset="-120"/>
              </a:rPr>
              <a:t>// &lt;schema&gt;</a:t>
            </a:r>
            <a:endParaRPr lang="en-US" sz="1300" dirty="0"/>
          </a:p>
          <a:p>
            <a:pPr indent="0" marL="0">
              <a:buNone/>
            </a:pPr>
            <a:r>
              <a:rPr lang="en-US" sz="1300" dirty="0">
                <a:solidFill>
                  <a:srgbClr val="CFE0FF"/>
                </a:solidFill>
                <a:latin typeface="Courier New" pitchFamily="34" charset="0"/>
                <a:ea typeface="Courier New" pitchFamily="34" charset="-122"/>
                <a:cs typeface="Courier New" pitchFamily="34" charset="-120"/>
              </a:rPr>
              <a:t>val types: Array&lt;XmlTag&gt; = schema.findSubTags("fieldType")</a:t>
            </a:r>
            <a:endParaRPr lang="en-US" sz="1300" dirty="0"/>
          </a:p>
          <a:p>
            <a:pPr indent="0" marL="0">
              <a:buNone/>
            </a:pPr>
            <a:r>
              <a:rPr lang="en-US" sz="1300" dirty="0">
                <a:solidFill>
                  <a:srgbClr val="CFE0FF"/>
                </a:solidFill>
                <a:latin typeface="Courier New" pitchFamily="34" charset="0"/>
                <a:ea typeface="Courier New" pitchFamily="34" charset="-122"/>
                <a:cs typeface="Courier New" pitchFamily="34" charset="-120"/>
              </a:rPr>
              <a:t>val name: String? = types.first().getAttributeValue("name")</a:t>
            </a:r>
            <a:endParaRPr lang="en-US" sz="13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docs/modern-intellij-plugin-development.md, Part 3 “PSI, the thing everything stands on”; docs/code-organization.md:271-277 (“derived from PSI, so unsaved edits count”)</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Dumb mode — the promise about data sources</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Opening a project builds indexes. Until that finishes, the IDE is in “dumb mode” — it runs, but anything backed by an index can't answer.</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The platform's rule: a contribution that hasn't declared itself dumb-aware is SKIPPED ENTIRELY while the project indexes. Silent — no log, no error.</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This plugin reads no index at all — the model is parsed from the configset's own text.</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So every contribution declares dumb-awareness, and the opt-in mechanism is NOT uniform:</a:t>
            </a:r>
            <a:endParaRPr lang="en-US" sz="1550" dirty="0"/>
          </a:p>
          <a:p>
            <a:pPr lvl="1" marL="457200" indent="-228600">
              <a:lnSpc>
                <a:spcPct val="112000"/>
              </a:lnSpc>
              <a:spcAft>
                <a:spcPts val="10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0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000"/>
              </a:spcAft>
              <a:buSzPct val="100000"/>
              <a:buChar char="•"/>
            </a:pPr>
            <a:r>
              <a:rPr lang="en-US" sz="1300" dirty="0">
                <a:solidFill>
                  <a:srgbClr val="1B2340"/>
                </a:solidFill>
                <a:latin typeface="Calibri" pitchFamily="34" charset="0"/>
                <a:ea typeface="Calibri" pitchFamily="34" charset="-122"/>
                <a:cs typeface="Calibri" pitchFamily="34" charset="-120"/>
              </a:rPr>
              <a:t>PsiReferenceContributor → neither — not filtered this way at all</a:t>
            </a:r>
            <a:endParaRPr lang="en-US" sz="1550" dirty="0"/>
          </a:p>
          <a:p>
            <a:pPr indent="0" marL="0">
              <a:lnSpc>
                <a:spcPct val="112000"/>
              </a:lnSpc>
              <a:spcAft>
                <a:spcPts val="400"/>
              </a:spcAft>
              <a:buNone/>
            </a:pPr>
            <a:r>
              <a:rPr lang="en-US" sz="1550" b="1" i="1" dirty="0">
                <a:solidFill>
                  <a:srgbClr val="D9531E"/>
                </a:solidFill>
                <a:latin typeface="Calibri" pitchFamily="34" charset="0"/>
                <a:ea typeface="Calibri" pitchFamily="34" charset="-122"/>
                <a:cs typeface="Calibri" pitchFamily="34" charset="-120"/>
              </a:rPr>
              <a:t>The marker-interface cases are dangerous: DumbAware where the platform doesn't check for it compiles clean and does nothing, forever.</a:t>
            </a:r>
            <a:endParaRPr lang="en-US" sz="1550" dirty="0"/>
          </a:p>
          <a:p>
            <a:pPr marL="228600" indent="-228600">
              <a:lnSpc>
                <a:spcPct val="112000"/>
              </a:lnSpc>
              <a:spcAft>
                <a:spcPts val="1000"/>
              </a:spcAft>
              <a:buSzPct val="100000"/>
              <a:buChar char="•"/>
            </a:pPr>
            <a:r>
              <a:rPr lang="en-US" sz="1300" dirty="0">
                <a:solidFill>
                  <a:srgbClr val="5B6478"/>
                </a:solidFill>
                <a:latin typeface="Calibri" pitchFamily="34" charset="0"/>
                <a:ea typeface="Calibri" pitchFamily="34" charset="-122"/>
                <a:cs typeface="Calibri" pitchFamily="34" charset="-120"/>
              </a:rPr>
              <a:t>One exception BOTH declines AND guards: class= resolution reaches JavaPsiFacade, the one index-touching contribution here.</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sandbox, and the one threading rule that has no Spring analog</a:t>
            </a:r>
            <a:endParaRPr lang="en-US" sz="2700" dirty="0"/>
          </a:p>
        </p:txBody>
      </p:sp>
      <p:sp>
        <p:nvSpPr>
          <p:cNvPr id="4" name="Shape 2"/>
          <p:cNvSpPr/>
          <p:nvPr/>
        </p:nvSpPr>
        <p:spPr>
          <a:xfrm>
            <a:off x="640080" y="1600200"/>
            <a:ext cx="5120640" cy="1554480"/>
          </a:xfrm>
          <a:prstGeom prst="roundRect">
            <a:avLst>
              <a:gd name="adj" fmla="val 4118"/>
            </a:avLst>
          </a:prstGeom>
          <a:solidFill>
            <a:srgbClr val="141B3C"/>
          </a:solidFill>
          <a:ln w="12700">
            <a:solidFill>
              <a:srgbClr val="E2E5F0"/>
            </a:solidFill>
            <a:prstDash val="solid"/>
          </a:ln>
        </p:spPr>
      </p:sp>
      <p:sp>
        <p:nvSpPr>
          <p:cNvPr id="5" name="Text 3"/>
          <p:cNvSpPr/>
          <p:nvPr/>
        </p:nvSpPr>
        <p:spPr>
          <a:xfrm>
            <a:off x="731520" y="1673352"/>
            <a:ext cx="4937760" cy="854964"/>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EDT — single UI thread</a:t>
            </a:r>
            <a:endParaRPr lang="en-US" sz="1500" dirty="0"/>
          </a:p>
        </p:txBody>
      </p:sp>
      <p:sp>
        <p:nvSpPr>
          <p:cNvPr id="6" name="Text 4"/>
          <p:cNvSpPr/>
          <p:nvPr/>
        </p:nvSpPr>
        <p:spPr>
          <a:xfrm>
            <a:off x="731520" y="2408530"/>
            <a:ext cx="4937760" cy="68397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All Swing updates happen here.</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Block it and the whole IDE freezes.</a:t>
            </a:r>
            <a:endParaRPr lang="en-US" sz="950" dirty="0"/>
          </a:p>
        </p:txBody>
      </p:sp>
      <p:sp>
        <p:nvSpPr>
          <p:cNvPr id="7" name="Shape 5"/>
          <p:cNvSpPr/>
          <p:nvPr/>
        </p:nvSpPr>
        <p:spPr>
          <a:xfrm>
            <a:off x="6035040" y="1600200"/>
            <a:ext cx="5486400" cy="1554480"/>
          </a:xfrm>
          <a:prstGeom prst="roundRect">
            <a:avLst>
              <a:gd name="adj" fmla="val 4118"/>
            </a:avLst>
          </a:prstGeom>
          <a:solidFill>
            <a:srgbClr val="F6F7FB"/>
          </a:solidFill>
          <a:ln w="12700">
            <a:solidFill>
              <a:srgbClr val="E2E5F0"/>
            </a:solidFill>
            <a:prstDash val="solid"/>
          </a:ln>
        </p:spPr>
      </p:sp>
      <p:sp>
        <p:nvSpPr>
          <p:cNvPr id="8" name="Text 6"/>
          <p:cNvSpPr/>
          <p:nvPr/>
        </p:nvSpPr>
        <p:spPr>
          <a:xfrm>
            <a:off x="6126480" y="1673352"/>
            <a:ext cx="5303520" cy="854964"/>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Background threads</a:t>
            </a:r>
            <a:endParaRPr lang="en-US" sz="1500" dirty="0"/>
          </a:p>
        </p:txBody>
      </p:sp>
      <p:sp>
        <p:nvSpPr>
          <p:cNvPr id="9" name="Text 7"/>
          <p:cNvSpPr/>
          <p:nvPr/>
        </p:nvSpPr>
        <p:spPr>
          <a:xfrm>
            <a:off x="6126480" y="2408530"/>
            <a:ext cx="5303520" cy="68397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Network, long computation.</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PSI access needs ReadAction.compute { }</a:t>
            </a:r>
            <a:endParaRPr lang="en-US" sz="950" dirty="0"/>
          </a:p>
        </p:txBody>
      </p:sp>
      <p:sp>
        <p:nvSpPr>
          <p:cNvPr id="10" name="Shape 8"/>
          <p:cNvSpPr/>
          <p:nvPr/>
        </p:nvSpPr>
        <p:spPr>
          <a:xfrm>
            <a:off x="640080" y="3429000"/>
            <a:ext cx="5120640" cy="1234440"/>
          </a:xfrm>
          <a:prstGeom prst="roundRect">
            <a:avLst>
              <a:gd name="adj" fmla="val 5185"/>
            </a:avLst>
          </a:prstGeom>
          <a:solidFill>
            <a:srgbClr val="FFFFFF"/>
          </a:solidFill>
          <a:ln w="12700">
            <a:solidFill>
              <a:srgbClr val="E2E5F0"/>
            </a:solidFill>
            <a:prstDash val="solid"/>
          </a:ln>
        </p:spPr>
      </p:sp>
      <p:sp>
        <p:nvSpPr>
          <p:cNvPr id="11" name="Text 9"/>
          <p:cNvSpPr/>
          <p:nvPr/>
        </p:nvSpPr>
        <p:spPr>
          <a:xfrm>
            <a:off x="731520" y="3502152"/>
            <a:ext cx="4937760" cy="678942"/>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Write actions</a:t>
            </a:r>
            <a:endParaRPr lang="en-US" sz="1400" dirty="0"/>
          </a:p>
        </p:txBody>
      </p:sp>
      <p:sp>
        <p:nvSpPr>
          <p:cNvPr id="12" name="Text 10"/>
          <p:cNvSpPr/>
          <p:nvPr/>
        </p:nvSpPr>
        <p:spPr>
          <a:xfrm>
            <a:off x="731520" y="4070909"/>
            <a:ext cx="4937760" cy="54315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EDT only · exclusive · undoable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WriteCommandAction.runWriteCommandAction</a:t>
            </a:r>
            <a:endParaRPr lang="en-US" sz="950" dirty="0"/>
          </a:p>
        </p:txBody>
      </p:sp>
      <p:sp>
        <p:nvSpPr>
          <p:cNvPr id="13" name="Shape 11"/>
          <p:cNvSpPr/>
          <p:nvPr/>
        </p:nvSpPr>
        <p:spPr>
          <a:xfrm>
            <a:off x="6035040" y="3429000"/>
            <a:ext cx="5486400" cy="1234440"/>
          </a:xfrm>
          <a:prstGeom prst="roundRect">
            <a:avLst>
              <a:gd name="adj" fmla="val 5185"/>
            </a:avLst>
          </a:prstGeom>
          <a:solidFill>
            <a:srgbClr val="FFFFFF"/>
          </a:solidFill>
          <a:ln w="12700">
            <a:solidFill>
              <a:srgbClr val="E2E5F0"/>
            </a:solidFill>
            <a:prstDash val="solid"/>
          </a:ln>
        </p:spPr>
      </p:sp>
      <p:sp>
        <p:nvSpPr>
          <p:cNvPr id="14" name="Text 12"/>
          <p:cNvSpPr/>
          <p:nvPr/>
        </p:nvSpPr>
        <p:spPr>
          <a:xfrm>
            <a:off x="6126480" y="3502152"/>
            <a:ext cx="5303520" cy="678942"/>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Inspections · completion · references</a:t>
            </a:r>
            <a:endParaRPr lang="en-US" sz="1400" dirty="0"/>
          </a:p>
        </p:txBody>
      </p:sp>
      <p:sp>
        <p:nvSpPr>
          <p:cNvPr id="15" name="Text 13"/>
          <p:cNvSpPr/>
          <p:nvPr/>
        </p:nvSpPr>
        <p:spPr>
          <a:xfrm>
            <a:off x="6126480" y="4070909"/>
            <a:ext cx="5303520" cy="54315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already run inside a read action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correct threading for free</a:t>
            </a:r>
            <a:endParaRPr lang="en-US" sz="950" dirty="0"/>
          </a:p>
        </p:txBody>
      </p:sp>
      <p:sp>
        <p:nvSpPr>
          <p:cNvPr id="16" name="Text 14"/>
          <p:cNvSpPr/>
          <p:nvPr/>
        </p:nvSpPr>
        <p:spPr>
          <a:xfrm>
            <a:off x="640080" y="5029200"/>
            <a:ext cx="10881360" cy="82296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 ./gradlew runIde        (this repo's “Run Plugin” config)</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./gradlew runIde --debug-jvm   → attach a remote debugger</a:t>
            </a:r>
            <a:endParaRPr lang="en-US" sz="1300" dirty="0"/>
          </a:p>
        </p:txBody>
      </p:sp>
      <p:sp>
        <p:nvSpPr>
          <p:cNvPr id="17" name="Text 15"/>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docs/modern-intellij-plugin-development.md, Part 1 and Part 8; .run/ (Run Plugin, Run Tests, Run Verifications); CLAUDE.md “Commands”</a:t>
            </a:r>
            <a:endParaRPr lang="en-US" sz="95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Two test conventions — and what a green build doesn't prove</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Anything with PSI in it → BasePlatformTestCase, JUnit-3-style testSomething() methods, boots a headless IDE.</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 plain JUnit 4, backtick names, @Test, nothing to boot.</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25 of the 74 test files in this repo — roughly a third — are in the second group — booting an IDE to exercise a pure function costs a second of wall-clock for nothing.</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checkHighlighting fails in BOTH directions.</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It fails on highlights the fixture did not mark, exactly as hard as ones it did — which is what makes the zero-false-positive bar (slide 10) enforceable per test, not just in review.</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Every fixture test builds its subject directly — none of them goes through plugin.xml. A package rename once left three inspection registrations pointing at a deleted package: the build was green, all three were dead in the real IDE. SolrPluginDescriptorTest (plain JUnit, reflection over every plugin.xml class name) closes that gap in milliseconds.</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docs/how-to/testing-and-the-build-gates.md; CLAUDE.md “Tests”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Four ideas that explain almost everything in Act 1</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1. The platform calls you — write a small class, register it, never call it yourself.</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2. If it's not in plugin.xml, it does not exist — and nothing tells you when you forgot.</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3. PSI is the one tree every feature asks a question about — always current, never yours to parse.</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4. Dumb-awareness is a promise about data sources, not a checkbox — get it wrong and the plugin goes silent for exactly the users most likely to notice.</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0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the one structural decision that determines whether a plugin is still pleasant to work on at ten features. Act 3 is that services layer.</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docs/modern-intellij-plugin-development.md, Part 2 and Part 10</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What lives where,</a:t>
            </a:r>
            <a:endParaRPr lang="en-US" sz="2700" dirty="0"/>
          </a:p>
          <a:p>
            <a:pPr indent="0" marL="0">
              <a:lnSpc>
                <a:spcPct val="115000"/>
              </a:lnSpc>
              <a:buNone/>
            </a:pPr>
            <a:r>
              <a:rPr lang="en-US" sz="2700" b="1" dirty="0">
                <a:solidFill>
                  <a:srgbClr val="FFFFFF"/>
                </a:solidFill>
                <a:latin typeface="Cambria" pitchFamily="34" charset="0"/>
                <a:ea typeface="Cambria" pitchFamily="34" charset="-122"/>
                <a:cs typeface="Cambria" pitchFamily="34" charset="-120"/>
              </a:rPr>
              <a:t>and the rules that keep it there</a:t>
            </a:r>
            <a:endParaRPr lang="en-US" sz="2700" dirty="0"/>
          </a:p>
        </p:txBody>
      </p:sp>
      <p:sp>
        <p:nvSpPr>
          <p:cNvPr id="6" name="Shape 4"/>
          <p:cNvSpPr/>
          <p:nvPr/>
        </p:nvSpPr>
        <p:spPr>
          <a:xfrm>
            <a:off x="3977640" y="2414016"/>
            <a:ext cx="100584" cy="100584"/>
          </a:xfrm>
          <a:prstGeom prst="ellipse">
            <a:avLst/>
          </a:prstGeom>
          <a:solidFill>
            <a:srgbClr val="FF6B35"/>
          </a:solidFill>
          <a:ln/>
        </p:spPr>
      </p:sp>
      <p:sp>
        <p:nvSpPr>
          <p:cNvPr id="7" name="Text 5"/>
          <p:cNvSpPr/>
          <p:nvPr/>
        </p:nvSpPr>
        <p:spPr>
          <a:xfrm>
            <a:off x="4251960" y="2258568"/>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The organizing principle</a:t>
            </a:r>
            <a:endParaRPr lang="en-US" sz="1450" dirty="0"/>
          </a:p>
        </p:txBody>
      </p:sp>
      <p:sp>
        <p:nvSpPr>
          <p:cNvPr id="8" name="Shape 6"/>
          <p:cNvSpPr/>
          <p:nvPr/>
        </p:nvSpPr>
        <p:spPr>
          <a:xfrm>
            <a:off x="3977640" y="2889504"/>
            <a:ext cx="100584" cy="100584"/>
          </a:xfrm>
          <a:prstGeom prst="ellipse">
            <a:avLst/>
          </a:prstGeom>
          <a:solidFill>
            <a:srgbClr val="FF6B35"/>
          </a:solidFill>
          <a:ln/>
        </p:spPr>
      </p:sp>
      <p:sp>
        <p:nvSpPr>
          <p:cNvPr id="9" name="Text 7"/>
          <p:cNvSpPr/>
          <p:nvPr/>
        </p:nvSpPr>
        <p:spPr>
          <a:xfrm>
            <a:off x="4251960" y="2734056"/>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The tree</a:t>
            </a:r>
            <a:endParaRPr lang="en-US" sz="1450" dirty="0"/>
          </a:p>
        </p:txBody>
      </p:sp>
      <p:sp>
        <p:nvSpPr>
          <p:cNvPr id="10" name="Shape 8"/>
          <p:cNvSpPr/>
          <p:nvPr/>
        </p:nvSpPr>
        <p:spPr>
          <a:xfrm>
            <a:off x="3977640" y="3364992"/>
            <a:ext cx="100584" cy="100584"/>
          </a:xfrm>
          <a:prstGeom prst="ellipse">
            <a:avLst/>
          </a:prstGeom>
          <a:solidFill>
            <a:srgbClr val="FF6B35"/>
          </a:solidFill>
          <a:ln/>
        </p:spPr>
      </p:sp>
      <p:sp>
        <p:nvSpPr>
          <p:cNvPr id="11" name="Text 9"/>
          <p:cNvSpPr/>
          <p:nvPr/>
        </p:nvSpPr>
        <p:spPr>
          <a:xfrm>
            <a:off x="4251960" y="3209544"/>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model/ — no IntelliJ types</a:t>
            </a:r>
            <a:endParaRPr lang="en-US" sz="1450" dirty="0"/>
          </a:p>
        </p:txBody>
      </p:sp>
      <p:sp>
        <p:nvSpPr>
          <p:cNvPr id="12" name="Shape 10"/>
          <p:cNvSpPr/>
          <p:nvPr/>
        </p:nvSpPr>
        <p:spPr>
          <a:xfrm>
            <a:off x="3977640" y="3840480"/>
            <a:ext cx="100584" cy="100584"/>
          </a:xfrm>
          <a:prstGeom prst="ellipse">
            <a:avLst/>
          </a:prstGeom>
          <a:solidFill>
            <a:srgbClr val="FF6B35"/>
          </a:solidFill>
          <a:ln/>
        </p:spPr>
      </p:sp>
      <p:sp>
        <p:nvSpPr>
          <p:cNvPr id="13" name="Text 11"/>
          <p:cNvSpPr/>
          <p:nvPr/>
        </p:nvSpPr>
        <p:spPr>
          <a:xfrm>
            <a:off x="4251960" y="3685032"/>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configset/ — the schema ↔ solrconfig wall</a:t>
            </a:r>
            <a:endParaRPr lang="en-US" sz="1450" dirty="0"/>
          </a:p>
        </p:txBody>
      </p:sp>
      <p:sp>
        <p:nvSpPr>
          <p:cNvPr id="14" name="Shape 12"/>
          <p:cNvSpPr/>
          <p:nvPr/>
        </p:nvSpPr>
        <p:spPr>
          <a:xfrm>
            <a:off x="3977640" y="4315968"/>
            <a:ext cx="100584" cy="100584"/>
          </a:xfrm>
          <a:prstGeom prst="ellipse">
            <a:avLst/>
          </a:prstGeom>
          <a:solidFill>
            <a:srgbClr val="FF6B35"/>
          </a:solidFill>
          <a:ln/>
        </p:spPr>
      </p:sp>
      <p:sp>
        <p:nvSpPr>
          <p:cNvPr id="15" name="Text 13"/>
          <p:cNvSpPr/>
          <p:nvPr/>
        </p:nvSpPr>
        <p:spPr>
          <a:xfrm>
            <a:off x="4251960" y="4160520"/>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The shared layer — composing downward</a:t>
            </a:r>
            <a:endParaRPr lang="en-US" sz="1450" dirty="0"/>
          </a:p>
        </p:txBody>
      </p:sp>
      <p:sp>
        <p:nvSpPr>
          <p:cNvPr id="16" name="Shape 14"/>
          <p:cNvSpPr/>
          <p:nvPr/>
        </p:nvSpPr>
        <p:spPr>
          <a:xfrm>
            <a:off x="3977640" y="4791456"/>
            <a:ext cx="100584" cy="100584"/>
          </a:xfrm>
          <a:prstGeom prst="ellipse">
            <a:avLst/>
          </a:prstGeom>
          <a:solidFill>
            <a:srgbClr val="FF6B35"/>
          </a:solidFill>
          <a:ln/>
        </p:spPr>
      </p:sp>
      <p:sp>
        <p:nvSpPr>
          <p:cNvPr id="17" name="Text 15"/>
          <p:cNvSpPr/>
          <p:nvPr/>
        </p:nvSpPr>
        <p:spPr>
          <a:xfrm>
            <a:off x="4251960" y="4636008"/>
            <a:ext cx="7315200" cy="457200"/>
          </a:xfrm>
          <a:prstGeom prst="rect">
            <a:avLst/>
          </a:prstGeom>
          <a:noFill/>
          <a:ln/>
        </p:spPr>
        <p:txBody>
          <a:bodyPr wrap="square" rtlCol="0" anchor="ctr"/>
          <a:lstStyle/>
          <a:p>
            <a:pPr indent="0" marL="0">
              <a:buNone/>
            </a:pPr>
            <a:r>
              <a:rPr lang="en-US" sz="1450" dirty="0">
                <a:solidFill>
                  <a:srgbClr val="CFE0FF"/>
                </a:solidFill>
                <a:latin typeface="Calibri" pitchFamily="34" charset="0"/>
                <a:ea typeface="Calibri" pitchFamily="34" charset="-122"/>
                <a:cs typeface="Calibri" pitchFamily="34" charset="-120"/>
              </a:rPr>
              <a:t>server/ and what's next</a:t>
            </a:r>
            <a:endParaRPr lang="en-US" sz="145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Surface, then subject, then gesture</a:t>
            </a:r>
            <a:endParaRPr lang="en-US" sz="27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166360"/>
            <a:ext cx="4572000" cy="365760"/>
          </a:xfrm>
          <a:prstGeom prst="rect">
            <a:avLst/>
          </a:prstGeom>
          <a:noFill/>
          <a:ln/>
        </p:spPr>
        <p:txBody>
          <a:bodyPr wrap="square" rtlCol="0" anchor="ctr"/>
          <a:lstStyle/>
          <a:p>
            <a:pPr indent="0" marL="0">
              <a:buNone/>
            </a:pPr>
            <a:r>
              <a:rPr lang="en-US" sz="1250" b="1" dirty="0">
                <a:solidFill>
                  <a:srgbClr val="1B2340"/>
                </a:solidFill>
                <a:latin typeface="Calibri" pitchFamily="34" charset="0"/>
                <a:ea typeface="Calibri" pitchFamily="34" charset="-122"/>
                <a:cs typeface="Calibri" pitchFamily="34" charset="-120"/>
              </a:rPr>
              <a:t>The whole prohibition, stated once:</a:t>
            </a:r>
            <a:endParaRPr lang="en-US" sz="1250" dirty="0"/>
          </a:p>
        </p:txBody>
      </p:sp>
      <p:sp>
        <p:nvSpPr>
          <p:cNvPr id="23" name="Text 21"/>
          <p:cNvSpPr/>
          <p:nvPr/>
        </p:nvSpPr>
        <p:spPr>
          <a:xfrm>
            <a:off x="640080" y="5532120"/>
            <a:ext cx="10881360" cy="502920"/>
          </a:xfrm>
          <a:prstGeom prst="rect">
            <a:avLst/>
          </a:prstGeom>
          <a:solidFill>
            <a:srgbClr val="141B3C"/>
          </a:solidFill>
          <a:ln/>
        </p:spPr>
        <p:txBody>
          <a:bodyPr wrap="square" rtlCol="0" anchor="ctr"/>
          <a:lstStyle/>
          <a:p>
            <a:pPr algn="ctr" indent="0" marL="0">
              <a:buNone/>
            </a:pPr>
            <a:r>
              <a:rPr lang="en-US" sz="1700" dirty="0">
                <a:solidFill>
                  <a:srgbClr val="FFFFFF"/>
                </a:solidFill>
                <a:latin typeface="Courier New" pitchFamily="34" charset="0"/>
                <a:ea typeface="Courier New" pitchFamily="34" charset="-122"/>
                <a:cs typeface="Courier New" pitchFamily="34" charset="-120"/>
              </a:rPr>
              <a:t>configset.schema  ↔  configset.solrconfig</a:t>
            </a:r>
            <a:endParaRPr lang="en-US" sz="1700" dirty="0"/>
          </a:p>
        </p:txBody>
      </p:sp>
      <p:sp>
        <p:nvSpPr>
          <p:cNvPr id="24" name="Text 22"/>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docs/code-organization.md:10-54 (“The organising principle”)</a:t>
            </a:r>
            <a:endParaRPr lang="en-US" sz="950" dirty="0"/>
          </a:p>
        </p:txBody>
      </p:sp>
      <p:sp>
        <p:nvSpPr>
          <p:cNvPr id="26" name="Text 2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org.apache.solr.ide, by weight</a:t>
            </a:r>
            <a:endParaRPr lang="en-US" sz="2700" dirty="0"/>
          </a:p>
        </p:txBody>
      </p:sp>
      <p:sp>
        <p:nvSpPr>
          <p:cNvPr id="4" name="Text 2"/>
          <p:cNvSpPr/>
          <p:nvPr/>
        </p:nvSpPr>
        <p:spPr>
          <a:xfrm>
            <a:off x="640080" y="1572768"/>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no IntelliJ type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connection settings only, today.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Counts are files, to show weight, not to be kept current.</a:t>
            </a:r>
            <a:endParaRPr lang="en-US" sz="1300" dirty="0"/>
          </a:p>
        </p:txBody>
      </p:sp>
      <p:sp>
        <p:nvSpPr>
          <p:cNvPr id="5" name="Shape 3"/>
          <p:cNvSpPr/>
          <p:nvPr/>
        </p:nvSpPr>
        <p:spPr>
          <a:xfrm>
            <a:off x="5074920" y="1572768"/>
            <a:ext cx="6476695" cy="4434840"/>
          </a:xfrm>
          <a:prstGeom prst="roundRect">
            <a:avLst>
              <a:gd name="adj" fmla="val 1649"/>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30952" y="1773936"/>
            <a:ext cx="5964631" cy="4069080"/>
          </a:xfrm>
          <a:prstGeom prst="rect">
            <a:avLst/>
          </a:prstGeom>
          <a:noFill/>
          <a:ln/>
        </p:spPr>
        <p:txBody>
          <a:bodyPr wrap="square" rtlCol="0" anchor="t"/>
          <a:lstStyle/>
          <a:p>
            <a:pPr indent="0" marL="0">
              <a:lnSpc>
                <a:spcPct val="112000"/>
              </a:lnSpc>
              <a:buNone/>
            </a:pPr>
            <a:r>
              <a:rPr lang="en-US" sz="1250" b="1" dirty="0">
                <a:solidFill>
                  <a:srgbClr val="FFFFFF"/>
                </a:solidFill>
                <a:latin typeface="Courier New" pitchFamily="34" charset="0"/>
                <a:ea typeface="Courier New" pitchFamily="34" charset="-122"/>
                <a:cs typeface="Courier New" pitchFamily="34" charset="-120"/>
              </a:rPr>
              <a:t>org.apache.solr.ide</a:t>
            </a:r>
            <a:endParaRPr lang="en-US" sz="1250" dirty="0"/>
          </a:p>
          <a:p>
            <a:pPr indent="0" marL="0">
              <a:lnSpc>
                <a:spcPct val="112000"/>
              </a:lnSpc>
              <a:buNone/>
            </a:pPr>
            <a:r>
              <a:rPr lang="en-US" sz="1250" dirty="0">
                <a:solidFill>
                  <a:srgbClr val="FF6B35"/>
                </a:solidFill>
                <a:latin typeface="Courier New" pitchFamily="34" charset="0"/>
                <a:ea typeface="Courier New" pitchFamily="34" charset="-122"/>
                <a:cs typeface="Courier New" pitchFamily="34" charset="-120"/>
              </a:rPr>
              <a:t>├─ model/          schema, vocabulary  (no IJ types)</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configset/</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 activation/   is this even a Solr project?</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 reading/      directory → one model, cached</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 editing/      guard rails, both aspects share</a:t>
            </a:r>
            <a:endParaRPr lang="en-US" sz="1250" dirty="0"/>
          </a:p>
          <a:p>
            <a:pPr indent="0" marL="0">
              <a:lnSpc>
                <a:spcPct val="112000"/>
              </a:lnSpc>
              <a:buNone/>
            </a:pPr>
            <a:r>
              <a:rPr lang="en-US" sz="1250" dirty="0">
                <a:solidFill>
                  <a:srgbClr val="FFFFFF"/>
                </a:solidFill>
                <a:latin typeface="Courier New" pitchFamily="34" charset="0"/>
                <a:ea typeface="Courier New" pitchFamily="34" charset="-122"/>
                <a:cs typeface="Courier New" pitchFamily="34" charset="-120"/>
              </a:rPr>
              <a:t>│  ├─ navigation/   Find Usages, rename  (shared)</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 schema/       inspection·completion·intention·</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              reference·documentation·hint·</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              descriptor·annotator·parsing</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 solrconfig/   parsing·inspection·completion·</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reference·descriptor·documentation</a:t>
            </a:r>
            <a:endParaRPr lang="en-US" sz="1250" dirty="0"/>
          </a:p>
          <a:p>
            <a:pPr indent="0" marL="0">
              <a:lnSpc>
                <a:spcPct val="112000"/>
              </a:lnSpc>
              <a:buNone/>
            </a:pPr>
            <a:r>
              <a:rPr lang="en-US" sz="1250" dirty="0">
                <a:solidFill>
                  <a:srgbClr val="CFE0FF"/>
                </a:solidFill>
                <a:latin typeface="Courier New" pitchFamily="34" charset="0"/>
                <a:ea typeface="Courier New" pitchFamily="34" charset="-122"/>
                <a:cs typeface="Courier New" pitchFamily="34" charset="-120"/>
              </a:rPr>
              <a:t>└─ server/</a:t>
            </a:r>
            <a:endParaRPr lang="en-US" sz="1250" dirty="0"/>
          </a:p>
          <a:p>
            <a:pPr indent="0" marL="0">
              <a:lnSpc>
                <a:spcPct val="112000"/>
              </a:lnSpc>
              <a:buNone/>
            </a:pPr>
            <a:r>
              <a:rPr lang="en-US" sz="1250" dirty="0">
                <a:solidFill>
                  <a:srgbClr val="8C97C4"/>
                </a:solidFill>
                <a:latin typeface="Courier New" pitchFamily="34" charset="0"/>
                <a:ea typeface="Courier New" pitchFamily="34" charset="-122"/>
                <a:cs typeface="Courier New" pitchFamily="34" charset="-120"/>
              </a:rPr>
              <a:t>   └─ connection/   settings only — no client yet</a:t>
            </a:r>
            <a:endParaRPr lang="en-US" sz="1250" dirty="0"/>
          </a:p>
        </p:txBody>
      </p:sp>
      <p:sp>
        <p:nvSpPr>
          <p:cNvPr id="7" name="Text 5"/>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docs/code-organization.md:58-94 (“The tree”); src/main/kotlin/org/apache/solr/ide/ (75 .kt files, this session)</a:t>
            </a:r>
            <a:endParaRPr lang="en-US" sz="95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model — the one package that is not a feature</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This is load-bearing, not stylistic: roughly a third of the test suite — 25 of 74 files — is plain JUnit 4 precisely because of it, no fixture, no headless IDE, milliseconds instead of a second per test.</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000"/>
              </a:spcAft>
              <a:buSzPct val="100000"/>
              <a:buChar char="•"/>
            </a:pPr>
            <a:r>
              <a:rPr lang="en-US" sz="1500" dirty="0">
                <a:solidFill>
                  <a:srgbClr val="5B6478"/>
                </a:solidFill>
                <a:latin typeface="Calibri" pitchFamily="34" charset="0"/>
                <a:ea typeface="Calibri" pitchFamily="34" charset="-122"/>
                <a:cs typeface="Calibri" pitchFamily="34" charset="-120"/>
              </a:rPr>
              <a:t>The test that separates the two packages: would the server reader need this to interpret what it fetched? Solr's schema API returns indexed/stored/analyzer chains (model.schema applies); it returns JSON with no elements or attributes at all (model.vocabulary never will).</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docs/code-organization.md:43-55, 181-184, 298-322; model/SolrFieldModel.kt, model/vocabulary/SolrClassCatalog.kt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The one prohibition the whole tree protects</a:t>
            </a:r>
            <a:endParaRPr lang="en-US" sz="2700" dirty="0"/>
          </a:p>
        </p:txBody>
      </p:sp>
      <p:sp>
        <p:nvSpPr>
          <p:cNvPr id="4" name="Shape 2"/>
          <p:cNvSpPr/>
          <p:nvPr/>
        </p:nvSpPr>
        <p:spPr>
          <a:xfrm>
            <a:off x="640080" y="1554480"/>
            <a:ext cx="4937760" cy="1828800"/>
          </a:xfrm>
          <a:prstGeom prst="roundRect">
            <a:avLst>
              <a:gd name="adj" fmla="val 3500"/>
            </a:avLst>
          </a:prstGeom>
          <a:solidFill>
            <a:srgbClr val="FFFFFF"/>
          </a:solidFill>
          <a:ln w="12700">
            <a:solidFill>
              <a:srgbClr val="E2E5F0"/>
            </a:solidFill>
            <a:prstDash val="solid"/>
          </a:ln>
        </p:spPr>
      </p:sp>
      <p:sp>
        <p:nvSpPr>
          <p:cNvPr id="5" name="Text 3"/>
          <p:cNvSpPr/>
          <p:nvPr/>
        </p:nvSpPr>
        <p:spPr>
          <a:xfrm>
            <a:off x="731520" y="1627632"/>
            <a:ext cx="4754880" cy="1005840"/>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configset.schema</a:t>
            </a:r>
            <a:endParaRPr lang="en-US" sz="1500" dirty="0"/>
          </a:p>
        </p:txBody>
      </p:sp>
      <p:sp>
        <p:nvSpPr>
          <p:cNvPr id="6" name="Text 4"/>
          <p:cNvSpPr/>
          <p:nvPr/>
        </p:nvSpPr>
        <p:spPr>
          <a:xfrm>
            <a:off x="731520" y="2505456"/>
            <a:ext cx="4754880" cy="80467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managed-schema.xml / schema.xml</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inspection·completion·reference·documentation</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hint·intention·descriptor·annotator·parsing</a:t>
            </a:r>
            <a:endParaRPr lang="en-US" sz="950" dirty="0"/>
          </a:p>
        </p:txBody>
      </p:sp>
      <p:sp>
        <p:nvSpPr>
          <p:cNvPr id="7" name="Shape 5"/>
          <p:cNvSpPr/>
          <p:nvPr/>
        </p:nvSpPr>
        <p:spPr>
          <a:xfrm>
            <a:off x="6309360" y="1554480"/>
            <a:ext cx="4937760" cy="1828800"/>
          </a:xfrm>
          <a:prstGeom prst="roundRect">
            <a:avLst>
              <a:gd name="adj" fmla="val 3500"/>
            </a:avLst>
          </a:prstGeom>
          <a:solidFill>
            <a:srgbClr val="FFFFFF"/>
          </a:solidFill>
          <a:ln w="12700">
            <a:solidFill>
              <a:srgbClr val="E2E5F0"/>
            </a:solidFill>
            <a:prstDash val="solid"/>
          </a:ln>
        </p:spPr>
      </p:sp>
      <p:sp>
        <p:nvSpPr>
          <p:cNvPr id="8" name="Text 6"/>
          <p:cNvSpPr/>
          <p:nvPr/>
        </p:nvSpPr>
        <p:spPr>
          <a:xfrm>
            <a:off x="6400800" y="1627632"/>
            <a:ext cx="4754880" cy="1005840"/>
          </a:xfrm>
          <a:prstGeom prst="rect">
            <a:avLst/>
          </a:prstGeom>
          <a:noFill/>
          <a:ln/>
        </p:spPr>
        <p:txBody>
          <a:bodyPr wrap="square" rtlCol="0" anchor="b"/>
          <a:lstStyle/>
          <a:p>
            <a:pPr algn="ctr" indent="0" marL="0">
              <a:buNone/>
            </a:pPr>
            <a:r>
              <a:rPr lang="en-US" sz="1600" b="1" dirty="0">
                <a:solidFill>
                  <a:srgbClr val="1B2340"/>
                </a:solidFill>
                <a:latin typeface="Calibri" pitchFamily="34" charset="0"/>
                <a:ea typeface="Calibri" pitchFamily="34" charset="-122"/>
                <a:cs typeface="Calibri" pitchFamily="34" charset="-120"/>
              </a:rPr>
              <a:t>configset.solrconfig</a:t>
            </a:r>
            <a:endParaRPr lang="en-US" sz="1600" dirty="0"/>
          </a:p>
        </p:txBody>
      </p:sp>
      <p:sp>
        <p:nvSpPr>
          <p:cNvPr id="9" name="Text 7"/>
          <p:cNvSpPr/>
          <p:nvPr/>
        </p:nvSpPr>
        <p:spPr>
          <a:xfrm>
            <a:off x="6400800" y="2505456"/>
            <a:ext cx="4754880" cy="80467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solrconfig.xml</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inspection·completion·reference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descriptor·documentation·parsing</a:t>
            </a:r>
            <a:endParaRPr lang="en-US" sz="950" dirty="0"/>
          </a:p>
        </p:txBody>
      </p:sp>
      <p:sp>
        <p:nvSpPr>
          <p:cNvPr id="10" name="Text 8"/>
          <p:cNvSpPr/>
          <p:nvPr/>
        </p:nvSpPr>
        <p:spPr>
          <a:xfrm>
            <a:off x="5440680" y="1965960"/>
            <a:ext cx="1005840" cy="1005840"/>
          </a:xfrm>
          <a:prstGeom prst="rect">
            <a:avLst/>
          </a:prstGeom>
          <a:noFill/>
          <a:ln/>
        </p:spPr>
        <p:txBody>
          <a:bodyPr wrap="square" rtlCol="0" anchor="ctr"/>
          <a:lstStyle/>
          <a:p>
            <a:pPr algn="ctr" indent="0" marL="0">
              <a:buNone/>
            </a:pPr>
            <a:r>
              <a:rPr lang="en-US" sz="4000" b="1" dirty="0">
                <a:solidFill>
                  <a:srgbClr val="C0304A"/>
                </a:solidFill>
              </a:rPr>
              <a:t>✕</a:t>
            </a:r>
            <a:endParaRPr lang="en-US" sz="4000" dirty="0"/>
          </a:p>
        </p:txBody>
      </p:sp>
      <p:sp>
        <p:nvSpPr>
          <p:cNvPr id="11" name="Text 9"/>
          <p:cNvSpPr/>
          <p:nvPr/>
        </p:nvSpPr>
        <p:spPr>
          <a:xfrm>
            <a:off x="4480560" y="2880360"/>
            <a:ext cx="3200400" cy="365760"/>
          </a:xfrm>
          <a:prstGeom prst="rect">
            <a:avLst/>
          </a:prstGeom>
          <a:noFill/>
          <a:ln/>
        </p:spPr>
        <p:txBody>
          <a:bodyPr wrap="square" rtlCol="0" anchor="ctr"/>
          <a:lstStyle/>
          <a:p>
            <a:pPr algn="ctr" indent="0" marL="0">
              <a:buNone/>
            </a:pPr>
            <a:r>
              <a:rPr lang="en-US" sz="1050" i="1" dirty="0">
                <a:solidFill>
                  <a:srgbClr val="5B6478"/>
                </a:solidFill>
              </a:rPr>
              <a:t>never imports the other, in either direction</a:t>
            </a:r>
            <a:endParaRPr lang="en-US" sz="1050" dirty="0"/>
          </a:p>
        </p:txBody>
      </p:sp>
      <p:sp>
        <p:nvSpPr>
          <p:cNvPr id="12" name="Shape 10"/>
          <p:cNvSpPr/>
          <p:nvPr/>
        </p:nvSpPr>
        <p:spPr>
          <a:xfrm>
            <a:off x="3063240" y="3977640"/>
            <a:ext cx="6035040" cy="1691640"/>
          </a:xfrm>
          <a:prstGeom prst="roundRect">
            <a:avLst>
              <a:gd name="adj" fmla="val 3784"/>
            </a:avLst>
          </a:prstGeom>
          <a:solidFill>
            <a:srgbClr val="141B3C"/>
          </a:solidFill>
          <a:ln w="12700">
            <a:solidFill>
              <a:srgbClr val="E2E5F0"/>
            </a:solidFill>
            <a:prstDash val="solid"/>
          </a:ln>
        </p:spPr>
      </p:sp>
      <p:sp>
        <p:nvSpPr>
          <p:cNvPr id="13" name="Text 11"/>
          <p:cNvSpPr/>
          <p:nvPr/>
        </p:nvSpPr>
        <p:spPr>
          <a:xfrm>
            <a:off x="3154680" y="4050792"/>
            <a:ext cx="5852160" cy="930402"/>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the shared layer</a:t>
            </a:r>
            <a:endParaRPr lang="en-US" sz="1500" dirty="0"/>
          </a:p>
        </p:txBody>
      </p:sp>
      <p:sp>
        <p:nvSpPr>
          <p:cNvPr id="14" name="Text 12"/>
          <p:cNvSpPr/>
          <p:nvPr/>
        </p:nvSpPr>
        <p:spPr>
          <a:xfrm>
            <a:off x="3154680" y="4857293"/>
            <a:ext cx="5852160" cy="744322"/>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model · configset.reading · configset.editing · configset.navigation</a:t>
            </a:r>
            <a:endParaRPr lang="en-US" sz="950" dirty="0"/>
          </a:p>
          <a:p>
            <a:pPr algn="ctr" indent="0" marL="0">
              <a:buNone/>
            </a:pP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may import BOTH — composing them is its job</a:t>
            </a:r>
            <a:endParaRPr lang="en-US" sz="950" dirty="0"/>
          </a:p>
        </p:txBody>
      </p:sp>
      <p:sp>
        <p:nvSpPr>
          <p:cNvPr id="15" name="Shape 13"/>
          <p:cNvSpPr/>
          <p:nvPr/>
        </p:nvSpPr>
        <p:spPr>
          <a:xfrm>
            <a:off x="3483864" y="3429000"/>
            <a:ext cx="164592" cy="502920"/>
          </a:xfrm>
          <a:prstGeom prst="downArrow">
            <a:avLst/>
          </a:prstGeom>
          <a:solidFill>
            <a:srgbClr val="FF6B35"/>
          </a:solidFill>
          <a:ln/>
        </p:spPr>
      </p:sp>
      <p:sp>
        <p:nvSpPr>
          <p:cNvPr id="16" name="Shape 14"/>
          <p:cNvSpPr/>
          <p:nvPr/>
        </p:nvSpPr>
        <p:spPr>
          <a:xfrm>
            <a:off x="8284464" y="3429000"/>
            <a:ext cx="164592" cy="502920"/>
          </a:xfrm>
          <a:prstGeom prst="downArrow">
            <a:avLst/>
          </a:prstGeom>
          <a:solidFill>
            <a:srgbClr val="FF6B35"/>
          </a:solidFill>
          <a:ln/>
        </p:spPr>
      </p:sp>
      <p:sp>
        <p:nvSpPr>
          <p:cNvPr id="17" name="Text 15"/>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docs/code-organization.md:34-41, 171-176; CLAUDE.md “Rules no build gate enforces”</a:t>
            </a:r>
            <a:endParaRPr lang="en-US" sz="95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From two files to one model, cached correctly</a:t>
            </a:r>
            <a:endParaRPr lang="en-US" sz="27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empty today)</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50" i="1" dirty="0">
                <a:solidFill>
                  <a:srgbClr val="5B6478"/>
                </a:solidFill>
                <a:latin typeface="Calibri" pitchFamily="34" charset="0"/>
                <a:ea typeface="Calibri" pitchFamily="34" charset="-122"/>
                <a:cs typeface="Calibri" pitchFamily="34" charset="-120"/>
              </a:rPr>
              <a:t>read by: inspection · completion · reference · documentation · hint</a:t>
            </a:r>
            <a:endParaRPr lang="en-US" sz="115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docs/code-organization.md:245-289 (“From files to the model”); docs/platform-mechanisms.md “Caching the field model”</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84048"/>
            <a:ext cx="9144000" cy="320040"/>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58368"/>
            <a:ext cx="10881360" cy="777240"/>
          </a:xfrm>
          <a:prstGeom prst="rect">
            <a:avLst/>
          </a:prstGeom>
          <a:noFill/>
          <a:ln/>
        </p:spPr>
        <p:txBody>
          <a:bodyPr wrap="square" rtlCol="0" anchor="ctr"/>
          <a:lstStyle/>
          <a:p>
            <a:pPr indent="0" marL="0">
              <a:buNone/>
            </a:pPr>
            <a:r>
              <a:rPr lang="en-US" sz="2700" b="1" dirty="0">
                <a:solidFill>
                  <a:srgbClr val="1B2340"/>
                </a:solidFill>
                <a:latin typeface="Cambria" pitchFamily="34" charset="0"/>
                <a:ea typeface="Cambria" pitchFamily="34" charset="-122"/>
                <a:cs typeface="Cambria" pitchFamily="34" charset="-120"/>
              </a:rPr>
              <a:t>server/ — one package, and where later work goes</a:t>
            </a:r>
            <a:endParaRPr lang="en-US" sz="2700" dirty="0"/>
          </a:p>
        </p:txBody>
      </p:sp>
      <p:sp>
        <p:nvSpPr>
          <p:cNvPr id="4" name="Text 2"/>
          <p:cNvSpPr/>
          <p:nvPr/>
        </p:nvSpPr>
        <p:spPr>
          <a:xfrm>
            <a:off x="640080" y="1600200"/>
            <a:ext cx="10607040" cy="4572000"/>
          </a:xfrm>
          <a:prstGeom prst="rect">
            <a:avLst/>
          </a:prstGeom>
          <a:noFill/>
          <a:ln/>
        </p:spPr>
        <p:txBody>
          <a:bodyPr wrap="square" rtlCol="0" anchor="t"/>
          <a:lstStyle/>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server.connection — SolrConnectionSettings, and nothing else.</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No HTTP client, no tool window, no query console, no drift view. Nothing on the editor path may reach it — configset editing works with zero connection configured, by design.</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3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4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200"/>
              </a:spcAft>
              <a:buSzPct val="100000"/>
              <a:buChar char="•"/>
            </a:pPr>
            <a:r>
              <a:rPr lang="en-US" sz="1550" dirty="0">
                <a:solidFill>
                  <a:srgbClr val="1B2340"/>
                </a:solidFill>
                <a:latin typeface="Calibri" pitchFamily="34" charset="0"/>
                <a:ea typeface="Calibri" pitchFamily="34" charset="-122"/>
                <a:cs typeface="Calibri" pitchFamily="34" charset="-120"/>
              </a:rPr>
              <a:t>org.apache.solr.ide.server.* for the live-server surface and its HTTP client · a new surface, sibling to configset, the day the first Java/Kotlin recognizer is written · new packages are created when they have a file to hold, not in advance.</a:t>
            </a:r>
            <a:endParaRPr lang="en-US" sz="1550" dirty="0"/>
          </a:p>
        </p:txBody>
      </p:sp>
      <p:sp>
        <p:nvSpPr>
          <p:cNvPr id="5" name="Text 3"/>
          <p:cNvSpPr/>
          <p:nvPr/>
        </p:nvSpPr>
        <p:spPr>
          <a:xfrm>
            <a:off x="640080" y="6199632"/>
            <a:ext cx="1024128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docs/code-organization.md:424-433, 435-441; server/connection/SolrConnectionSettings.kt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The Editor track is real, tested, and screenshotted — completion, navigation, inspections and quick documentation over a single shared model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 applied through a package tree that keeps the domain model provably independent of the IDE it runs in.</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The Server and Code tracks are the other two-thirds of the spec, and they haven't started.</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feat/solrconfig-structure-completion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2026-08-16T22:54:07Z</dcterms:created>
  <dcterms:modified xsi:type="dcterms:W3CDTF">2026-08-16T22:54:07Z</dcterms:modified>
</cp:coreProperties>
</file>