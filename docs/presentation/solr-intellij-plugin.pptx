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312" r:id="rId63"/>
    <p:sldId id="261" r:id="rId7"/>
    <p:sldId id="313" r:id="rId64"/>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3" r:id="rId44"/>
    <p:sldId id="282" r:id="rId28"/>
    <p:sldId id="294" r:id="rId45"/>
    <p:sldId id="283" r:id="rId29"/>
    <p:sldId id="284" r:id="rId30"/>
    <p:sldId id="285" r:id="rId31"/>
    <p:sldId id="286" r:id="rId32"/>
    <p:sldId id="287" r:id="rId33"/>
    <p:sldId id="288" r:id="rId34"/>
    <p:sldId id="289" r:id="rId35"/>
    <p:sldId id="290" r:id="rId36"/>
    <p:sldId id="295" r:id="rId46"/>
    <p:sldId id="314" r:id="rId65"/>
    <p:sldId id="315" r:id="rId66"/>
    <p:sldId id="291" r:id="rId37"/>
    <p:sldId id="296" r:id="rId47"/>
    <p:sldId id="297" r:id="rId48"/>
    <p:sldId id="298" r:id="rId49"/>
    <p:sldId id="299" r:id="rId50"/>
    <p:sldId id="300" r:id="rId51"/>
    <p:sldId id="301" r:id="rId52"/>
    <p:sldId id="316" r:id="rId67"/>
    <p:sldId id="302" r:id="rId53"/>
    <p:sldId id="303" r:id="rId54"/>
    <p:sldId id="304" r:id="rId55"/>
    <p:sldId id="317" r:id="rId68"/>
    <p:sldId id="305" r:id="rId56"/>
    <p:sldId id="306" r:id="rId57"/>
    <p:sldId id="307" r:id="rId58"/>
    <p:sldId id="318" r:id="rId69"/>
    <p:sldId id="308" r:id="rId59"/>
    <p:sldId id="309" r:id="rId60"/>
    <p:sldId id="310" r:id="rId61"/>
    <p:sldId id="311" r:id="rId62"/>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 Id="rId63" Type="http://schemas.openxmlformats.org/officeDocument/2006/relationships/slide" Target="slides/slide57.xml"/>
  <Relationship Id="rId64" Type="http://schemas.openxmlformats.org/officeDocument/2006/relationships/slide" Target="slides/slide58.xml"/>
  <Relationship Id="rId65" Type="http://schemas.openxmlformats.org/officeDocument/2006/relationships/slide" Target="slides/slide59.xml"/>
  <Relationship Id="rId66" Type="http://schemas.openxmlformats.org/officeDocument/2006/relationships/slide" Target="slides/slide60.xml"/>
  <Relationship Id="rId67" Type="http://schemas.openxmlformats.org/officeDocument/2006/relationships/slide" Target="slides/slide61.xml"/>
  <Relationship Id="rId68" Type="http://schemas.openxmlformats.org/officeDocument/2006/relationships/slide" Target="slides/slide62.xml"/>
  <Relationship Id="rId69" Type="http://schemas.openxmlformats.org/officeDocument/2006/relationships/slide" Target="slides/slide6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Five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Acts four and five carry the same model to the other two surfaces: a live Solr server, and the Java and Kotlin code that queries it. Where it stands: release 0.2.0, published as Solr Support, ships all three tracks — the editor, the server and the code — for plain Java and Kotlin with SolrJ. Framework support is the next release: Spring Boot first, which needs IntelliJ IDEA Ultimate, then Quarkus, Micronaut, MicroProfile and Apache Camel. Repository: github.com/adityamparikh/solr-intellij-plugin, branch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All three are built: release 0.2.0 ships the editor, server and code tracks, the code track for plain Java and Kotlin with SolrJ. What it does not yet do is know a framework — a Spring Boot, Quarkus, Micronaut, MicroProfile or Camel application whose Solr client comes from configuration rather than a constructor call. That is the next release, Spring Boot first and in IntelliJ IDEA Ultimate only. Say it here and again at the very end, so the scope is never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eighteen feature slides is built the same way, on purpose, so the room can pattern-match after the second one — the two quick-documentation popups are each followed by an annotated companion that says where every part of the popup came from: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Severity follows what the finding is. The four checks whose finding is a name that resolves to nothing — this dangling copyField, an unknown field type, an unknown attribute, a handler parameter naming an undeclared field — are errors, because an editor presents an unresolved name as an error and three of the four are what Solr refuses to load a core for. A sandbox pass forced it: the light schemes draw a warning as a tint with no line at all, so these were not underlined, while every fixture marking them a warning stayed green. Everything else stays a warning, and the code track's check stays one too, because it guesses which strings in application code are field names.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act is the Editor track, documented completely, with receipts — and Acts 4 and 5 give the other two tracks the same treatment, because release 0.2.0 ships all three.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 Two branches have grown since this tree was first drawn, and they are the subjects of Acts 4 and 5: server/, seven packages for a live Solr, and code/, six for the Java and Kotlin that name its fields. Both follow the same rule as the rest — a package exists because it had a file to hold, and each leaf is named for what it does rather than for a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is seven packages, each created when it had a file to hold rather than in advance: connection settings persisted per developer, the HTTP transport, the readers, the topology tree, queries through the IDE's HTTP Client, the drift view, and indexing a test document. What keeps it out of the editor is not discipline but a test: SolrServerBoundaryContractTest walks the source tree and fails on any package outside server/ that imports it, unless that package is on its allowlist — and the only entry outside server/ is the gutter action that runs a query written in code, which runs when a user presses it and never on a keystroke. A new package that reaches for a server fails the build until someone adds it, in a diff a reviewer sees. That is the whole server track as it ships in 0.2.0; Act 4 shows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every Act 4 and 5 screen is a capture in docs/images/. Open the floor for questions — likely topics: what the server track’s first sandbox pass found that no test could, and why release 0.2.0 stops at plain SolrJ, and what framework support adds in the next release;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made the claim; this one answers the question it always draws — where did each part come from? Walk the four markers top to bottom. One and three are about this file, read live: the header, and the Value and From pair, which is the column the Reference Guide cannot have because it is about your schema rather than Solr's. Two is computed rather than read — the match summary walks the type's analyzer chain, and the caveat under it about wildcards is there because a reader who stops at 'whole value' draws the wrong conclusion. Four is the one hand-maintained part of the popup, and SolrFieldProperties argues the exception in its own KDoc rather than hiding it: about twenty entries, stable across Solr majors, defining the semantics rather than enumerating what happens to exist, and read by SchemaField out of an argument map whose defaults live in branching code no generator could enumerate. Why a companion slide rather than swapping the plain capture for this one: the markers mean nothing without their key, and the key needs the column the four pointers on the previous slide already occupy.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markers, and every one is a lookup into a file generated when the plugin was built. Nothing was fetched, and no prose was copied from the guide the popup links to. The detail worth saying out loud is marker two: the class is org.apache.lucene.analysis.standard.StandardTokenizerFactory — a Lucene class, even though every configset spells it solr.StandardTokenizerFactory — so the popup shows what the short name actually resolves to. Marker three is Lucene's own Javadoc: the source reads 'Factory for {@link StandardTokenizer}.' and the first sentence survives with the link rendered to its text. Marker four came out of constructor bytecode with ASM, because a factory reads its arguments out of a map in its constructor and nowhere else. Marker five is constructed rather than fetched, and the line under it says where the version came from — here, the configset's own luceneMatchVersion. It sits beside the plain capture rather than replacing it for the same reason as the field popup: the numbered markers need their key, and the key needs the left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3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the way the platform runs it. A keystroke or Ctrl-Space reaches the platform first, and because the contributor declares isDumbAware() true the list still appears while the project is indexing — nothing here reads an index. The contributor dispatches on a registered pattern to the provider for field-bearing parameters, which asks SolrConfigsetReader.modelFor for the cached model — null outside a configset, which ends the call with nothing offered. Then the parser, not the platform, decides the prefix: the platform's default matcher does not treat Solr's separators as boundaries, so in a qf value like name^3 desc the token being typed is desc, which only something that knows Solr's syntax can say. The names are filtered by SolrFieldOperations before they are offered rather than annotated after — a name that is offered is a name that resolves, which is the completion-side half of the rule that an inspection must not fire on a correct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how-to guide's walkthrough inspection, end to end. buildVisitor asks the reader for the model first; outside a configset it gets null and returns the empty visitor — silence is the designed outcome, reached before a single tag is visited, and it is also what makes the check cheap on every other XML file in a project. Inside a configset it visits each tag, and before resolving anything asks SolrInspections whether the value is a checkable field name at all: globs, function queries and transformers are not, and an inspection must not fire on a correct file. Only a name that resolves to nothing is reported, with a replacement fix per near miss already in hand — the check computed the valid set in order to decide the name was wrong. One label has moved on since the diagram was drawn: step 13 says a warning, and this finding is now drawn as an error, because the light schemes draw a warning with no underline at all. The last box is the rule worth ending on: the fix edits the file directly, and this plugin never asks whether a write is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gesture in the server act that may reach a server from inside an editor, and the rule for when it may is the whole design. Only a completion the user asked for — Ctrl-Space — reads the collection's schema, once; every popup after it, including the ones that open while typing, reuses that read. A popup that opened by itself never sends a request, because typing is not asking. So capture it with Ctrl-Space, not a letter: the popup that opens while typing shows the configsets instead, which is correct, and photographs a different claim. The label is what tells the two apart — before this read the live schema, the same popup labelled each entry with a configset's name. subtitle is in the frame because it had just been added to the server through the drift view's Apply and appears in no file in the project: the plainest evidence the list came from the server. The collection outranks the configsets rather than joining them, because a field the collection does not hold is one this query cannot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capture of this view was a throwaway 10.0.0 container and a deployable copy of the demo configset; this one is a real SolrCloud 9.10.1 collection, which is why the counts are large and why every state is on screen at once. Two details beyond the three states. The summary line names both sides and the Solr line the comparison resolved against — 'Solr 9.10', where the first pass printed an internal version constant. And under the table the selected Differs row already shows the refusal the next slide is about, reason first. One honest caveat about this frame: at this column width the two description cells truncate to the same prefix, which is the thing the screenshot catalog warns against, so say it aloud — widen the columns and the two definitions differ. The view never calls SolrFact.effective, which silently prefers the repository; six tests fail if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act is for. The frame is the first pass's, on the 10.0.0 container, so its summary line still names the Solr line by an internal constant rather than as 10.0 — a label since fixed; the previous slide's fresh capture reads 'Solr 9.10'. What it shows has not changed: a Differs row selected, and the pane saying 'This plugin will not send this request.' before the replace-field request under it. The ordering is the point — a reader who meets the JSON before the warning may copy it. Solr accepts a type change and reports success. Verified on a string field holding abc, changed to pint: a query for a value a document holds returns nothing, a query for abc fails with 400, and naming the field in fl fails with HTTP 500 for every document, including ones that never had the field. Only a reindex makes the schema true again, which the plugin cannot do and must not imply it can — so the request is shown for a reader prepared to reindex, and never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pair, and the pair is the evidence rather than either half: the after frame alone cannot tell a comparison that succeeded from one that was never run, which is exactly what the agreeing count in the second summary line exists to settle. Between the two frames the plugin asks first, naming the count, the collection and the server, and after the write it reads the collection back by itself. That read-back is the claim. A configset upload lacking _version_ returns status 0, appears in the configset list, and Solr then refuses to build a collection from it — 'the request was accepted' and 'the server now agrees' are different facts. Both frames are first-pass captures on the 10.0.0 container, so their summary lines still show the version label from before it was fixed; the label now names the Solr line properly, as the drift slide's fresh capture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server step, and like the refusal two slides back it exists because Solr will not tell you. Against the _default configset, which is what a collection created without one gets, a document naming a field the schema lacks returns status 0: the default update chain adds unknown fields to the schema, so one typo produced a field, a _str companion and a copy-field directive between them — and the drift view then reported all three as server-only declarations the repository forgot. A document with no unique key also returns status 0, with a generated id nobody knows to look for. Both answer 'did that work' with yes, and checking before sending is the only place either can be caught. The document opens on every field a user would fill, not only the id: a document of only an id tests nothing about a schema, and the names a user needs are exactly the ones they would otherwise look up and spell. Solr's internal fields and copy-field destinations are left out, because a value supplied for either is not what anyone meant, and the values are placeholders that look like placeholders, so nobody indexes them without reading. This frame shows the accepting state; add a line naming a field the schema lacks — categry, say — and OK greys, with the reason under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track is complete, and it ships in 0.2.0: connections, the collections tool window, queries through the IDE's HTTP Client, the drift view with upload, reload and additive apply, and indexing a test document. The thread through all ten slides is what the plugin declines to do — contact a server unasked, resolve a disagreement on your behalf, send a change Solr would accept and then break on, or trust a 2xx. Then the three specification claims that did not survive a running Solr, each found by checking rather than by a bug report, and the shape they share: a signal that looked like information and carried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says a name is wrong after it is written; this is the half that prevents the mistake rather than reporting it. Two things had to be true for this frame. First, the popup has to open at all: typing a letter always schedules one, and inside a string the Java and Kotlin plugins cancel it, because a string is usually prose. That is right for a log message and wrong for addFilterQuery("cat — so the plugin answers 'do not skip' exactly where a field name goes, and stays out of every other string, including the value half of a clause: after category: there is nothing to offer. Second, what it offers: declared fields rather than dynamic patterns, and of those only the ones that can do what the call asks — sortable for a sort, facetable for a facet, searchable for a query. What is left out is exactly what the check would underline once written. In a field position it also stops the contributors after it, which would otherwise fill the popup with the words and file paths the platform offers inside any string. Like the check, it declines rather than waits while indexing: an empty offer reads as nothing to suggest, a partial one as the whole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track is complete for plain Java and Kotlin with SolrJ, and it ships in 0.2.0: the check, completion as a name is typed, navigation into the schema, the query's shape in colour, and running a query from its own line. What it cannot yet see is a client a framework builds for you — a Spring Boot, Quarkus, Micronaut, MicroProfile or Camel application whose SolrClient comes from configuration rather than a constructor call. That is the next release, Spring Boot first and in IntelliJ IDEA Ultimate only. Then the lesson: every defect this track shipped and fixed had one shape, a rule written down twice, agreeing by luck until a case arrived that the copies had each decided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000000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04-inspection-copyfield-quickfix.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image" Target="../media/act4-1.png"/><Relationship Id="rId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image" Target="../media/23-collections-topology.png"/><Relationship Id="rId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image" Target="../media/act4-3.png"/><Relationship Id="rId2"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image" Target="../media/25-query-and-results.png"/><Relationship Id="rId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image" Target="../media/25-query-and-results.png"/><Relationship Id="rId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image" Target="../media/19-drift-three-states.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image" Target="../media/20-drift-refused-payload.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image" Target="../media/21-drift-apply-before.png"/><Relationship Id="rId2" Type="http://schemas.openxmlformats.org/officeDocument/2006/relationships/slideLayout" Target="../slideLayouts/slideLayout1.xml"/><Relationship Id="rId3" Type="http://schemas.openxmlformats.org/officeDocument/2006/relationships/image" Target="../media/21-drift-apply-after.png"/><Relationship Id="rId4"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image" Target="../media/act5-1.png"/><Relationship Id="rId2"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image" Target="../media/28-code-navigate-to-schema.png"/><Relationship Id="rId2"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image" Target="../media/27-code-query-colour.png"/><Relationship Id="rId2"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image" Target="../media/act5-4.png"/><Relationship Id="rId2"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image" Target="../media/02-quick-doc-field-annotated.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58.xml.rels><?xml version='1.0' encoding='UTF-8' standalone='yes'?>
<Relationships xmlns="http://schemas.openxmlformats.org/package/2006/relationships"><Relationship Id="rId1" Type="http://schemas.openxmlformats.org/officeDocument/2006/relationships/image" Target="../media/03-quick-doc-class-annotated.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eq-02-completion.png"/><Relationship Id="rId3" Type="http://schemas.openxmlformats.org/officeDocument/2006/relationships/notesSlide" Target="../notesSlides/notesSlide4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seq-03-inspection.png"/><Relationship Id="rId3" Type="http://schemas.openxmlformats.org/officeDocument/2006/relationships/notesSlide" Target="../notesSlides/notesSlide41.xml"/></Relationships>
</file>

<file path=ppt/slides/_rels/slide61.xml.rels><?xml version='1.0' encoding='UTF-8' standalone='yes'?>
<Relationships xmlns="http://schemas.openxmlformats.org/package/2006/relationships"><Relationship Id="rId1" Type="http://schemas.openxmlformats.org/officeDocument/2006/relationships/image" Target="../media/30-completion-live-schema.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62.xml.rels><?xml version='1.0' encoding='UTF-8' standalone='yes'?>
<Relationships xmlns="http://schemas.openxmlformats.org/package/2006/relationships"><Relationship Id="rId1" Type="http://schemas.openxmlformats.org/officeDocument/2006/relationships/image" Target="../media/31-index-test-document.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63.xml.rels><?xml version='1.0' encoding='UTF-8' standalone='yes'?>
<Relationships xmlns="http://schemas.openxmlformats.org/package/2006/relationships"><Relationship Id="rId1" Type="http://schemas.openxmlformats.org/officeDocument/2006/relationships/image" Target="../media/32-code-completion-popup.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Solr Support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Configsets, live servers and the Java and Kotlin that query them — completion, navigation,</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inspections, drift and queries,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Solr Support 0.2.0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and puts that model to work in the editor. Acts 4 and 5 carry the same model to the other two: a live server, and the code that queries it.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Release 0.2.0 ships all three tracks, for plain Java and Kotlin with SolrJ.</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Editor: completion, navigation, inspections, quick documentation and hints across managed-schema.xml and solrconfig.xml.</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Server, complete: connections, collections tool window, queries in the HTTP Client, drift view with upload, reload and additive apply, test documents.</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Code, complete for plain Java and Kotlin with SolrJ: field checks, completion, navigation, query colouring, run from the gutter.</a:t>
            </a:r>
            <a:endParaRPr lang="en-US" sz="1550" dirty="0"/>
          </a:p>
          <a:p>
            <a:pPr marL="228600" indent="-228600">
              <a:lnSpc>
                <a:spcPct val="112000"/>
              </a:lnSpc>
              <a:spcAft>
                <a:spcPts val="500"/>
              </a:spcAft>
              <a:buSzPct val="100000"/>
              <a:buChar char="•"/>
            </a:pPr>
            <a:r>
              <a:rPr lang="en-US" sz="1500" dirty="0">
                <a:solidFill>
                  <a:srgbClr val="1B2340"/>
                </a:solidFill>
                <a:latin typeface="Calibri" pitchFamily="34" charset="0"/>
                <a:ea typeface="Calibri" pitchFamily="34" charset="-122"/>
                <a:cs typeface="Calibri" pitchFamily="34" charset="-120"/>
              </a:rPr>
              <a:t>Next release — framework support: Spring Boot (IntelliJ IDEA Ultimate only), then Quarkus, Micronaut, MicroProfile and Apache Camel.</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drawn as an error — a red wave under manufacturer —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1887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Eleven registered: the four that name something unresolvable are errors, the rest warnings. Ten held to a zero-findings gate against Solr’s own shipped configsets.</a:t>
            </a:r>
            <a:endParaRPr lang="en-US" sz="1050" dirty="0"/>
          </a:p>
        </p:txBody>
      </p:sp>
      <p:sp>
        <p:nvSpPr>
          <p:cNvPr id="8" name="Shape 6"/>
          <p:cNvSpPr/>
          <p:nvPr/>
        </p:nvSpPr>
        <p:spPr>
          <a:xfrm>
            <a:off x="4892040" y="1926772"/>
            <a:ext cx="6885432" cy="3095895"/>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04-inspection-copyfield-quickfix.png">    </p:cNvPr>
          <p:cNvPicPr>
            <a:picLocks noChangeAspect="1"/>
          </p:cNvPicPr>
          <p:nvPr/>
        </p:nvPicPr>
        <p:blipFill>
          <a:blip r:embed="rId1"/>
          <a:stretch>
            <a:fillRect/>
          </a:stretch>
        </p:blipFill>
        <p:spPr>
          <a:xfrm>
            <a:off x="5029200" y="2063932"/>
            <a:ext cx="6611112" cy="2821575"/>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configset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features,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Shipped since, each with its own act: the Server track (Act 4) and the Code track (Act 5).</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21 files with the two annotated popups);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 · query/ what a parameter’s value means</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a live Solr, seven packages.</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code — field names in Java and Kotlin, through SolrJ.</a:t>
            </a:r>
            <a:endParaRPr lang="en-US" sz="1300" dirty="0"/>
          </a:p>
        </p:txBody>
      </p:sp>
      <p:sp>
        <p:nvSpPr>
          <p:cNvPr id="5" name="Shape 3"/>
          <p:cNvSpPr/>
          <p:nvPr/>
        </p:nvSpPr>
        <p:spPr>
          <a:xfrm>
            <a:off x="5074920" y="1536192"/>
            <a:ext cx="6035040" cy="370332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33832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query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          connection·transport·reading·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topology·query·drift·indexing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code/            solrj·inspection·completion·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navigation·highlighting·run</a:t>
            </a:r>
            <a:endParaRPr lang="en-US" sz="1200" dirty="0"/>
          </a:p>
        </p:txBody>
      </p:sp>
      <p:sp>
        <p:nvSpPr>
          <p:cNvPr id="7" name="Text 5"/>
          <p:cNvSpPr/>
          <p:nvPr/>
        </p:nvSpPr>
        <p:spPr>
          <a:xfrm>
            <a:off x="5074920" y="5349240"/>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(140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a live collection)</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seven packages, and a test that enforces the boundary</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connection · transport · reading · topology · query · drift · indexing.</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An HTTP client, a collections tool window, queries through the IDE’s own HTTP Client, a drift view that compares a configset against a collection, and a test document checked before it is indexed. Nothing on the editor path may reach any of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SolrServerBoundaryContractTest walks the source tree and fails on any package outside server/ that imports it — an allowlist of consumers, not a denylist of editor packages, because a list of what to forbid is wrong the day someone adds a package. One consumer outside server/ is on it: code.run, the gutter action that runs a query written in code, when a user presses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server surface”; server/SolrServerBoundaryContractTest.kt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Three surfaces, one model: the configset you edit, the server you deploy it to, and the code that names its fields — each checked against the same idea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through a package tree whose domain model imports nothing from the IDE.</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Every screen in Acts 1, 4 and 5 is a real capture. The server track’s were taken during its first sandbox pass against a real SolrCloud — twelve checks pressed, and one defect found that no test could have.</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Release 0.2.0 ships all three for plain Java and Kotlin with SolrJ. Next: framework support — Spring Boot (IntelliJ IDEA Ultimate only), then Quarkus, Micronaut, MicroProfile and Apache Camel.</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main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Declaring dumb-awareness is half the contract — the guard is the other half</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configset/navigation/SolrClassReferenceContributor.kt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pic>
        <p:nvPicPr>
          <p:cNvPr id="8" name="Picture 7" descr="seq-05-dumb-mode.png"/>
          <p:cNvPicPr>
            <a:picLocks noChangeAspect="1"/>
          </p:cNvPicPr>
          <p:nvPr/>
        </p:nvPicPr>
        <p:blipFill>
          <a:blip r:embed="rId2"/>
          <a:stretch>
            <a:fillRect/>
          </a:stretch>
        </p:blipFill>
        <p:spPr>
          <a:xfrm>
            <a:off x="2515020" y="1560000"/>
            <a:ext cx="7161959" cy="456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model, every feature — and the platform decides when to throw it away</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“Caching the field model”; configset/reading/SolrConfigsetReader.kt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pic>
        <p:nvPicPr>
          <p:cNvPr id="8" name="Picture 7" descr="seq-04-model-cache.png"/>
          <p:cNvPicPr>
            <a:picLocks noChangeAspect="1"/>
          </p:cNvPicPr>
          <p:nvPr/>
        </p:nvPicPr>
        <p:blipFill>
          <a:blip r:embed="rId2"/>
          <a:stretch>
            <a:fillRect/>
          </a:stretch>
        </p:blipFill>
        <p:spPr>
          <a:xfrm>
            <a:off x="2794006" y="1560000"/>
            <a:ext cx="6603988" cy="4560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hover, two questions — a provider answering only the first still crashes</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“Quick documentation”; configset/solrconfig/documentation/SolrConfigDocumentationProvider.kt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pic>
        <p:nvPicPr>
          <p:cNvPr id="8" name="Picture 7" descr="seq-01-quick-documentation.png"/>
          <p:cNvPicPr>
            <a:picLocks noChangeAspect="1"/>
          </p:cNvPicPr>
          <p:nvPr/>
        </p:nvPicPr>
        <p:blipFill>
          <a:blip r:embed="rId2"/>
          <a:stretch>
            <a:fillRect/>
          </a:stretch>
        </p:blipFill>
        <p:spPr>
          <a:xfrm>
            <a:off x="1806029" y="1560000"/>
            <a:ext cx="8579942" cy="4560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SERVER</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The live server,</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what it declines to do</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Nothing on the editor path contacts a server — a test enforces it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connection is a fact about one machine, never a commit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Disagreement is shown, never resolved on your behalf</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After every write, read back — a 2xx is not agreement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1 OF 10 · CONNECTIONS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connection is one developer’s fact — never something a commit could carry</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Settings → Tools → Solr Connections with one connection open: the password field empty, and saying a password is stored.</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Credentials land in a committed file — or a page shows an empty field and quietly treats it as “no password”.</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workspace file for the URL and username; the IDE password safe for the secret. SolrConnection has no password field at all.</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SolrConnectionsConfigurable over SolrConnectionSettings. Saving without a new password leaves the stored one untouched.</a:t>
            </a:r>
            <a:endParaRPr lang="en-US" sz="1050" dirty="0"/>
          </a:p>
        </p:txBody>
      </p:sp>
      <p:sp>
        <p:nvSpPr>
          <p:cNvPr id="8" name="Shape 6"/>
          <p:cNvSpPr/>
          <p:nvPr/>
        </p:nvSpPr>
        <p:spPr>
          <a:xfrm>
            <a:off x="5876012" y="1645920"/>
            <a:ext cx="4920231" cy="374907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2-connections-settings.png">    </p:cNvPr>
          <p:cNvPicPr>
            <a:picLocks noChangeAspect="1"/>
          </p:cNvPicPr>
          <p:nvPr/>
        </p:nvPicPr>
        <p:blipFill>
          <a:blip r:embed="rId1"/>
          <a:stretch>
            <a:fillRect/>
          </a:stretch>
        </p:blipFill>
        <p:spPr>
          <a:xfrm>
            <a:off x="6013172" y="1783080"/>
            <a:ext cx="4645911" cy="347475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Settings → Tools → Solr Connections, editing “local”. Captured in the 2026-09-26 sandbox pass.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server/connection/SolrConnectionSettings.kt; plugin.xml projectConfigurable; docs/screenshots.md entry 22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2 OF 10 · TOPOLOGY</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server’s own vocabulary — read first, never guessed</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Solr tool window on a SolrCloud server: a collection and its shard, each with a health dot, and the replica marked leader.</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Assume the cloud vocabulary and every standalone Solr answers HTTP 400 — a hard failure reported against a healthy server.</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System info first, for the mode; then CLUSTERSTATUS for SolrCloud or core STATUS for standalone. Never on a timer.</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SolrCollectionsToolWindowFactory; SolrServerReader.topology, a suspending read off the UI thread.</a:t>
            </a:r>
            <a:endParaRPr lang="en-US" sz="1050" dirty="0"/>
          </a:p>
        </p:txBody>
      </p:sp>
      <p:sp>
        <p:nvSpPr>
          <p:cNvPr id="8" name="Shape 6"/>
          <p:cNvSpPr/>
          <p:nvPr/>
        </p:nvSpPr>
        <p:spPr>
          <a:xfrm>
            <a:off x="5271516" y="1863134"/>
            <a:ext cx="6126480" cy="32231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3-collections-topology.png">    </p:cNvPr>
          <p:cNvPicPr>
            <a:picLocks noChangeAspect="1"/>
          </p:cNvPicPr>
          <p:nvPr/>
        </p:nvPicPr>
        <p:blipFill>
          <a:blip r:embed="rId1"/>
          <a:stretch>
            <a:fillRect/>
          </a:stretch>
        </p:blipFill>
        <p:spPr>
          <a:xfrm>
            <a:off x="5408676" y="2000294"/>
            <a:ext cx="5852160" cy="29488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solr-mcp-demo: shows → shard1 → its leader replica. The Solr mark on the tool-window stripe opens it.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server/reading/SolrServerReader.kt; server/topology/; docs/screenshots.md entry 23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3 OF 10 · THE INDEX</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What the index actually holds — including fields no configset names</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collection’s Fields row: author_s marked as coming from *_s, and price_f with no document count.</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schema view cannot show author_s at all — it exists only because a dynamic pattern matched at index time.</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 Luke handler, read when the row is expanded — one request per collection, and only when asked.</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SolrLukeReader. Kept out of the field model on purpose: folded in, every dynamic field’s instances would read as drift.</a:t>
            </a:r>
            <a:endParaRPr lang="en-US" sz="1050" dirty="0"/>
          </a:p>
        </p:txBody>
      </p:sp>
      <p:sp>
        <p:nvSpPr>
          <p:cNvPr id="8" name="Shape 6"/>
          <p:cNvSpPr/>
          <p:nvPr/>
        </p:nvSpPr>
        <p:spPr>
          <a:xfrm>
            <a:off x="4892040" y="1868060"/>
            <a:ext cx="6888175" cy="330480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4-luke-fields.png">    </p:cNvPr>
          <p:cNvPicPr>
            <a:picLocks noChangeAspect="1"/>
          </p:cNvPicPr>
          <p:nvPr/>
        </p:nvPicPr>
        <p:blipFill>
          <a:blip r:embed="rId1"/>
          <a:stretch>
            <a:fillRect/>
          </a:stretch>
        </p:blipFill>
        <p:spPr>
          <a:xfrm>
            <a:off x="5029200" y="2005220"/>
            <a:ext cx="6613855" cy="303048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10 fields, 2 from dynamic patterns. A point field reports no count — it has no inverted index to count from.</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server/reading/SolrLukeReader.kt; docs/screenshots.md entry 24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4 OF 10 · QUERIES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No console of its own — Solr’s knowledge added to the IDE’s HTTP Client</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request written against {{solrUrl}}/{{collection}}, run through the local environment, with a summary above the raw JSON.</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committed query names localhost:8983 and works only for its author; the answer is a wall of JSON.</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.http file and http-client.env.json — the host comes from the environment, never from the file.</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addRequestTemplateProvider and responseCustomPresentation — another plugin’s extension points, held by a contract test.</a:t>
            </a:r>
            <a:endParaRPr lang="en-US" sz="1050" dirty="0"/>
          </a:p>
        </p:txBody>
      </p:sp>
      <p:sp>
        <p:nvSpPr>
          <p:cNvPr id="8" name="Shape 6"/>
          <p:cNvSpPr/>
          <p:nvPr/>
        </p:nvSpPr>
        <p:spPr>
          <a:xfrm>
            <a:off x="4892040" y="1492875"/>
            <a:ext cx="6885432" cy="392037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query-and-results.png">    </p:cNvPr>
          <p:cNvPicPr>
            <a:picLocks noChangeAspect="1"/>
          </p:cNvPicPr>
          <p:nvPr/>
        </p:nvPicPr>
        <p:blipFill>
          <a:blip r:embed="rId1"/>
          <a:stretch>
            <a:fillRect/>
          </a:stretch>
        </p:blipFill>
        <p:spPr>
          <a:xfrm>
            <a:off x="5029200" y="1630035"/>
            <a:ext cx="6611112" cy="364605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An explain request against a collection of 61 TV shows: the file, and its answer in Services.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server/query/SolrRequestTemplateProvider.kt, SolrQueryResponsePresentation.kt;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5 OF 10 · READING AN ANSWER</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Matches and returned rows, stated separately</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“8 documents matched in 39 ms, showing 1 to 3.” — then the table, the parsed query, and each document’s explanation.</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Someone concludes their query found three documents when it found nine thousand and showed three.</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response body alone, recognised by its shape rather than its URL — Solr behind a proxy lives at any path.</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SolrQueryResultReader and SolrQueryResultRenderer. The explanation keeps Solr’s indentation: the nesting is the information.</a:t>
            </a:r>
            <a:endParaRPr lang="en-US" sz="1050" dirty="0"/>
          </a:p>
        </p:txBody>
      </p:sp>
      <p:sp>
        <p:nvSpPr>
          <p:cNvPr id="8" name="Shape 6"/>
          <p:cNvSpPr/>
          <p:nvPr/>
        </p:nvSpPr>
        <p:spPr>
          <a:xfrm>
            <a:off x="4892040" y="1937319"/>
            <a:ext cx="6888175" cy="316628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query-and-results.png">    </p:cNvPr>
          <p:cNvPicPr>
            <a:picLocks noChangeAspect="1"/>
          </p:cNvPicPr>
          <p:nvPr/>
        </p:nvPicPr>
        <p:blipFill>
          <a:blip r:embed="rId1"/>
          <a:srcRect l="30000" t="45808" r="1992" b="273"/>
          <a:stretch>
            <a:fillRect/>
          </a:stretch>
        </p:blipFill>
        <p:spPr>
          <a:xfrm>
            <a:off x="5029200" y="2074479"/>
            <a:ext cx="6613855" cy="289196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same capture as the previous slide, cropped to the answer.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server/query/SolrQueryResultReader.kt, SolrQueryResultRenderer.kt;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7 OF 10 · DRIFT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Three kinds of difference, and both sides of each</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solr configset against the shows collection: fields only on the server, one not deployed, one differing — with both sides of each.</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showing one side — the convenient accessor prefers the repository and hides the disagreement.</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repository’s facts and the server’s schema, passed as two separate halves so neither can be resolved away.</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 over SolrConfigsetReader.factsFor and SolrServerReader. SolrFact.effective is never called — six tests fail if it is.</a:t>
            </a:r>
            <a:endParaRPr lang="en-US" sz="1050" dirty="0"/>
          </a:p>
        </p:txBody>
      </p:sp>
      <p:sp>
        <p:nvSpPr>
          <p:cNvPr id="8" name="Shape 6"/>
          <p:cNvSpPr/>
          <p:nvPr/>
        </p:nvSpPr>
        <p:spPr>
          <a:xfrm>
            <a:off x="4892040" y="1679753"/>
            <a:ext cx="6885432" cy="358993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19-drift-three-states.png">    </p:cNvPr>
          <p:cNvPicPr>
            <a:picLocks noChangeAspect="1"/>
          </p:cNvPicPr>
          <p:nvPr/>
        </p:nvPicPr>
        <p:blipFill>
          <a:blip r:embed="rId1"/>
          <a:stretch>
            <a:fillRect/>
          </a:stretch>
        </p:blipFill>
        <p:spPr>
          <a:xfrm>
            <a:off x="5029200" y="1816913"/>
            <a:ext cx="6611112" cy="3315613"/>
          </a:xfrm>
          <a:prstGeom prst="rect">
            <a:avLst/>
          </a:prstGeom>
        </p:spPr>
      </p:pic>
      <p:sp>
        <p:nvSpPr>
          <p:cNvPr id="10" name="Text 7"/>
          <p:cNvSpPr/>
          <p:nvPr/>
        </p:nvSpPr>
        <p:spPr>
          <a:xfrm>
            <a:off x="4892040" y="5486400"/>
            <a:ext cx="6885432"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real SolrCloud 9.10.1 collection. Under the table, the selected row’s refusal — the next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server/drift/SolrDrift.kt; specs/0002-solr-server-integration.md FR-9; docs/screenshots.md entry 19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8 OF 10 · THE REFUSAL</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button that must not exist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selected: “This plugin will not send this request.”, the reason, then the replace-field request.</a:t>
            </a:r>
            <a:endParaRPr lang="en-US" sz="1050" dirty="0"/>
          </a:p>
        </p:txBody>
      </p:sp>
      <p:sp>
        <p:nvSpPr>
          <p:cNvPr id="5" name="Text 3"/>
          <p:cNvSpPr/>
          <p:nvPr/>
        </p:nvSpPr>
        <p:spPr>
          <a:xfrm>
            <a:off x="640080" y="5006552"/>
            <a:ext cx="530352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accepts a type change and reports success — then a stored value stops matching, and naming the field in fl fails with HTTP 500.</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Verified against Solr 10.0.0, a string field changed to pint. Nothing in Solr’s reply to the write hints at it.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SolrSchemaApi sends additions only. The refused request is still shown, reason first, for a reader ready to reindex.</a:t>
            </a:r>
            <a:endParaRPr lang="en-US" sz="1050" dirty="0"/>
          </a:p>
        </p:txBody>
      </p:sp>
      <p:sp>
        <p:nvSpPr>
          <p:cNvPr id="8" name="Shape 6"/>
          <p:cNvSpPr/>
          <p:nvPr/>
        </p:nvSpPr>
        <p:spPr>
          <a:xfrm>
            <a:off x="2535097" y="1463040"/>
            <a:ext cx="7121501"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0-drift-refused-payload.png">    </p:cNvPr>
          <p:cNvPicPr>
            <a:picLocks noChangeAspect="1"/>
          </p:cNvPicPr>
          <p:nvPr/>
        </p:nvPicPr>
        <p:blipFill>
          <a:blip r:embed="rId1"/>
          <a:srcRect b="74486"/>
          <a:stretch>
            <a:fillRect/>
          </a:stretch>
        </p:blipFill>
        <p:spPr>
          <a:xfrm>
            <a:off x="2672257" y="1600200"/>
            <a:ext cx="6847181" cy="963261"/>
          </a:xfrm>
          <a:prstGeom prst="rect">
            <a:avLst/>
          </a:prstGeom>
        </p:spPr>
      </p:pic>
      <p:pic>
        <p:nvPicPr>
          <p:cNvPr id="14" name="Image 1" descr="20-drift-refused-payload.png">    </p:cNvPr>
          <p:cNvPicPr>
            <a:picLocks noChangeAspect="1"/>
          </p:cNvPicPr>
          <p:nvPr/>
        </p:nvPicPr>
        <p:blipFill>
          <a:blip r:embed="rId1"/>
          <a:srcRect t="69809"/>
          <a:stretch>
            <a:fillRect/>
          </a:stretch>
        </p:blipFill>
        <p:spPr>
          <a:xfrm>
            <a:off x="2672257" y="2654901"/>
            <a:ext cx="6847181" cy="1139859"/>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reason comes before the JSON, so nobody copies the request before reading why it is refused. The empty band between table and pane is cut for the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server/drift/SolrSchemaApi.kt; docs/user-guide.md “Closing a difference”; docs/screenshots.md entry 20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9 OF 10 · READ BACK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2xx is not agreement — the view shows what it read back</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Top: one field not deployed. Bottom: after Apply, the collection re-read — “books and books agree, across 22 declarations”.</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success code clears the table while the server still disagrees — an upload missing _version_ returns status 0 and builds nothing.</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fresh read of the collection after every write — never the write’s own response.</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SolrDriftPanel re-fetches after upload, reload and apply; the confirmation names the count, the collection and the server first.</a:t>
            </a:r>
            <a:endParaRPr lang="en-US" sz="1050" dirty="0"/>
          </a:p>
        </p:txBody>
      </p:sp>
      <p:sp>
        <p:nvSpPr>
          <p:cNvPr id="8" name="Shape 6"/>
          <p:cNvSpPr/>
          <p:nvPr/>
        </p:nvSpPr>
        <p:spPr>
          <a:xfrm>
            <a:off x="4892040" y="2490536"/>
            <a:ext cx="6885432" cy="196836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1-drift-apply-before.png">    </p:cNvPr>
          <p:cNvPicPr>
            <a:picLocks noChangeAspect="1"/>
          </p:cNvPicPr>
          <p:nvPr/>
        </p:nvPicPr>
        <p:blipFill>
          <a:blip r:embed="rId1"/>
          <a:srcRect t="4721" r="33959" b="77577"/>
          <a:stretch>
            <a:fillRect/>
          </a:stretch>
        </p:blipFill>
        <p:spPr>
          <a:xfrm>
            <a:off x="5029200" y="2627696"/>
            <a:ext cx="6611112" cy="880178"/>
          </a:xfrm>
          <a:prstGeom prst="rect">
            <a:avLst/>
          </a:prstGeom>
        </p:spPr>
      </p:pic>
      <p:pic>
        <p:nvPicPr>
          <p:cNvPr id="14" name="Image 1" descr="21-drift-apply-after.png">    </p:cNvPr>
          <p:cNvPicPr>
            <a:picLocks noChangeAspect="1"/>
          </p:cNvPicPr>
          <p:nvPr/>
        </p:nvPicPr>
        <p:blipFill>
          <a:blip r:embed="rId3"/>
          <a:srcRect t="4721" r="33959" b="81117"/>
          <a:stretch>
            <a:fillRect/>
          </a:stretch>
        </p:blipFill>
        <p:spPr>
          <a:xfrm>
            <a:off x="5029200" y="3617602"/>
            <a:ext cx="6611112" cy="70414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Before and after Apply Additive Changes, in the same view, choosers untouched.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server/drift/SolrDriftPanel.kt; specs/0002-solr-server-integration.md FR-10; docs/screenshots.md entry 21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Ten slides, pressed in a running IDE</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screen above was pressed against a real SolrCloud — the first sandbox pass on 10.0.0, the reshoots on 9.10.1.</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Connections · the topology · the index’s own fields · queries through the HTTP Client · a readable answer · field names from the live collection · drift in three states · a refused change · an applied one, read back · a test document checked before it is sent.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claims in the specification did not survive a running Solr — each found by checking, not by a bug report.</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verifyPlugin reports Compatible for an extension point that does not exist · the named body injector was about request bodies, not completion · the coverage gate measures changed lines, line and branch.</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docs/presentation/server-track-outline.md; docs/manual-test-suite.md pass log; docs/screenshots.md entries 19–25, 30 and 31</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Field names in Java and Kotlin,</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checked against the schema</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One recognizer for both languages, written against UAST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Silent wherever it cannot resolve — precision over recall</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Navigation crosses from Java into the XML that declares a field</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query runs from the line that writes it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1 OF 5 · THE CHECK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field name typo compiles, deploys, and returns nothing — until now</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categry in a filter query and price in a field list, each marked at the name — id and name in the same string left alone.</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answers a query on a missing field with zero results, not an error — the typo arrives as an empty page in production.</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Every configset in the project. Where there is none — a schema in another repository — the check says nothing.</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SolrUnknownCodeFieldInspection over SolrJRecognizer, written against UAST so Java and Kotlin share one implementation.</a:t>
            </a:r>
            <a:endParaRPr lang="en-US" sz="1050" dirty="0"/>
          </a:p>
        </p:txBody>
      </p:sp>
      <p:sp>
        <p:nvSpPr>
          <p:cNvPr id="8" name="Shape 6"/>
          <p:cNvSpPr/>
          <p:nvPr/>
        </p:nvSpPr>
        <p:spPr>
          <a:xfrm>
            <a:off x="4892040" y="2604808"/>
            <a:ext cx="6888175" cy="183130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6-code-field-warning.png">    </p:cNvPr>
          <p:cNvPicPr>
            <a:picLocks noChangeAspect="1"/>
          </p:cNvPicPr>
          <p:nvPr/>
        </p:nvPicPr>
        <p:blipFill>
          <a:blip r:embed="rId1"/>
          <a:stretch>
            <a:fillRect/>
          </a:stretch>
        </p:blipFill>
        <p:spPr>
          <a:xfrm>
            <a:off x="5029200" y="2741968"/>
            <a:ext cx="6613855" cy="155698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ProductSearch.java:43–47 in the demo, where both defects are planted.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code/inspection/SolrUnknownCodeFieldInspection.kt; code/solrj/SolrJRecognizer.kt; docs/screenshots.md entry 26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3 OF 5 ·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Ctrl-click a name in Java, land on the XML that declares it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ProductSearch.java and managed-schema.xml side by side — the caret landed on &lt;field name="category"&gt;.</a:t>
            </a:r>
            <a:endParaRPr lang="en-US" sz="1050" dirty="0"/>
          </a:p>
        </p:txBody>
      </p:sp>
      <p:sp>
        <p:nvSpPr>
          <p:cNvPr id="5" name="Text 3"/>
          <p:cNvSpPr/>
          <p:nvPr/>
        </p:nvSpPr>
        <p:spPr>
          <a:xfrm>
            <a:off x="64008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name in code and its declaration in XML are related by convention, and by nothing the tooling can see.</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recognizer the check reads — so the reference is silent exactly where the check is silent.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SolrCodeFieldReferenceContributor, resolving through the configset’s own schema.</a:t>
            </a:r>
            <a:endParaRPr lang="en-US" sz="1050" dirty="0"/>
          </a:p>
        </p:txBody>
      </p:sp>
      <p:sp>
        <p:nvSpPr>
          <p:cNvPr id="8" name="Shape 6"/>
          <p:cNvSpPr/>
          <p:nvPr/>
        </p:nvSpPr>
        <p:spPr>
          <a:xfrm>
            <a:off x="2674620" y="1463040"/>
            <a:ext cx="6812280"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8-code-navigate-to-schema.png">    </p:cNvPr>
          <p:cNvPicPr>
            <a:picLocks noChangeAspect="1"/>
          </p:cNvPicPr>
          <p:nvPr/>
        </p:nvPicPr>
        <p:blipFill>
          <a:blip r:embed="rId1"/>
          <a:srcRect b="39759"/>
          <a:stretch>
            <a:fillRect/>
          </a:stretch>
        </p:blipFill>
        <p:spPr>
          <a:xfrm>
            <a:off x="2766060" y="1554480"/>
            <a:ext cx="6629400" cy="2286000"/>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Two files, one boundary: the query at line 39 on the left, the declaration it reached at line 70 on the right.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code/navigation/SolrCodeFieldReferenceContributor.kt; docs/screenshots.md entry 28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4 OF 5 · QUERY SHAPE</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fields and the operators, told apart — colour, not a parser</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setQuery("category:books AND name:solr") with the two fields in one colour and AND in another, the terms left as string.</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query read character by character — and a lowercase and taken for an operator when Solr reads it as a term.</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scan the check uses, so the two can never disagree about which characters are a field.</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annotator over the recognizer’s query positions. No grammar, no injected language, no folding — chosen, and said plainly.</a:t>
            </a:r>
            <a:endParaRPr lang="en-US" sz="1050" dirty="0"/>
          </a:p>
        </p:txBody>
      </p:sp>
      <p:sp>
        <p:nvSpPr>
          <p:cNvPr id="8" name="Shape 6"/>
          <p:cNvSpPr/>
          <p:nvPr/>
        </p:nvSpPr>
        <p:spPr>
          <a:xfrm>
            <a:off x="4892040" y="2798294"/>
            <a:ext cx="6885432" cy="135285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7-code-query-colour.png">    </p:cNvPr>
          <p:cNvPicPr>
            <a:picLocks noChangeAspect="1"/>
          </p:cNvPicPr>
          <p:nvPr/>
        </p:nvPicPr>
        <p:blipFill>
          <a:blip r:embed="rId1"/>
          <a:stretch>
            <a:fillRect/>
          </a:stretch>
        </p:blipFill>
        <p:spPr>
          <a:xfrm>
            <a:off x="5029200" y="2935454"/>
            <a:ext cx="6611112" cy="107853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Default light theme: the colours are the platform’s own keys.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code/highlighting/SolrQueryHighlightAnnotator.kt; docs/screenshots.md entry 27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5 OF 5 · RUN IT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Running a query from where it is written</a:t>
            </a:r>
            <a:endParaRPr lang="en-US" sz="2300" dirty="0"/>
          </a:p>
        </p:txBody>
      </p:sp>
      <p:sp>
        <p:nvSpPr>
          <p:cNvPr id="4" name="Text 2"/>
          <p:cNvSpPr/>
          <p:nvPr/>
        </p:nvSpPr>
        <p:spPr>
          <a:xfrm>
            <a:off x="64008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gutter icon beside setQuery — and beside nothing else — with the collection chooser open.</a:t>
            </a:r>
            <a:endParaRPr lang="en-US" sz="1050" dirty="0"/>
          </a:p>
        </p:txBody>
      </p:sp>
      <p:sp>
        <p:nvSpPr>
          <p:cNvPr id="5" name="Text 3"/>
          <p:cNvSpPr/>
          <p:nvPr/>
        </p:nvSpPr>
        <p:spPr>
          <a:xfrm>
            <a:off x="333756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query pasted into another tool, and the collection guessed — code names none; the client chose it.</a:t>
            </a:r>
            <a:endParaRPr lang="en-US" sz="1050" dirty="0"/>
          </a:p>
        </p:txBody>
      </p:sp>
      <p:sp>
        <p:nvSpPr>
          <p:cNvPr id="6" name="Text 4"/>
          <p:cNvSpPr/>
          <p:nvPr/>
        </p:nvSpPr>
        <p:spPr>
          <a:xfrm>
            <a:off x="6035040" y="4873752"/>
            <a:ext cx="260604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selected connection’s own list of collections, asked when the icon is clicked.</a:t>
            </a:r>
            <a:endParaRPr lang="en-US" sz="1050" dirty="0"/>
          </a:p>
        </p:txBody>
      </p:sp>
      <p:sp>
        <p:nvSpPr>
          <p:cNvPr id="7" name="Text 5"/>
          <p:cNvSpPr/>
          <p:nvPr/>
        </p:nvSpPr>
        <p:spPr>
          <a:xfrm>
            <a:off x="873252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SolrRunQueryLineMarkerProvider → SolrQueryRunner: the one code path that reaches a server, allowlisted by a test.</a:t>
            </a:r>
            <a:endParaRPr lang="en-US" sz="1050" dirty="0"/>
          </a:p>
        </p:txBody>
      </p:sp>
      <p:sp>
        <p:nvSpPr>
          <p:cNvPr id="8" name="Shape 6"/>
          <p:cNvSpPr/>
          <p:nvPr/>
        </p:nvSpPr>
        <p:spPr>
          <a:xfrm>
            <a:off x="1099402" y="1463040"/>
            <a:ext cx="9962716" cy="30175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9-code-run-from-gutter.png">    </p:cNvPr>
          <p:cNvPicPr>
            <a:picLocks noChangeAspect="1"/>
          </p:cNvPicPr>
          <p:nvPr/>
        </p:nvPicPr>
        <p:blipFill>
          <a:blip r:embed="rId1"/>
          <a:stretch>
            <a:fillRect/>
          </a:stretch>
        </p:blipFill>
        <p:spPr>
          <a:xfrm>
            <a:off x="1190842" y="1554480"/>
            <a:ext cx="9779836" cy="2834640"/>
          </a:xfrm>
          <a:prstGeom prst="rect">
            <a:avLst/>
          </a:prstGeom>
        </p:spPr>
      </p:pic>
      <p:sp>
        <p:nvSpPr>
          <p:cNvPr id="10" name="Text 7"/>
          <p:cNvSpPr/>
          <p:nvPr/>
        </p:nvSpPr>
        <p:spPr>
          <a:xfrm>
            <a:off x="640080" y="450799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chooser opens at the editor’s top-right corner, not beside the icon — hence the wide crop.</a:t>
            </a:r>
            <a:endParaRPr lang="en-US" sz="980" dirty="0"/>
          </a:p>
        </p:txBody>
      </p:sp>
      <p:sp>
        <p:nvSpPr>
          <p:cNvPr id="11" name="Text 8"/>
          <p:cNvSpPr/>
          <p:nvPr/>
        </p:nvSpPr>
        <p:spPr>
          <a:xfrm>
            <a:off x="640080" y="5989320"/>
            <a:ext cx="10881360" cy="2743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code/run/SolrRunQuery.kt; SolrServerBoundaryContractTest; docs/screenshots.md entry 29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question, asked five ways: does this field exist?</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surfaces — the files you edit, the server you talk to, the code that names fields — over one model, all shipping in 0.2.0.</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The check · completion as a name is typed · navigation across the Java–XML boundary · a query’s structure in colour · a query run from its own line.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defect this track shipped and then fixed had one shape: a rule written down twice.</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 test agreeing with the code about a template’s text while the platform read it as a key · a scanner where “-” was both a separator and a legal name character — Solr settled it in one query.</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docs/presentation/code-track-outline.md; docs/screenshots.md entries 26–29; docs/images/32-code-completion-popup.png</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 ANNOTATED</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Four parts of the popup, and only one of them hand-maintained</a:t>
            </a:r>
            <a:endParaRPr lang="en-US" sz="2300" dirty="0"/>
          </a:p>
        </p:txBody>
      </p:sp>
      <p:sp>
        <p:nvSpPr>
          <p:cNvPr id="4" name="Text 2"/>
          <p:cNvSpPr/>
          <p:nvPr/>
        </p:nvSpPr>
        <p:spPr>
          <a:xfrm>
            <a:off x="640080" y="16459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1 · THE HEADER</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field category of type string — read from the schema file under the caret, parsed live.</a:t>
            </a:r>
            <a:endParaRPr lang="en-US" sz="1050" dirty="0"/>
          </a:p>
        </p:txBody>
      </p:sp>
      <p:sp>
        <p:nvSpPr>
          <p:cNvPr id="5" name="Text 3"/>
          <p:cNvSpPr/>
          <p:nvPr/>
        </p:nvSpPr>
        <p:spPr>
          <a:xfrm>
            <a:off x="640080" y="26517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2 · THE MATCH SUMMARY</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Computed here by walking the type’s analyzer chain. The wildcard caveat under it is the plugin’s own sentence.</a:t>
            </a:r>
            <a:endParaRPr lang="en-US" sz="1050" dirty="0"/>
          </a:p>
        </p:txBody>
      </p:sp>
      <p:sp>
        <p:nvSpPr>
          <p:cNvPr id="6" name="Text 4"/>
          <p:cNvSpPr/>
          <p:nvPr/>
        </p:nvSpPr>
        <p:spPr>
          <a:xfrm>
            <a:off x="640080" y="36576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3 · VALUE AND FROM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Resolved live — the field, then its type, then Solr’s default — with From naming which one won.</a:t>
            </a:r>
            <a:endParaRPr lang="en-US" sz="1050" dirty="0"/>
          </a:p>
        </p:txBody>
      </p:sp>
      <p:sp>
        <p:nvSpPr>
          <p:cNvPr id="7" name="Text 5"/>
          <p:cNvSpPr/>
          <p:nvPr/>
        </p:nvSpPr>
        <p:spPr>
          <a:xfrm>
            <a:off x="640080" y="4663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4 · PROPERTY, ACCEPTS, MEANING</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Hand-maintained inside the plugin: about twenty entries, stable across Solr majors. The one deliberate exception.</a:t>
            </a:r>
            <a:endParaRPr lang="en-US" sz="1050" dirty="0"/>
          </a:p>
        </p:txBody>
      </p:sp>
      <p:sp>
        <p:nvSpPr>
          <p:cNvPr id="8" name="Shape 6"/>
          <p:cNvSpPr/>
          <p:nvPr/>
        </p:nvSpPr>
        <p:spPr>
          <a:xfrm>
            <a:off x="5809061" y="1463040"/>
            <a:ext cx="5051390" cy="395020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02-quick-doc-field-annotated.png">    </p:cNvPr>
          <p:cNvPicPr>
            <a:picLocks noChangeAspect="1"/>
          </p:cNvPicPr>
          <p:nvPr/>
        </p:nvPicPr>
        <p:blipFill>
          <a:blip r:embed="rId1"/>
          <a:stretch>
            <a:fillRect/>
          </a:stretch>
        </p:blipFill>
        <p:spPr>
          <a:xfrm>
            <a:off x="5946221" y="1600200"/>
            <a:ext cx="4777070" cy="367588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previous slide’s popup, marked. The key is the FAQ’s.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docs/faq.md, the annotated field popup; model/schema/SolrFieldProperties.kt (KDoc);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 ANNOTATED</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Five parts, five build-time sources — and nothing fetched at edit time</a:t>
            </a:r>
            <a:endParaRPr lang="en-US" sz="2300" dirty="0"/>
          </a:p>
        </p:txBody>
      </p:sp>
      <p:sp>
        <p:nvSpPr>
          <p:cNvPr id="4" name="Text 2"/>
          <p:cNvSpPr/>
          <p:nvPr/>
        </p:nvSpPr>
        <p:spPr>
          <a:xfrm>
            <a:off x="640080" y="1600200"/>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1 · SHORT NAME AND KIND</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Composed from the class’s simple name; the kind is which Lucene SPI service file listed it.</a:t>
            </a:r>
            <a:endParaRPr lang="en-US" sz="1050" dirty="0"/>
          </a:p>
        </p:txBody>
      </p:sp>
      <p:sp>
        <p:nvSpPr>
          <p:cNvPr id="5" name="Text 3"/>
          <p:cNvSpPr/>
          <p:nvPr/>
        </p:nvSpPr>
        <p:spPr>
          <a:xfrm>
            <a:off x="640080" y="2359152"/>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2 · THE CLASS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From the scanned .class file — a Lucene class, despite the solr. spelling a configset uses.</a:t>
            </a:r>
            <a:endParaRPr lang="en-US" sz="1050" dirty="0"/>
          </a:p>
        </p:txBody>
      </p:sp>
      <p:sp>
        <p:nvSpPr>
          <p:cNvPr id="6" name="Text 4"/>
          <p:cNvSpPr/>
          <p:nvPr/>
        </p:nvSpPr>
        <p:spPr>
          <a:xfrm>
            <a:off x="640080" y="3118104"/>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3 · THE SUMMARY</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first sentence of the sources jar’s Javadoc, its {@link} rendered to plain text.</a:t>
            </a:r>
            <a:endParaRPr lang="en-US" sz="1050" dirty="0"/>
          </a:p>
        </p:txBody>
      </p:sp>
      <p:sp>
        <p:nvSpPr>
          <p:cNvPr id="7" name="Text 5"/>
          <p:cNvSpPr/>
          <p:nvPr/>
        </p:nvSpPr>
        <p:spPr>
          <a:xfrm>
            <a:off x="640080" y="3877056"/>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4 · WHAT IT ACCEPTS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out of the factory’s constructor bytecode: each argument it takes, and its value’s type.</a:t>
            </a:r>
            <a:endParaRPr lang="en-US" sz="1050" dirty="0"/>
          </a:p>
        </p:txBody>
      </p:sp>
      <p:sp>
        <p:nvSpPr>
          <p:cNvPr id="14" name="Text 5b"/>
          <p:cNvSpPr/>
          <p:nvPr/>
        </p:nvSpPr>
        <p:spPr>
          <a:xfrm>
            <a:off x="640080" y="4636008"/>
            <a:ext cx="4114800" cy="73152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5 · THE LINK</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Constructed, never fetched — for the version the configset’s own luceneMatchVersion declares.</a:t>
            </a:r>
            <a:endParaRPr lang="en-US" sz="1050" dirty="0"/>
          </a:p>
        </p:txBody>
      </p:sp>
      <p:sp>
        <p:nvSpPr>
          <p:cNvPr id="8" name="Shape 6"/>
          <p:cNvSpPr/>
          <p:nvPr/>
        </p:nvSpPr>
        <p:spPr>
          <a:xfrm>
            <a:off x="4892040" y="2137849"/>
            <a:ext cx="6885432" cy="267374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03-quick-doc-class-annotated.png">    </p:cNvPr>
          <p:cNvPicPr>
            <a:picLocks noChangeAspect="1"/>
          </p:cNvPicPr>
          <p:nvPr/>
        </p:nvPicPr>
        <p:blipFill>
          <a:blip r:embed="rId1"/>
          <a:stretch>
            <a:fillRect/>
          </a:stretch>
        </p:blipFill>
        <p:spPr>
          <a:xfrm>
            <a:off x="5029200" y="2275009"/>
            <a:ext cx="6611112" cy="239942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Framed wider than the plain capture: the markers sit in the editor margin, right of the popup.</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docs/faq.md, the annotated class popup; buildSrc GenerateSolrCatalogTask (ASM);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keystroke, one model read — and only names that resolve are offered</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“Completion”; configset/solrconfig/completion/SolrParameterFieldCompletionProvider.kt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41</a:t>
            </a:r>
            <a:endParaRPr lang="en-US" sz="900" dirty="0"/>
          </a:p>
        </p:txBody>
      </p:sp>
      <p:pic>
        <p:nvPicPr>
          <p:cNvPr id="8" name="Picture 7" descr="seq-02-completion.png"/>
          <p:cNvPicPr>
            <a:picLocks noChangeAspect="1"/>
          </p:cNvPicPr>
          <p:nvPr/>
        </p:nvPicPr>
        <p:blipFill>
          <a:blip r:embed="rId2"/>
          <a:stretch>
            <a:fillRect/>
          </a:stretch>
        </p:blipFill>
        <p:spPr>
          <a:xfrm>
            <a:off x="655168" y="1672476"/>
            <a:ext cx="10881360" cy="4345152"/>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An inspection outside a configset is silent before it visits a single tag</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“The walkthrough: an inspection”; configset/schema/inspection/SolrDanglingCopyFieldInspection.kt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42</a:t>
            </a:r>
            <a:endParaRPr lang="en-US" sz="900" dirty="0"/>
          </a:p>
        </p:txBody>
      </p:sp>
      <p:pic>
        <p:nvPicPr>
          <p:cNvPr id="8" name="Picture 7" descr="seq-03-inspection.png"/>
          <p:cNvPicPr>
            <a:picLocks noChangeAspect="1"/>
          </p:cNvPicPr>
          <p:nvPr/>
        </p:nvPicPr>
        <p:blipFill>
          <a:blip r:embed="rId2"/>
          <a:stretch>
            <a:fillRect/>
          </a:stretch>
        </p:blipFill>
        <p:spPr>
          <a:xfrm>
            <a:off x="3192901" y="1563624"/>
            <a:ext cx="5805893" cy="4562856"/>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6 OF 10 · LIVE FIELDS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Field names from the collection a request is about to reach</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 a JSON body’s "fields" array: the fields of books, each labelled books · local — collection and connection.</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Names from a configset, which may not be what is deployed — subtitle here is on the server and in no file.</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collection the request line names, read once from the selected connection. Where it cannot be, the configsets answer.</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SolrQueryFieldCompletionContributor, over the JSON the HTTP Client already injects. Only an explicit Ctrl-Space may reach the server.</a:t>
            </a:r>
            <a:endParaRPr lang="en-US" sz="1050" dirty="0"/>
          </a:p>
        </p:txBody>
      </p:sp>
      <p:sp>
        <p:nvSpPr>
          <p:cNvPr id="8" name="Shape 6"/>
          <p:cNvSpPr/>
          <p:nvPr/>
        </p:nvSpPr>
        <p:spPr>
          <a:xfrm>
            <a:off x="5563474" y="1463040"/>
            <a:ext cx="5542565" cy="395020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30-completion-live-schema.png">    </p:cNvPr>
          <p:cNvPicPr>
            <a:picLocks noChangeAspect="1"/>
          </p:cNvPicPr>
          <p:nvPr/>
        </p:nvPicPr>
        <p:blipFill>
          <a:blip r:embed="rId1"/>
          <a:stretch>
            <a:fillRect/>
          </a:stretch>
        </p:blipFill>
        <p:spPr>
          <a:xfrm>
            <a:off x="5700634" y="1600200"/>
            <a:ext cx="5268245" cy="367588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source label is the image: books · local says the list came from the server, not a configset.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server/query/SolrQueryFieldCompletionContributor.kt, SolrCollectionFields.kt; docs/screenshots.md entry 30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10 OF 10 · A TEST DOCUMENT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test document, checked against the schema before Solr is asked</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 a test document into shows: every field a user would fill, prefilled with placeholders, and the verdict under the editor.</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unknown field returns status 0: Solr adds it to the deployed schema, and one typo becomes permanent drift.</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collection’s schema: the unique key and required fields first, then the rest in declared order.</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SolrIndexDocumentDialog over SolrSampleDocument and SolrDocumentValidation. A misspelled field or a missing id disables OK.</a:t>
            </a:r>
            <a:endParaRPr lang="en-US" sz="1050" dirty="0"/>
          </a:p>
        </p:txBody>
      </p:sp>
      <p:sp>
        <p:nvSpPr>
          <p:cNvPr id="8" name="Shape 6"/>
          <p:cNvSpPr/>
          <p:nvPr/>
        </p:nvSpPr>
        <p:spPr>
          <a:xfrm>
            <a:off x="5201910" y="1463040"/>
            <a:ext cx="6265691" cy="395020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31-index-test-document.png">    </p:cNvPr>
          <p:cNvPicPr>
            <a:picLocks noChangeAspect="1"/>
          </p:cNvPicPr>
          <p:nvPr/>
        </p:nvPicPr>
        <p:blipFill>
          <a:blip r:embed="rId1"/>
          <a:stretch>
            <a:fillRect/>
          </a:stretch>
        </p:blipFill>
        <p:spPr>
          <a:xfrm>
            <a:off x="5339070" y="1600200"/>
            <a:ext cx="5991371" cy="367588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This document matches the schema. Misspell a field and the line under the editor says why OK is disabled.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server/indexing/SolrDocumentValidation.kt, SolrSampleDocument.kt, SolrIndexDocumentDialog.kt; docs/screenshots.md entry 31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2 OF 5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Field names offered as they are typed — only the ones the call can use</a:t>
            </a:r>
            <a:endParaRPr lang="en-US" sz="2300" dirty="0"/>
          </a:p>
        </p:txBody>
      </p:sp>
      <p:sp>
        <p:nvSpPr>
          <p:cNvPr id="4" name="Text 2"/>
          <p:cNvSpPr/>
          <p:nvPr/>
        </p:nvSpPr>
        <p:spPr>
          <a:xfrm>
            <a:off x="640080" y="160020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de inside setQuery opens the popup unasked, offering description from the solr configset — and nothing else.</a:t>
            </a:r>
            <a:endParaRPr lang="en-US" sz="1050" dirty="0"/>
          </a:p>
        </p:txBody>
      </p:sp>
      <p:sp>
        <p:nvSpPr>
          <p:cNvPr id="5" name="Text 3"/>
          <p:cNvSpPr/>
          <p:nvPr/>
        </p:nvSpPr>
        <p:spPr>
          <a:xfrm>
            <a:off x="640080" y="256032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Inside a string the platform suppresses the popup, and Ctrl-Space offers words and file names beside the fields.</a:t>
            </a:r>
            <a:endParaRPr lang="en-US" sz="1050" dirty="0"/>
          </a:p>
        </p:txBody>
      </p:sp>
      <p:sp>
        <p:nvSpPr>
          <p:cNvPr id="6" name="Text 4"/>
          <p:cNvSpPr/>
          <p:nvPr/>
        </p:nvSpPr>
        <p:spPr>
          <a:xfrm>
            <a:off x="640080" y="352044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project’s configsets, through the recognizer the check reads: declared fields only, and only those the call can use.</a:t>
            </a:r>
            <a:endParaRPr lang="en-US" sz="1050" dirty="0"/>
          </a:p>
        </p:txBody>
      </p:sp>
      <p:sp>
        <p:nvSpPr>
          <p:cNvPr id="7" name="Text 5"/>
          <p:cNvSpPr/>
          <p:nvPr/>
        </p:nvSpPr>
        <p:spPr>
          <a:xfrm>
            <a:off x="640080" y="4480560"/>
            <a:ext cx="4114800" cy="9144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SolrCodeFieldCompletionContributor, registered first; SolrCodeFieldCompletionConfidence lets it open inside a SolrJ string.</a:t>
            </a:r>
            <a:endParaRPr lang="en-US" sz="1050" dirty="0"/>
          </a:p>
        </p:txBody>
      </p:sp>
      <p:sp>
        <p:nvSpPr>
          <p:cNvPr id="8" name="Shape 6"/>
          <p:cNvSpPr/>
          <p:nvPr/>
        </p:nvSpPr>
        <p:spPr>
          <a:xfrm>
            <a:off x="4892040" y="2858991"/>
            <a:ext cx="6885432" cy="123145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32-code-completion-popup.png">    </p:cNvPr>
          <p:cNvPicPr>
            <a:picLocks noChangeAspect="1"/>
          </p:cNvPicPr>
          <p:nvPr/>
        </p:nvPicPr>
        <p:blipFill>
          <a:blip r:embed="rId1"/>
          <a:stretch>
            <a:fillRect/>
          </a:stretch>
        </p:blipFill>
        <p:spPr>
          <a:xfrm>
            <a:off x="5029200" y="2996151"/>
            <a:ext cx="6611112" cy="95713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dynamic pattern is never offered: *_t inserted into a query is a wildcard field Solr rejects.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code/completion/SolrCodeFieldCompletionContributor.kt, SolrCodeFieldAutoPopup.kt; docs/images/32-code-completion-popup.png</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Solr Support for IntelliJ IDEA</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